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5"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Microsoft Sans Serif" panose="020B0604020202020204" pitchFamily="34" charset="0"/>
      <p:regular r:id="rId14"/>
    </p:embeddedFont>
    <p:embeddedFont>
      <p:font typeface="Play" panose="020B0604020202020204" charset="0"/>
      <p:regular r:id="rId15"/>
      <p:bold r:id="rId16"/>
    </p:embeddedFont>
    <p:embeddedFont>
      <p:font typeface="Tahoma" panose="020B0604030504040204" pitchFamily="34" charset="0"/>
      <p:regular r:id="rId17"/>
      <p:bold r:id="rId18"/>
    </p:embeddedFont>
    <p:embeddedFont>
      <p:font typeface="Trebuchet MS" panose="020B0603020202020204" pitchFamily="34" charset="0"/>
      <p:regular r:id="rId19"/>
      <p:bold r:id="rId20"/>
      <p:italic r:id="rId21"/>
      <p:boldItalic r:id="rId22"/>
    </p:embeddedFont>
    <p:embeddedFont>
      <p:font typeface="Verdana" panose="020B0604030504040204" pitchFamily="34" charset="0"/>
      <p:regular r:id="rId23"/>
      <p:bold r:id="rId24"/>
      <p:italic r:id="rId25"/>
      <p:boldItalic r:id="rId26"/>
    </p:embeddedFont>
    <p:embeddedFont>
      <p:font typeface="Wingdings 3" panose="05040102010807070707" pitchFamily="18" charset="2"/>
      <p:regular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5MHW1W+DvvayjFwLko/CLSSDuh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69" d="100"/>
          <a:sy n="69" d="100"/>
        </p:scale>
        <p:origin x="91" y="3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47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45090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6712674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4625260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2199312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9222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952349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3607176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1244295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213090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464681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007744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7921021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8368410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9511593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7979762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rgbClr val="F7FAFC"/>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50" b="1" i="0">
                <a:solidFill>
                  <a:srgbClr val="94A3B8"/>
                </a:solidFill>
                <a:latin typeface="Tahoma"/>
                <a:cs typeface="Tahoma"/>
              </a:defRPr>
            </a:lvl1pPr>
          </a:lstStyle>
          <a:p>
            <a:pPr marL="12700">
              <a:lnSpc>
                <a:spcPct val="100000"/>
              </a:lnSpc>
              <a:spcBef>
                <a:spcPts val="65"/>
              </a:spcBef>
            </a:pPr>
            <a:r>
              <a:rPr spc="-40" dirty="0"/>
              <a:t>Labmentix</a:t>
            </a:r>
            <a:r>
              <a:rPr spc="-5" dirty="0"/>
              <a:t> </a:t>
            </a:r>
            <a:r>
              <a:rPr spc="-35" dirty="0"/>
              <a:t>Insights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7" name="Holder 7"/>
          <p:cNvSpPr>
            <a:spLocks noGrp="1"/>
          </p:cNvSpPr>
          <p:nvPr>
            <p:ph type="sldNum" sz="quarter" idx="7"/>
          </p:nvPr>
        </p:nvSpPr>
        <p:spPr/>
        <p:txBody>
          <a:bodyPr lIns="0" tIns="0" rIns="0" bIns="0"/>
          <a:lstStyle>
            <a:lvl1pPr>
              <a:defRPr sz="1050" b="0" i="0">
                <a:solidFill>
                  <a:srgbClr val="64738B"/>
                </a:solidFill>
                <a:latin typeface="Tahoma"/>
                <a:cs typeface="Tahoma"/>
              </a:defRPr>
            </a:lvl1pPr>
          </a:lstStyle>
          <a:p>
            <a:pPr marL="38100" marR="5080">
              <a:lnSpc>
                <a:spcPct val="100000"/>
              </a:lnSpc>
              <a:spcBef>
                <a:spcPts val="65"/>
              </a:spcBef>
            </a:pPr>
            <a:r>
              <a:rPr spc="-10" dirty="0"/>
              <a:t>Slide </a:t>
            </a:r>
            <a:fld id="{81D60167-4931-47E6-BA6A-407CBD079E47}" type="slidenum">
              <a:rPr spc="15" dirty="0"/>
              <a:t>‹#›</a:t>
            </a:fld>
            <a:endParaRPr spc="15" dirty="0"/>
          </a:p>
        </p:txBody>
      </p:sp>
    </p:spTree>
    <p:extLst>
      <p:ext uri="{BB962C8B-B14F-4D97-AF65-F5344CB8AC3E}">
        <p14:creationId xmlns:p14="http://schemas.microsoft.com/office/powerpoint/2010/main" val="4107209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21411504"/>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5"/>
        <p:cNvGrpSpPr/>
        <p:nvPr/>
      </p:nvGrpSpPr>
      <p:grpSpPr>
        <a:xfrm>
          <a:off x="0" y="0"/>
          <a:ext cx="0" cy="0"/>
          <a:chOff x="0" y="0"/>
          <a:chExt cx="0" cy="0"/>
        </a:xfrm>
      </p:grpSpPr>
      <p:sp>
        <p:nvSpPr>
          <p:cNvPr id="96" name="Google Shape;96;p1"/>
          <p:cNvSpPr/>
          <p:nvPr/>
        </p:nvSpPr>
        <p:spPr>
          <a:xfrm>
            <a:off x="0" y="0"/>
            <a:ext cx="12192000" cy="6857999"/>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7" name="Google Shape;97;p1" descr="Ford GoBike Brings Ebikes to San Francisco, Perfect for Those Steep Hills |  Digital Trends"/>
          <p:cNvPicPr preferRelativeResize="0"/>
          <p:nvPr/>
        </p:nvPicPr>
        <p:blipFill rotWithShape="1">
          <a:blip r:embed="rId3">
            <a:alphaModFix amt="50000"/>
          </a:blip>
          <a:srcRect r="6665"/>
          <a:stretch/>
        </p:blipFill>
        <p:spPr>
          <a:xfrm>
            <a:off x="20" y="1"/>
            <a:ext cx="12191980" cy="6857999"/>
          </a:xfrm>
          <a:prstGeom prst="rect">
            <a:avLst/>
          </a:prstGeom>
          <a:noFill/>
          <a:ln>
            <a:noFill/>
          </a:ln>
        </p:spPr>
      </p:pic>
      <p:sp>
        <p:nvSpPr>
          <p:cNvPr id="98" name="Google Shape;98;p1"/>
          <p:cNvSpPr txBox="1">
            <a:spLocks noGrp="1"/>
          </p:cNvSpPr>
          <p:nvPr>
            <p:ph type="ctrTitle"/>
          </p:nvPr>
        </p:nvSpPr>
        <p:spPr>
          <a:xfrm>
            <a:off x="959005" y="2285998"/>
            <a:ext cx="10273990" cy="2286001"/>
          </a:xfrm>
          <a:prstGeom prst="rect">
            <a:avLst/>
          </a:prstGeom>
          <a:noFill/>
          <a:ln>
            <a:noFill/>
          </a:ln>
        </p:spPr>
        <p:txBody>
          <a:bodyPr spcFirstLastPara="1" wrap="square" lIns="91425" tIns="45700" rIns="91425" bIns="45700" anchor="b" anchorCtr="0">
            <a:normAutofit fontScale="90000"/>
          </a:bodyPr>
          <a:lstStyle/>
          <a:p>
            <a:pPr lvl="0" algn="ctr">
              <a:buClr>
                <a:srgbClr val="FFFFFF"/>
              </a:buClr>
            </a:pPr>
            <a:r>
              <a:rPr lang="en-IN" dirty="0">
                <a:solidFill>
                  <a:schemeClr val="bg1">
                    <a:lumMod val="95000"/>
                  </a:schemeClr>
                </a:solidFill>
              </a:rPr>
              <a:t>Ford Bike Sharing Project:</a:t>
            </a:r>
            <a:br>
              <a:rPr lang="en-IN" dirty="0">
                <a:solidFill>
                  <a:schemeClr val="bg1">
                    <a:lumMod val="95000"/>
                  </a:schemeClr>
                </a:solidFill>
              </a:rPr>
            </a:br>
            <a:r>
              <a:rPr lang="en-IN" dirty="0">
                <a:solidFill>
                  <a:schemeClr val="bg1">
                    <a:lumMod val="95000"/>
                  </a:schemeClr>
                </a:solidFill>
              </a:rPr>
              <a:t> An Exploratory Analysis of Features Affecting Trip Duration</a:t>
            </a:r>
            <a:endParaRPr dirty="0">
              <a:solidFill>
                <a:schemeClr val="bg1">
                  <a:lumMod val="95000"/>
                </a:schemeClr>
              </a:solidFill>
            </a:endParaRPr>
          </a:p>
        </p:txBody>
      </p:sp>
      <p:sp>
        <p:nvSpPr>
          <p:cNvPr id="99" name="Google Shape;99;p1"/>
          <p:cNvSpPr txBox="1">
            <a:spLocks noGrp="1"/>
          </p:cNvSpPr>
          <p:nvPr>
            <p:ph type="subTitle" idx="1"/>
          </p:nvPr>
        </p:nvSpPr>
        <p:spPr>
          <a:xfrm>
            <a:off x="5754030" y="5910146"/>
            <a:ext cx="6289288" cy="814040"/>
          </a:xfrm>
          <a:prstGeom prst="rect">
            <a:avLst/>
          </a:prstGeom>
          <a:noFill/>
          <a:ln>
            <a:noFill/>
          </a:ln>
        </p:spPr>
        <p:txBody>
          <a:bodyPr spcFirstLastPara="1" wrap="square" lIns="91425" tIns="45700" rIns="91425" bIns="45700" anchor="t" anchorCtr="0">
            <a:normAutofit fontScale="92500" lnSpcReduction="10000"/>
          </a:bodyPr>
          <a:lstStyle/>
          <a:p>
            <a:pPr marL="0" lvl="0" indent="0">
              <a:spcBef>
                <a:spcPts val="0"/>
              </a:spcBef>
            </a:pPr>
            <a:r>
              <a:rPr lang="en-IN" b="1" dirty="0" err="1">
                <a:solidFill>
                  <a:schemeClr val="bg1">
                    <a:lumMod val="95000"/>
                  </a:schemeClr>
                </a:solidFill>
              </a:rPr>
              <a:t>Labmentix</a:t>
            </a:r>
            <a:r>
              <a:rPr lang="en-IN" b="1" dirty="0">
                <a:solidFill>
                  <a:schemeClr val="bg1">
                    <a:lumMod val="95000"/>
                  </a:schemeClr>
                </a:solidFill>
              </a:rPr>
              <a:t> Internship Project : Capstone EDA Submission</a:t>
            </a:r>
          </a:p>
          <a:p>
            <a:pPr marL="0" lvl="0" indent="0">
              <a:spcBef>
                <a:spcPts val="0"/>
              </a:spcBef>
            </a:pPr>
            <a:endParaRPr lang="en-IN" dirty="0">
              <a:solidFill>
                <a:schemeClr val="bg1">
                  <a:lumMod val="95000"/>
                </a:schemeClr>
              </a:solidFill>
            </a:endParaRPr>
          </a:p>
          <a:p>
            <a:pPr marL="0" lvl="0" indent="0">
              <a:spcBef>
                <a:spcPts val="0"/>
              </a:spcBef>
            </a:pPr>
            <a:r>
              <a:rPr lang="en-IN" dirty="0">
                <a:solidFill>
                  <a:schemeClr val="bg1">
                    <a:lumMod val="95000"/>
                  </a:schemeClr>
                </a:solidFill>
              </a:rPr>
              <a:t>By </a:t>
            </a:r>
            <a:r>
              <a:rPr lang="en-IN" i="1" dirty="0">
                <a:solidFill>
                  <a:schemeClr val="bg1">
                    <a:lumMod val="95000"/>
                  </a:schemeClr>
                </a:solidFill>
              </a:rPr>
              <a:t>Shrijay Talap</a:t>
            </a:r>
            <a:endParaRPr dirty="0">
              <a:solidFill>
                <a:schemeClr val="bg1">
                  <a:lumMod val="9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4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sz="4000" dirty="0"/>
              <a:t>Table of Contents</a:t>
            </a:r>
            <a:r>
              <a:rPr lang="en-US" dirty="0"/>
              <a:t> </a:t>
            </a:r>
            <a:endParaRPr dirty="0"/>
          </a:p>
        </p:txBody>
      </p:sp>
      <p:sp>
        <p:nvSpPr>
          <p:cNvPr id="3" name="Text Placeholder 2">
            <a:extLst>
              <a:ext uri="{FF2B5EF4-FFF2-40B4-BE49-F238E27FC236}">
                <a16:creationId xmlns:a16="http://schemas.microsoft.com/office/drawing/2014/main" id="{F9BB3F9D-73BB-CF86-FE9E-F001A16EA01A}"/>
              </a:ext>
            </a:extLst>
          </p:cNvPr>
          <p:cNvSpPr>
            <a:spLocks noGrp="1"/>
          </p:cNvSpPr>
          <p:nvPr>
            <p:ph idx="1"/>
          </p:nvPr>
        </p:nvSpPr>
        <p:spPr/>
        <p:txBody>
          <a:bodyPr>
            <a:normAutofit/>
          </a:bodyPr>
          <a:lstStyle/>
          <a:p>
            <a:r>
              <a:rPr lang="en-IN" sz="2800" dirty="0"/>
              <a:t>Introduction of the Topic and Dataset</a:t>
            </a:r>
          </a:p>
          <a:p>
            <a:r>
              <a:rPr lang="en-IN" sz="2800" dirty="0"/>
              <a:t>Dataset Investigation and Data Wrangling Pipeline</a:t>
            </a:r>
          </a:p>
          <a:p>
            <a:r>
              <a:rPr lang="en-IN" sz="2800" dirty="0"/>
              <a:t>Univariate Data Exploration</a:t>
            </a:r>
          </a:p>
          <a:p>
            <a:r>
              <a:rPr lang="en-IN" sz="2800" dirty="0"/>
              <a:t>Bivariate Analysis: Commuters vs. Leisure Patterns</a:t>
            </a:r>
          </a:p>
          <a:p>
            <a:r>
              <a:rPr lang="en-IN" sz="2800" dirty="0"/>
              <a:t>Multivariate Exploration &amp; Feature Correlations</a:t>
            </a:r>
          </a:p>
          <a:p>
            <a:r>
              <a:rPr lang="en-IN" sz="2800" dirty="0"/>
              <a:t>Strategic Business Solutions &amp; Conclusions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buSzPts val="4400"/>
            </a:pPr>
            <a:r>
              <a:rPr lang="en-IN" sz="4000" dirty="0"/>
              <a:t>Project Context &amp; Motivation</a:t>
            </a:r>
            <a:endParaRPr sz="4000" dirty="0"/>
          </a:p>
        </p:txBody>
      </p:sp>
      <p:sp>
        <p:nvSpPr>
          <p:cNvPr id="3" name="Text Placeholder 2">
            <a:extLst>
              <a:ext uri="{FF2B5EF4-FFF2-40B4-BE49-F238E27FC236}">
                <a16:creationId xmlns:a16="http://schemas.microsoft.com/office/drawing/2014/main" id="{8A82DBE5-8A39-2C1D-7C97-F2990062ED80}"/>
              </a:ext>
            </a:extLst>
          </p:cNvPr>
          <p:cNvSpPr>
            <a:spLocks noGrp="1"/>
          </p:cNvSpPr>
          <p:nvPr>
            <p:ph idx="1"/>
          </p:nvPr>
        </p:nvSpPr>
        <p:spPr/>
        <p:txBody>
          <a:bodyPr>
            <a:normAutofit/>
          </a:bodyPr>
          <a:lstStyle/>
          <a:p>
            <a:r>
              <a:rPr lang="en-IN" sz="2400" dirty="0"/>
              <a:t>As urban areas turn to micro-mobility to beat gridlock, managing bike-share networks efficiently becomes a major challenge. Without clear insights into how people ride, system fleets face severe supply imbalances—running out of bikes or empty docks during morning and evening rush hours, while inventory sits completely idle during off-peak windows. This analysis dives deep into real transactional logs to uncover operational gaps, streamline bike rebalancing schedules, and find untapped user segments to drive platform revenue.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buSzPts val="4400"/>
            </a:pPr>
            <a:r>
              <a:rPr lang="en-IN" sz="4000" b="1" dirty="0"/>
              <a:t>Dataset Overview &amp; Objectives</a:t>
            </a:r>
            <a:endParaRPr sz="4000" dirty="0"/>
          </a:p>
        </p:txBody>
      </p:sp>
      <p:sp>
        <p:nvSpPr>
          <p:cNvPr id="3" name="Text Placeholder 2">
            <a:extLst>
              <a:ext uri="{FF2B5EF4-FFF2-40B4-BE49-F238E27FC236}">
                <a16:creationId xmlns:a16="http://schemas.microsoft.com/office/drawing/2014/main" id="{10034244-DAD7-604B-2EDE-7CB0A7D8363E}"/>
              </a:ext>
            </a:extLst>
          </p:cNvPr>
          <p:cNvSpPr>
            <a:spLocks noGrp="1"/>
          </p:cNvSpPr>
          <p:nvPr>
            <p:ph idx="1"/>
          </p:nvPr>
        </p:nvSpPr>
        <p:spPr/>
        <p:txBody>
          <a:bodyPr>
            <a:normAutofit fontScale="85000" lnSpcReduction="10000"/>
          </a:bodyPr>
          <a:lstStyle/>
          <a:p>
            <a:pPr>
              <a:buFont typeface="Wingdings" panose="05000000000000000000" pitchFamily="2" charset="2"/>
              <a:buChar char="q"/>
            </a:pPr>
            <a:r>
              <a:rPr lang="en-IN" sz="2600" b="1" dirty="0"/>
              <a:t>Project Scope</a:t>
            </a:r>
            <a:r>
              <a:rPr lang="en-IN" sz="2400" b="1" dirty="0"/>
              <a:t>:</a:t>
            </a:r>
          </a:p>
          <a:p>
            <a:pPr marL="114300" indent="0">
              <a:buNone/>
            </a:pPr>
            <a:r>
              <a:rPr lang="en-IN" sz="2400" dirty="0"/>
              <a:t>Consolidated and analysed a multi-file transactional system dataset tracking trip durations, geographic coordinates, station profiles, and user demographics.</a:t>
            </a:r>
          </a:p>
          <a:p>
            <a:pPr marL="114300" indent="0">
              <a:buNone/>
            </a:pPr>
            <a:r>
              <a:rPr lang="en-IN" sz="2400" dirty="0"/>
              <a:t>Built data cleaning pipelines to isolate missing values and map coordinates.</a:t>
            </a:r>
          </a:p>
          <a:p>
            <a:pPr>
              <a:buFont typeface="Wingdings" panose="05000000000000000000" pitchFamily="2" charset="2"/>
              <a:buChar char="q"/>
            </a:pPr>
            <a:r>
              <a:rPr lang="en-IN" sz="2600" b="1" dirty="0"/>
              <a:t>Core Analytical Focus</a:t>
            </a:r>
            <a:r>
              <a:rPr lang="en-IN" sz="2600" dirty="0"/>
              <a:t>:</a:t>
            </a:r>
          </a:p>
          <a:p>
            <a:pPr marL="114300" indent="0">
              <a:buNone/>
            </a:pPr>
            <a:r>
              <a:rPr lang="en-IN" sz="2400" dirty="0"/>
              <a:t>Optimize Operations</a:t>
            </a:r>
            <a:r>
              <a:rPr lang="en-IN" sz="2400" b="1" dirty="0"/>
              <a:t>:</a:t>
            </a:r>
            <a:r>
              <a:rPr lang="en-IN" sz="2400" dirty="0"/>
              <a:t> Map precise hourly peak windows to help ground crews build smart fleet rebalancing schedules.</a:t>
            </a:r>
          </a:p>
          <a:p>
            <a:pPr marL="114300" indent="0">
              <a:buNone/>
            </a:pPr>
            <a:r>
              <a:rPr lang="en-IN" sz="2400" dirty="0"/>
              <a:t>Drive User Conversion</a:t>
            </a:r>
            <a:r>
              <a:rPr lang="en-IN" sz="2400" b="1" dirty="0"/>
              <a:t>:</a:t>
            </a:r>
            <a:r>
              <a:rPr lang="en-IN" sz="2400" dirty="0"/>
              <a:t> Pinpoint differences between casual Customers and annual Subscribers to design high-impact marketing funnels.</a:t>
            </a:r>
          </a:p>
          <a:p>
            <a:pPr marL="114300" indent="0">
              <a:buNone/>
            </a:pPr>
            <a:endParaRPr lang="en-IN" sz="2400" dirty="0"/>
          </a:p>
          <a:p>
            <a:pPr marL="114300" indent="0">
              <a:buNone/>
            </a:pPr>
            <a:endParaRPr lang="en-IN" sz="2400" dirty="0"/>
          </a:p>
          <a:p>
            <a:pPr marL="114300" indent="0">
              <a:buNone/>
            </a:pPr>
            <a:endParaRPr lang="en-IN" sz="2400" dirty="0"/>
          </a:p>
          <a:p>
            <a:pPr marL="114300" indent="0">
              <a:buNone/>
            </a:pPr>
            <a:endParaRPr lang="en-IN" sz="2400" dirty="0"/>
          </a:p>
          <a:p>
            <a:pPr marL="114300" indent="0">
              <a:buNone/>
            </a:pPr>
            <a:endParaRPr lang="en-IN" sz="2400" dirty="0"/>
          </a:p>
          <a:p>
            <a:pPr marL="11430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677333" y="609600"/>
            <a:ext cx="10105895" cy="527824"/>
          </a:xfrm>
          <a:prstGeom prst="rect">
            <a:avLst/>
          </a:prstGeom>
          <a:noFill/>
          <a:ln>
            <a:noFill/>
          </a:ln>
        </p:spPr>
        <p:txBody>
          <a:bodyPr spcFirstLastPara="1" wrap="square" lIns="91425" tIns="45700" rIns="91425" bIns="45700" anchor="ctr" anchorCtr="0">
            <a:noAutofit/>
          </a:bodyPr>
          <a:lstStyle/>
          <a:p>
            <a:pPr lvl="0">
              <a:buSzPts val="4400"/>
            </a:pPr>
            <a:r>
              <a:rPr lang="en-IN" sz="4000" dirty="0"/>
              <a:t>Core Findings: What Drives Trip Duration?</a:t>
            </a:r>
            <a:endParaRPr sz="4000" dirty="0"/>
          </a:p>
        </p:txBody>
      </p:sp>
      <p:sp>
        <p:nvSpPr>
          <p:cNvPr id="3" name="Text Placeholder 2">
            <a:extLst>
              <a:ext uri="{FF2B5EF4-FFF2-40B4-BE49-F238E27FC236}">
                <a16:creationId xmlns:a16="http://schemas.microsoft.com/office/drawing/2014/main" id="{7482D4CB-ADFC-99D5-A11F-0EF53B91707C}"/>
              </a:ext>
            </a:extLst>
          </p:cNvPr>
          <p:cNvSpPr>
            <a:spLocks noGrp="1"/>
          </p:cNvSpPr>
          <p:nvPr>
            <p:ph idx="1"/>
          </p:nvPr>
        </p:nvSpPr>
        <p:spPr>
          <a:xfrm>
            <a:off x="838200" y="1451728"/>
            <a:ext cx="10515600" cy="5194169"/>
          </a:xfrm>
        </p:spPr>
        <p:txBody>
          <a:bodyPr>
            <a:normAutofit lnSpcReduction="10000"/>
          </a:bodyPr>
          <a:lstStyle/>
          <a:p>
            <a:pPr>
              <a:buFont typeface="Wingdings" panose="05000000000000000000" pitchFamily="2" charset="2"/>
              <a:buChar char="q"/>
            </a:pPr>
            <a:r>
              <a:rPr lang="en-IN" sz="2400" b="1" dirty="0"/>
              <a:t>The Subscriber Engine:</a:t>
            </a:r>
            <a:r>
              <a:rPr lang="en-IN" sz="2400" dirty="0"/>
              <a:t> Annual subscribers make up </a:t>
            </a:r>
            <a:r>
              <a:rPr lang="en-IN" sz="2400" b="1" dirty="0"/>
              <a:t>85–90%</a:t>
            </a:r>
            <a:r>
              <a:rPr lang="en-IN" sz="2400" dirty="0"/>
              <a:t> of all platform traffic. Their rides are routine, highly efficient, and tightly clustered around standard weekday commute windows (</a:t>
            </a:r>
            <a:r>
              <a:rPr lang="en-IN" sz="2400" b="1" dirty="0"/>
              <a:t>8 AM</a:t>
            </a:r>
            <a:r>
              <a:rPr lang="en-IN" sz="2400" dirty="0"/>
              <a:t> and </a:t>
            </a:r>
            <a:r>
              <a:rPr lang="en-IN" sz="2400" b="1" dirty="0"/>
              <a:t>5 PM</a:t>
            </a:r>
            <a:r>
              <a:rPr lang="en-IN" sz="2400" dirty="0"/>
              <a:t>) with short average trip lengths (10–15 mins).</a:t>
            </a:r>
          </a:p>
          <a:p>
            <a:pPr>
              <a:buFont typeface="Wingdings" panose="05000000000000000000" pitchFamily="2" charset="2"/>
              <a:buChar char="q"/>
            </a:pPr>
            <a:r>
              <a:rPr lang="en-IN" sz="2400" b="1" dirty="0"/>
              <a:t>The Casual Growth Opportunity:</a:t>
            </a:r>
            <a:r>
              <a:rPr lang="en-IN" sz="2400" dirty="0"/>
              <a:t> Short-term, non-subscribing customers display a smooth, bell-shaped midday active curve. While their total trip volume is lower, their average ride duration surges by roughly </a:t>
            </a:r>
            <a:r>
              <a:rPr lang="en-IN" sz="2400" b="1" dirty="0"/>
              <a:t>60% on weekends</a:t>
            </a:r>
            <a:r>
              <a:rPr lang="en-IN" sz="2400" dirty="0"/>
              <a:t>, heavily driving leisure and tourist travel metrics.</a:t>
            </a:r>
          </a:p>
          <a:p>
            <a:pPr>
              <a:buFont typeface="Wingdings" panose="05000000000000000000" pitchFamily="2" charset="2"/>
              <a:buChar char="q"/>
            </a:pPr>
            <a:r>
              <a:rPr lang="en-IN" sz="2400" b="1" dirty="0"/>
              <a:t>Target Demographics:</a:t>
            </a:r>
            <a:r>
              <a:rPr lang="en-IN" sz="2400" dirty="0"/>
              <a:t> System usage peaks intensely among young professionals aged </a:t>
            </a:r>
            <a:r>
              <a:rPr lang="en-IN" sz="2400" b="1" dirty="0"/>
              <a:t>25–38</a:t>
            </a:r>
            <a:r>
              <a:rPr lang="en-IN" sz="2400" dirty="0"/>
              <a:t> and skews heavily male (over </a:t>
            </a:r>
            <a:r>
              <a:rPr lang="en-IN" sz="2400" b="1" dirty="0"/>
              <a:t>70%</a:t>
            </a:r>
            <a:r>
              <a:rPr lang="en-IN" sz="2400" dirty="0"/>
              <a:t>), highlighting an incredible opportunity to run targeted expansion campaigns aimed at increasing adoption among female and senior riders.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B2F88BE-9337-AB62-2211-1423ED324B41}"/>
              </a:ext>
            </a:extLst>
          </p:cNvPr>
          <p:cNvSpPr txBox="1"/>
          <p:nvPr/>
        </p:nvSpPr>
        <p:spPr>
          <a:xfrm>
            <a:off x="2660717" y="1752942"/>
            <a:ext cx="7020612" cy="3170099"/>
          </a:xfrm>
          <a:prstGeom prst="rect">
            <a:avLst/>
          </a:prstGeom>
          <a:noFill/>
        </p:spPr>
        <p:txBody>
          <a:bodyPr wrap="square">
            <a:spAutoFit/>
          </a:bodyPr>
          <a:lstStyle/>
          <a:p>
            <a:pPr algn="ctr" rtl="0">
              <a:buNone/>
            </a:pPr>
            <a:r>
              <a:rPr lang="en-IN" sz="5000" b="1" i="0" u="none" strike="noStrike" dirty="0">
                <a:effectLst/>
                <a:latin typeface="Plus Jakarta Sans"/>
              </a:rPr>
              <a:t>Data Wrangling &amp; Pipeline</a:t>
            </a:r>
            <a:endParaRPr lang="en-IN" sz="5000" b="0" dirty="0">
              <a:effectLst/>
            </a:endParaRPr>
          </a:p>
          <a:p>
            <a:pPr>
              <a:buNone/>
            </a:pPr>
            <a:br>
              <a:rPr lang="en-IN" sz="5000" dirty="0">
                <a:solidFill>
                  <a:schemeClr val="tx1"/>
                </a:solidFill>
              </a:rPr>
            </a:br>
            <a:endParaRPr lang="en-IN" sz="5000" dirty="0">
              <a:solidFill>
                <a:schemeClr val="tx1"/>
              </a:solidFill>
            </a:endParaRPr>
          </a:p>
        </p:txBody>
      </p:sp>
      <p:sp>
        <p:nvSpPr>
          <p:cNvPr id="10" name="TextBox 9">
            <a:extLst>
              <a:ext uri="{FF2B5EF4-FFF2-40B4-BE49-F238E27FC236}">
                <a16:creationId xmlns:a16="http://schemas.microsoft.com/office/drawing/2014/main" id="{528625DB-BEDA-91B1-823A-98FD84F5DD94}"/>
              </a:ext>
            </a:extLst>
          </p:cNvPr>
          <p:cNvSpPr txBox="1"/>
          <p:nvPr/>
        </p:nvSpPr>
        <p:spPr>
          <a:xfrm>
            <a:off x="2660717" y="3938156"/>
            <a:ext cx="7096026" cy="1415772"/>
          </a:xfrm>
          <a:prstGeom prst="rect">
            <a:avLst/>
          </a:prstGeom>
          <a:noFill/>
        </p:spPr>
        <p:txBody>
          <a:bodyPr wrap="square">
            <a:spAutoFit/>
          </a:bodyPr>
          <a:lstStyle/>
          <a:p>
            <a:pPr algn="ctr" rtl="0">
              <a:buNone/>
            </a:pPr>
            <a:r>
              <a:rPr lang="en-IN" sz="2500" b="0" i="0" u="none" strike="noStrike" dirty="0">
                <a:effectLst/>
                <a:latin typeface="Inter"/>
              </a:rPr>
              <a:t>From multi-file raw CSV fragmentation to a unified, clean, feature-engineered database.</a:t>
            </a:r>
            <a:endParaRPr lang="en-IN" sz="2500" b="0" dirty="0">
              <a:effectLst/>
            </a:endParaRPr>
          </a:p>
          <a:p>
            <a:pPr>
              <a:buNone/>
            </a:pPr>
            <a:br>
              <a:rPr lang="en-IN"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333509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510168" y="175692"/>
            <a:ext cx="10002645" cy="697112"/>
          </a:xfrm>
          <a:prstGeom prst="rect">
            <a:avLst/>
          </a:prstGeom>
        </p:spPr>
        <p:txBody>
          <a:bodyPr vert="horz" wrap="square" lIns="0" tIns="80770" rIns="0" bIns="0" rtlCol="0">
            <a:spAutoFit/>
          </a:bodyPr>
          <a:lstStyle/>
          <a:p>
            <a:pPr marL="1520825">
              <a:lnSpc>
                <a:spcPct val="100000"/>
              </a:lnSpc>
              <a:spcBef>
                <a:spcPts val="100"/>
              </a:spcBef>
            </a:pPr>
            <a:r>
              <a:rPr sz="4000" spc="-260" dirty="0">
                <a:solidFill>
                  <a:schemeClr val="tx1"/>
                </a:solidFill>
              </a:rPr>
              <a:t>User</a:t>
            </a:r>
            <a:r>
              <a:rPr sz="4000" spc="-425" dirty="0">
                <a:solidFill>
                  <a:schemeClr val="tx1"/>
                </a:solidFill>
              </a:rPr>
              <a:t> </a:t>
            </a:r>
            <a:r>
              <a:rPr sz="4000" spc="-235" dirty="0">
                <a:solidFill>
                  <a:schemeClr val="tx1"/>
                </a:solidFill>
              </a:rPr>
              <a:t>Segmentation</a:t>
            </a:r>
            <a:r>
              <a:rPr sz="4000" spc="-420" dirty="0">
                <a:solidFill>
                  <a:schemeClr val="tx1"/>
                </a:solidFill>
              </a:rPr>
              <a:t> </a:t>
            </a:r>
            <a:r>
              <a:rPr sz="4000" spc="-229" dirty="0">
                <a:solidFill>
                  <a:schemeClr val="tx1"/>
                </a:solidFill>
              </a:rPr>
              <a:t>&amp;</a:t>
            </a:r>
            <a:r>
              <a:rPr sz="4000" spc="-420" dirty="0">
                <a:solidFill>
                  <a:schemeClr val="tx1"/>
                </a:solidFill>
              </a:rPr>
              <a:t> </a:t>
            </a:r>
            <a:r>
              <a:rPr sz="4000" spc="-250" dirty="0">
                <a:solidFill>
                  <a:schemeClr val="tx1"/>
                </a:solidFill>
              </a:rPr>
              <a:t>Behavioral</a:t>
            </a:r>
            <a:r>
              <a:rPr sz="4000" spc="-425" dirty="0">
                <a:solidFill>
                  <a:schemeClr val="tx1"/>
                </a:solidFill>
              </a:rPr>
              <a:t> </a:t>
            </a:r>
            <a:r>
              <a:rPr sz="4000" spc="-195" dirty="0">
                <a:solidFill>
                  <a:schemeClr val="tx1"/>
                </a:solidFill>
              </a:rPr>
              <a:t>Variances</a:t>
            </a:r>
          </a:p>
        </p:txBody>
      </p:sp>
      <p:grpSp>
        <p:nvGrpSpPr>
          <p:cNvPr id="4" name="object 4"/>
          <p:cNvGrpSpPr/>
          <p:nvPr/>
        </p:nvGrpSpPr>
        <p:grpSpPr>
          <a:xfrm>
            <a:off x="573720" y="1077090"/>
            <a:ext cx="5291299" cy="5369962"/>
            <a:chOff x="573874" y="831763"/>
            <a:chExt cx="5291299" cy="5369962"/>
          </a:xfrm>
        </p:grpSpPr>
        <p:pic>
          <p:nvPicPr>
            <p:cNvPr id="5" name="object 5"/>
            <p:cNvPicPr/>
            <p:nvPr/>
          </p:nvPicPr>
          <p:blipFill>
            <a:blip r:embed="rId2" cstate="print"/>
            <a:stretch>
              <a:fillRect/>
            </a:stretch>
          </p:blipFill>
          <p:spPr>
            <a:xfrm>
              <a:off x="573874" y="831763"/>
              <a:ext cx="5291299" cy="2498676"/>
            </a:xfrm>
            <a:prstGeom prst="rect">
              <a:avLst/>
            </a:prstGeom>
          </p:spPr>
        </p:pic>
        <p:sp>
          <p:nvSpPr>
            <p:cNvPr id="6" name="object 6"/>
            <p:cNvSpPr/>
            <p:nvPr/>
          </p:nvSpPr>
          <p:spPr>
            <a:xfrm>
              <a:off x="581024" y="3534725"/>
              <a:ext cx="5277485" cy="2667000"/>
            </a:xfrm>
            <a:custGeom>
              <a:avLst/>
              <a:gdLst/>
              <a:ahLst/>
              <a:cxnLst/>
              <a:rect l="l" t="t" r="r" b="b"/>
              <a:pathLst>
                <a:path w="5277485" h="2667000">
                  <a:moveTo>
                    <a:pt x="5124607" y="2666999"/>
                  </a:moveTo>
                  <a:lnTo>
                    <a:pt x="152392" y="2666999"/>
                  </a:lnTo>
                  <a:lnTo>
                    <a:pt x="104224" y="2659230"/>
                  </a:lnTo>
                  <a:lnTo>
                    <a:pt x="62391" y="2637597"/>
                  </a:lnTo>
                  <a:lnTo>
                    <a:pt x="29402" y="2604608"/>
                  </a:lnTo>
                  <a:lnTo>
                    <a:pt x="7769" y="2562775"/>
                  </a:lnTo>
                  <a:lnTo>
                    <a:pt x="0" y="2514607"/>
                  </a:lnTo>
                  <a:lnTo>
                    <a:pt x="0" y="152392"/>
                  </a:lnTo>
                  <a:lnTo>
                    <a:pt x="7769" y="104224"/>
                  </a:lnTo>
                  <a:lnTo>
                    <a:pt x="29402" y="62391"/>
                  </a:lnTo>
                  <a:lnTo>
                    <a:pt x="62391" y="29402"/>
                  </a:lnTo>
                  <a:lnTo>
                    <a:pt x="104224" y="7769"/>
                  </a:lnTo>
                  <a:lnTo>
                    <a:pt x="152392" y="0"/>
                  </a:lnTo>
                  <a:lnTo>
                    <a:pt x="5124607" y="0"/>
                  </a:lnTo>
                  <a:lnTo>
                    <a:pt x="5182925" y="11600"/>
                  </a:lnTo>
                  <a:lnTo>
                    <a:pt x="5232365" y="44634"/>
                  </a:lnTo>
                  <a:lnTo>
                    <a:pt x="5265399" y="94074"/>
                  </a:lnTo>
                  <a:lnTo>
                    <a:pt x="5276999" y="152392"/>
                  </a:lnTo>
                  <a:lnTo>
                    <a:pt x="5276999" y="2514607"/>
                  </a:lnTo>
                  <a:lnTo>
                    <a:pt x="5269230" y="2562775"/>
                  </a:lnTo>
                  <a:lnTo>
                    <a:pt x="5247597" y="2604608"/>
                  </a:lnTo>
                  <a:lnTo>
                    <a:pt x="5214608" y="2637597"/>
                  </a:lnTo>
                  <a:lnTo>
                    <a:pt x="5172775" y="2659230"/>
                  </a:lnTo>
                  <a:lnTo>
                    <a:pt x="5124607" y="2666999"/>
                  </a:lnTo>
                  <a:close/>
                </a:path>
              </a:pathLst>
            </a:custGeom>
            <a:solidFill>
              <a:srgbClr val="0F172A"/>
            </a:solidFill>
          </p:spPr>
          <p:txBody>
            <a:bodyPr wrap="square" lIns="0" tIns="0" rIns="0" bIns="0" rtlCol="0"/>
            <a:lstStyle/>
            <a:p>
              <a:endParaRPr/>
            </a:p>
          </p:txBody>
        </p:sp>
        <p:sp>
          <p:nvSpPr>
            <p:cNvPr id="7" name="object 7"/>
            <p:cNvSpPr/>
            <p:nvPr/>
          </p:nvSpPr>
          <p:spPr>
            <a:xfrm>
              <a:off x="581024" y="3534725"/>
              <a:ext cx="5277485" cy="2667000"/>
            </a:xfrm>
            <a:custGeom>
              <a:avLst/>
              <a:gdLst/>
              <a:ahLst/>
              <a:cxnLst/>
              <a:rect l="l" t="t" r="r" b="b"/>
              <a:pathLst>
                <a:path w="5277485" h="2667000">
                  <a:moveTo>
                    <a:pt x="0" y="152392"/>
                  </a:moveTo>
                  <a:lnTo>
                    <a:pt x="7769" y="104224"/>
                  </a:lnTo>
                  <a:lnTo>
                    <a:pt x="29402" y="62391"/>
                  </a:lnTo>
                  <a:lnTo>
                    <a:pt x="62391" y="29402"/>
                  </a:lnTo>
                  <a:lnTo>
                    <a:pt x="104224" y="7769"/>
                  </a:lnTo>
                  <a:lnTo>
                    <a:pt x="152392" y="0"/>
                  </a:lnTo>
                  <a:lnTo>
                    <a:pt x="5124607" y="0"/>
                  </a:lnTo>
                  <a:lnTo>
                    <a:pt x="5182925" y="11600"/>
                  </a:lnTo>
                  <a:lnTo>
                    <a:pt x="5232365" y="44634"/>
                  </a:lnTo>
                  <a:lnTo>
                    <a:pt x="5265399" y="94074"/>
                  </a:lnTo>
                  <a:lnTo>
                    <a:pt x="5276999" y="152392"/>
                  </a:lnTo>
                  <a:lnTo>
                    <a:pt x="5276999" y="2514607"/>
                  </a:lnTo>
                  <a:lnTo>
                    <a:pt x="5269230" y="2562775"/>
                  </a:lnTo>
                  <a:lnTo>
                    <a:pt x="5247597" y="2604608"/>
                  </a:lnTo>
                  <a:lnTo>
                    <a:pt x="5214608" y="2637597"/>
                  </a:lnTo>
                  <a:lnTo>
                    <a:pt x="5172775" y="2659230"/>
                  </a:lnTo>
                  <a:lnTo>
                    <a:pt x="5124607" y="2666999"/>
                  </a:lnTo>
                  <a:lnTo>
                    <a:pt x="152392" y="2666999"/>
                  </a:lnTo>
                  <a:lnTo>
                    <a:pt x="104224" y="2659230"/>
                  </a:lnTo>
                  <a:lnTo>
                    <a:pt x="62391" y="2637597"/>
                  </a:lnTo>
                  <a:lnTo>
                    <a:pt x="29402" y="2604608"/>
                  </a:lnTo>
                  <a:lnTo>
                    <a:pt x="7769" y="2562775"/>
                  </a:lnTo>
                  <a:lnTo>
                    <a:pt x="0" y="2514607"/>
                  </a:lnTo>
                  <a:lnTo>
                    <a:pt x="0" y="152392"/>
                  </a:lnTo>
                  <a:close/>
                </a:path>
              </a:pathLst>
            </a:custGeom>
            <a:ln w="14299">
              <a:solidFill>
                <a:srgbClr val="1E293B"/>
              </a:solidFill>
            </a:ln>
          </p:spPr>
          <p:txBody>
            <a:bodyPr wrap="square" lIns="0" tIns="0" rIns="0" bIns="0" rtlCol="0"/>
            <a:lstStyle/>
            <a:p>
              <a:endParaRPr/>
            </a:p>
          </p:txBody>
        </p:sp>
      </p:grpSp>
      <p:sp>
        <p:nvSpPr>
          <p:cNvPr id="8" name="object 8"/>
          <p:cNvSpPr txBox="1"/>
          <p:nvPr/>
        </p:nvSpPr>
        <p:spPr>
          <a:xfrm>
            <a:off x="510168" y="4259777"/>
            <a:ext cx="5289476" cy="1680717"/>
          </a:xfrm>
          <a:prstGeom prst="rect">
            <a:avLst/>
          </a:prstGeom>
        </p:spPr>
        <p:txBody>
          <a:bodyPr vert="horz" wrap="square" lIns="0" tIns="12700" rIns="0" bIns="0" rtlCol="0">
            <a:spAutoFit/>
          </a:bodyPr>
          <a:lstStyle/>
          <a:p>
            <a:pPr marL="12700">
              <a:lnSpc>
                <a:spcPct val="100000"/>
              </a:lnSpc>
              <a:spcBef>
                <a:spcPts val="100"/>
              </a:spcBef>
            </a:pPr>
            <a:r>
              <a:rPr lang="en-IN" sz="1650" b="1" spc="-125" dirty="0">
                <a:solidFill>
                  <a:srgbClr val="F3F4F6"/>
                </a:solidFill>
                <a:latin typeface="Verdana"/>
                <a:cs typeface="Verdana"/>
              </a:rPr>
              <a:t>   </a:t>
            </a:r>
            <a:r>
              <a:rPr sz="1650" b="1" spc="-125" dirty="0">
                <a:solidFill>
                  <a:srgbClr val="F3F4F6"/>
                </a:solidFill>
                <a:latin typeface="Verdana"/>
                <a:cs typeface="Verdana"/>
              </a:rPr>
              <a:t>Subscriber</a:t>
            </a:r>
            <a:r>
              <a:rPr sz="1650" b="1" spc="-215" dirty="0">
                <a:solidFill>
                  <a:srgbClr val="F3F4F6"/>
                </a:solidFill>
                <a:latin typeface="Verdana"/>
                <a:cs typeface="Verdana"/>
              </a:rPr>
              <a:t> </a:t>
            </a:r>
            <a:r>
              <a:rPr sz="1650" b="1" spc="-140" dirty="0">
                <a:solidFill>
                  <a:srgbClr val="F3F4F6"/>
                </a:solidFill>
                <a:latin typeface="Verdana"/>
                <a:cs typeface="Verdana"/>
              </a:rPr>
              <a:t>Commuter</a:t>
            </a:r>
            <a:r>
              <a:rPr sz="1650" b="1" spc="-210" dirty="0">
                <a:solidFill>
                  <a:srgbClr val="F3F4F6"/>
                </a:solidFill>
                <a:latin typeface="Verdana"/>
                <a:cs typeface="Verdana"/>
              </a:rPr>
              <a:t> </a:t>
            </a:r>
            <a:r>
              <a:rPr sz="1650" b="1" spc="-10" dirty="0">
                <a:solidFill>
                  <a:srgbClr val="F3F4F6"/>
                </a:solidFill>
                <a:latin typeface="Verdana"/>
                <a:cs typeface="Verdana"/>
              </a:rPr>
              <a:t>Footprint</a:t>
            </a:r>
            <a:endParaRPr sz="1650" dirty="0">
              <a:latin typeface="Verdana"/>
              <a:cs typeface="Verdana"/>
            </a:endParaRPr>
          </a:p>
          <a:p>
            <a:pPr marL="469900" marR="13970" indent="-336550">
              <a:lnSpc>
                <a:spcPct val="102200"/>
              </a:lnSpc>
              <a:spcBef>
                <a:spcPts val="1095"/>
              </a:spcBef>
              <a:buClr>
                <a:srgbClr val="000000"/>
              </a:buClr>
              <a:buFont typeface="Microsoft Sans Serif"/>
              <a:buChar char="●"/>
              <a:tabLst>
                <a:tab pos="469900" algn="l"/>
              </a:tabLst>
            </a:pPr>
            <a:r>
              <a:rPr sz="1400" b="1" spc="-60" dirty="0">
                <a:solidFill>
                  <a:srgbClr val="F7FAFC"/>
                </a:solidFill>
                <a:latin typeface="Tahoma"/>
                <a:cs typeface="Tahoma"/>
              </a:rPr>
              <a:t>Rigid</a:t>
            </a:r>
            <a:r>
              <a:rPr sz="1400" b="1" spc="-30" dirty="0">
                <a:solidFill>
                  <a:srgbClr val="F7FAFC"/>
                </a:solidFill>
                <a:latin typeface="Tahoma"/>
                <a:cs typeface="Tahoma"/>
              </a:rPr>
              <a:t> </a:t>
            </a:r>
            <a:r>
              <a:rPr sz="1400" b="1" spc="-40" dirty="0">
                <a:solidFill>
                  <a:srgbClr val="F7FAFC"/>
                </a:solidFill>
                <a:latin typeface="Tahoma"/>
                <a:cs typeface="Tahoma"/>
              </a:rPr>
              <a:t>Peak</a:t>
            </a:r>
            <a:r>
              <a:rPr sz="1400" b="1" spc="-30" dirty="0">
                <a:solidFill>
                  <a:srgbClr val="F7FAFC"/>
                </a:solidFill>
                <a:latin typeface="Tahoma"/>
                <a:cs typeface="Tahoma"/>
              </a:rPr>
              <a:t> </a:t>
            </a:r>
            <a:r>
              <a:rPr sz="1400" b="1" spc="-55" dirty="0">
                <a:solidFill>
                  <a:srgbClr val="F7FAFC"/>
                </a:solidFill>
                <a:latin typeface="Tahoma"/>
                <a:cs typeface="Tahoma"/>
              </a:rPr>
              <a:t>Patterns:</a:t>
            </a:r>
            <a:r>
              <a:rPr sz="1400" b="1" spc="-70" dirty="0">
                <a:solidFill>
                  <a:srgbClr val="F7FAFC"/>
                </a:solidFill>
                <a:latin typeface="Tahoma"/>
                <a:cs typeface="Tahoma"/>
              </a:rPr>
              <a:t> </a:t>
            </a:r>
            <a:r>
              <a:rPr sz="1100" spc="65" dirty="0">
                <a:solidFill>
                  <a:srgbClr val="94A3B8"/>
                </a:solidFill>
                <a:latin typeface="Tahoma"/>
                <a:cs typeface="Tahoma"/>
              </a:rPr>
              <a:t>Subscribers</a:t>
            </a:r>
            <a:r>
              <a:rPr sz="1100" dirty="0">
                <a:solidFill>
                  <a:srgbClr val="94A3B8"/>
                </a:solidFill>
                <a:latin typeface="Tahoma"/>
                <a:cs typeface="Tahoma"/>
              </a:rPr>
              <a:t> </a:t>
            </a:r>
            <a:r>
              <a:rPr sz="1100" spc="55" dirty="0">
                <a:solidFill>
                  <a:srgbClr val="94A3B8"/>
                </a:solidFill>
                <a:latin typeface="Tahoma"/>
                <a:cs typeface="Tahoma"/>
              </a:rPr>
              <a:t>make</a:t>
            </a:r>
            <a:r>
              <a:rPr sz="1100" dirty="0">
                <a:solidFill>
                  <a:srgbClr val="94A3B8"/>
                </a:solidFill>
                <a:latin typeface="Tahoma"/>
                <a:cs typeface="Tahoma"/>
              </a:rPr>
              <a:t> </a:t>
            </a:r>
            <a:r>
              <a:rPr sz="1100" spc="55" dirty="0">
                <a:solidFill>
                  <a:srgbClr val="94A3B8"/>
                </a:solidFill>
                <a:latin typeface="Tahoma"/>
                <a:cs typeface="Tahoma"/>
              </a:rPr>
              <a:t>up</a:t>
            </a:r>
            <a:r>
              <a:rPr sz="1100" spc="5" dirty="0">
                <a:solidFill>
                  <a:srgbClr val="94A3B8"/>
                </a:solidFill>
                <a:latin typeface="Tahoma"/>
                <a:cs typeface="Tahoma"/>
              </a:rPr>
              <a:t> </a:t>
            </a:r>
            <a:r>
              <a:rPr sz="1400" b="1" spc="-85" dirty="0">
                <a:solidFill>
                  <a:srgbClr val="22D3EE"/>
                </a:solidFill>
                <a:latin typeface="Tahoma"/>
                <a:cs typeface="Tahoma"/>
              </a:rPr>
              <a:t>85–</a:t>
            </a:r>
            <a:r>
              <a:rPr sz="1400" b="1" spc="-100" dirty="0">
                <a:solidFill>
                  <a:srgbClr val="22D3EE"/>
                </a:solidFill>
                <a:latin typeface="Tahoma"/>
                <a:cs typeface="Tahoma"/>
              </a:rPr>
              <a:t>90%</a:t>
            </a:r>
            <a:r>
              <a:rPr sz="1400" b="1" spc="-65" dirty="0">
                <a:solidFill>
                  <a:srgbClr val="22D3EE"/>
                </a:solidFill>
                <a:latin typeface="Tahoma"/>
                <a:cs typeface="Tahoma"/>
              </a:rPr>
              <a:t> </a:t>
            </a:r>
            <a:r>
              <a:rPr sz="1100" spc="35" dirty="0">
                <a:solidFill>
                  <a:srgbClr val="94A3B8"/>
                </a:solidFill>
                <a:latin typeface="Tahoma"/>
                <a:cs typeface="Tahoma"/>
              </a:rPr>
              <a:t>of </a:t>
            </a:r>
            <a:r>
              <a:rPr sz="1100" spc="10" dirty="0">
                <a:solidFill>
                  <a:srgbClr val="94A3B8"/>
                </a:solidFill>
                <a:latin typeface="Tahoma"/>
                <a:cs typeface="Tahoma"/>
              </a:rPr>
              <a:t>total</a:t>
            </a:r>
            <a:r>
              <a:rPr sz="1100" spc="105" dirty="0">
                <a:solidFill>
                  <a:srgbClr val="94A3B8"/>
                </a:solidFill>
                <a:latin typeface="Tahoma"/>
                <a:cs typeface="Tahoma"/>
              </a:rPr>
              <a:t> </a:t>
            </a:r>
            <a:r>
              <a:rPr sz="1100" spc="10" dirty="0">
                <a:solidFill>
                  <a:srgbClr val="94A3B8"/>
                </a:solidFill>
                <a:latin typeface="Tahoma"/>
                <a:cs typeface="Tahoma"/>
              </a:rPr>
              <a:t>volume,</a:t>
            </a:r>
            <a:r>
              <a:rPr sz="1100" spc="110" dirty="0">
                <a:solidFill>
                  <a:srgbClr val="94A3B8"/>
                </a:solidFill>
                <a:latin typeface="Tahoma"/>
                <a:cs typeface="Tahoma"/>
              </a:rPr>
              <a:t> </a:t>
            </a:r>
            <a:r>
              <a:rPr sz="1100" spc="10" dirty="0">
                <a:solidFill>
                  <a:srgbClr val="94A3B8"/>
                </a:solidFill>
                <a:latin typeface="Tahoma"/>
                <a:cs typeface="Tahoma"/>
              </a:rPr>
              <a:t>maintaining</a:t>
            </a:r>
            <a:r>
              <a:rPr sz="1100" spc="110" dirty="0">
                <a:solidFill>
                  <a:srgbClr val="94A3B8"/>
                </a:solidFill>
                <a:latin typeface="Tahoma"/>
                <a:cs typeface="Tahoma"/>
              </a:rPr>
              <a:t> </a:t>
            </a:r>
            <a:r>
              <a:rPr sz="1100" spc="10" dirty="0">
                <a:solidFill>
                  <a:srgbClr val="94A3B8"/>
                </a:solidFill>
                <a:latin typeface="Tahoma"/>
                <a:cs typeface="Tahoma"/>
              </a:rPr>
              <a:t>strict</a:t>
            </a:r>
            <a:r>
              <a:rPr sz="1100" spc="105" dirty="0">
                <a:solidFill>
                  <a:srgbClr val="94A3B8"/>
                </a:solidFill>
                <a:latin typeface="Tahoma"/>
                <a:cs typeface="Tahoma"/>
              </a:rPr>
              <a:t> </a:t>
            </a:r>
            <a:r>
              <a:rPr sz="1100" spc="10" dirty="0">
                <a:solidFill>
                  <a:srgbClr val="94A3B8"/>
                </a:solidFill>
                <a:latin typeface="Tahoma"/>
                <a:cs typeface="Tahoma"/>
              </a:rPr>
              <a:t>utility</a:t>
            </a:r>
            <a:r>
              <a:rPr sz="1100" spc="110" dirty="0">
                <a:solidFill>
                  <a:srgbClr val="94A3B8"/>
                </a:solidFill>
                <a:latin typeface="Tahoma"/>
                <a:cs typeface="Tahoma"/>
              </a:rPr>
              <a:t> </a:t>
            </a:r>
            <a:r>
              <a:rPr sz="1100" spc="55" dirty="0">
                <a:solidFill>
                  <a:srgbClr val="94A3B8"/>
                </a:solidFill>
                <a:latin typeface="Tahoma"/>
                <a:cs typeface="Tahoma"/>
              </a:rPr>
              <a:t>behaviors</a:t>
            </a:r>
            <a:r>
              <a:rPr sz="1100" spc="110" dirty="0">
                <a:solidFill>
                  <a:srgbClr val="94A3B8"/>
                </a:solidFill>
                <a:latin typeface="Tahoma"/>
                <a:cs typeface="Tahoma"/>
              </a:rPr>
              <a:t> </a:t>
            </a:r>
            <a:r>
              <a:rPr sz="1100" spc="10" dirty="0">
                <a:solidFill>
                  <a:srgbClr val="94A3B8"/>
                </a:solidFill>
                <a:latin typeface="Tahoma"/>
                <a:cs typeface="Tahoma"/>
              </a:rPr>
              <a:t>tied</a:t>
            </a:r>
            <a:r>
              <a:rPr sz="1100" spc="105" dirty="0">
                <a:solidFill>
                  <a:srgbClr val="94A3B8"/>
                </a:solidFill>
                <a:latin typeface="Tahoma"/>
                <a:cs typeface="Tahoma"/>
              </a:rPr>
              <a:t> </a:t>
            </a:r>
            <a:r>
              <a:rPr sz="1100" spc="10" dirty="0">
                <a:solidFill>
                  <a:srgbClr val="94A3B8"/>
                </a:solidFill>
                <a:latin typeface="Tahoma"/>
                <a:cs typeface="Tahoma"/>
              </a:rPr>
              <a:t>to</a:t>
            </a:r>
            <a:r>
              <a:rPr sz="1100" spc="110" dirty="0">
                <a:solidFill>
                  <a:srgbClr val="94A3B8"/>
                </a:solidFill>
                <a:latin typeface="Tahoma"/>
                <a:cs typeface="Tahoma"/>
              </a:rPr>
              <a:t> </a:t>
            </a:r>
            <a:r>
              <a:rPr sz="1100" spc="35" dirty="0">
                <a:solidFill>
                  <a:srgbClr val="94A3B8"/>
                </a:solidFill>
                <a:latin typeface="Tahoma"/>
                <a:cs typeface="Tahoma"/>
              </a:rPr>
              <a:t>morning </a:t>
            </a:r>
            <a:r>
              <a:rPr sz="1100" spc="55" dirty="0">
                <a:solidFill>
                  <a:srgbClr val="94A3B8"/>
                </a:solidFill>
                <a:latin typeface="Tahoma"/>
                <a:cs typeface="Tahoma"/>
              </a:rPr>
              <a:t>and</a:t>
            </a:r>
            <a:r>
              <a:rPr sz="1100" spc="-25" dirty="0">
                <a:solidFill>
                  <a:srgbClr val="94A3B8"/>
                </a:solidFill>
                <a:latin typeface="Tahoma"/>
                <a:cs typeface="Tahoma"/>
              </a:rPr>
              <a:t> </a:t>
            </a:r>
            <a:r>
              <a:rPr sz="1100" spc="50" dirty="0">
                <a:solidFill>
                  <a:srgbClr val="94A3B8"/>
                </a:solidFill>
                <a:latin typeface="Tahoma"/>
                <a:cs typeface="Tahoma"/>
              </a:rPr>
              <a:t>evening</a:t>
            </a:r>
            <a:r>
              <a:rPr sz="1100" spc="-25" dirty="0">
                <a:solidFill>
                  <a:srgbClr val="94A3B8"/>
                </a:solidFill>
                <a:latin typeface="Tahoma"/>
                <a:cs typeface="Tahoma"/>
              </a:rPr>
              <a:t> </a:t>
            </a:r>
            <a:r>
              <a:rPr sz="1100" spc="50" dirty="0">
                <a:solidFill>
                  <a:srgbClr val="94A3B8"/>
                </a:solidFill>
                <a:latin typeface="Tahoma"/>
                <a:cs typeface="Tahoma"/>
              </a:rPr>
              <a:t>rush-</a:t>
            </a:r>
            <a:r>
              <a:rPr sz="1100" spc="55" dirty="0">
                <a:solidFill>
                  <a:srgbClr val="94A3B8"/>
                </a:solidFill>
                <a:latin typeface="Tahoma"/>
                <a:cs typeface="Tahoma"/>
              </a:rPr>
              <a:t>hour</a:t>
            </a:r>
            <a:r>
              <a:rPr sz="1100" spc="-25" dirty="0">
                <a:solidFill>
                  <a:srgbClr val="94A3B8"/>
                </a:solidFill>
                <a:latin typeface="Tahoma"/>
                <a:cs typeface="Tahoma"/>
              </a:rPr>
              <a:t> </a:t>
            </a:r>
            <a:r>
              <a:rPr sz="1100" spc="-10" dirty="0">
                <a:solidFill>
                  <a:srgbClr val="94A3B8"/>
                </a:solidFill>
                <a:latin typeface="Tahoma"/>
                <a:cs typeface="Tahoma"/>
              </a:rPr>
              <a:t>intervals.</a:t>
            </a:r>
            <a:endParaRPr sz="1100" dirty="0">
              <a:latin typeface="Tahoma"/>
              <a:cs typeface="Tahoma"/>
            </a:endParaRPr>
          </a:p>
          <a:p>
            <a:pPr marL="469900" marR="5080" indent="-336550">
              <a:lnSpc>
                <a:spcPct val="101099"/>
              </a:lnSpc>
              <a:spcBef>
                <a:spcPts val="875"/>
              </a:spcBef>
              <a:buClr>
                <a:srgbClr val="000000"/>
              </a:buClr>
              <a:buFont typeface="Microsoft Sans Serif"/>
              <a:buChar char="●"/>
              <a:tabLst>
                <a:tab pos="469900" algn="l"/>
              </a:tabLst>
            </a:pPr>
            <a:r>
              <a:rPr sz="1400" b="1" spc="-30" dirty="0">
                <a:solidFill>
                  <a:srgbClr val="F7FAFC"/>
                </a:solidFill>
                <a:latin typeface="Tahoma"/>
                <a:cs typeface="Tahoma"/>
              </a:rPr>
              <a:t>High-</a:t>
            </a:r>
            <a:r>
              <a:rPr sz="1400" b="1" spc="-20" dirty="0">
                <a:solidFill>
                  <a:srgbClr val="F7FAFC"/>
                </a:solidFill>
                <a:latin typeface="Tahoma"/>
                <a:cs typeface="Tahoma"/>
              </a:rPr>
              <a:t>Efficiency</a:t>
            </a:r>
            <a:r>
              <a:rPr sz="1400" b="1" spc="60" dirty="0">
                <a:solidFill>
                  <a:srgbClr val="F7FAFC"/>
                </a:solidFill>
                <a:latin typeface="Tahoma"/>
                <a:cs typeface="Tahoma"/>
              </a:rPr>
              <a:t> </a:t>
            </a:r>
            <a:r>
              <a:rPr sz="1400" b="1" spc="-45" dirty="0">
                <a:solidFill>
                  <a:srgbClr val="F7FAFC"/>
                </a:solidFill>
                <a:latin typeface="Tahoma"/>
                <a:cs typeface="Tahoma"/>
              </a:rPr>
              <a:t>Rides:</a:t>
            </a:r>
            <a:r>
              <a:rPr sz="1400" b="1" spc="30" dirty="0">
                <a:solidFill>
                  <a:srgbClr val="F7FAFC"/>
                </a:solidFill>
                <a:latin typeface="Tahoma"/>
                <a:cs typeface="Tahoma"/>
              </a:rPr>
              <a:t> </a:t>
            </a:r>
            <a:r>
              <a:rPr sz="1100" spc="55" dirty="0">
                <a:solidFill>
                  <a:srgbClr val="94A3B8"/>
                </a:solidFill>
                <a:latin typeface="Tahoma"/>
                <a:cs typeface="Tahoma"/>
              </a:rPr>
              <a:t>Average</a:t>
            </a:r>
            <a:r>
              <a:rPr sz="1100" spc="80" dirty="0">
                <a:solidFill>
                  <a:srgbClr val="94A3B8"/>
                </a:solidFill>
                <a:latin typeface="Tahoma"/>
                <a:cs typeface="Tahoma"/>
              </a:rPr>
              <a:t> </a:t>
            </a:r>
            <a:r>
              <a:rPr sz="1100" dirty="0">
                <a:solidFill>
                  <a:srgbClr val="94A3B8"/>
                </a:solidFill>
                <a:latin typeface="Tahoma"/>
                <a:cs typeface="Tahoma"/>
              </a:rPr>
              <a:t>ride</a:t>
            </a:r>
            <a:r>
              <a:rPr sz="1100" spc="80" dirty="0">
                <a:solidFill>
                  <a:srgbClr val="94A3B8"/>
                </a:solidFill>
                <a:latin typeface="Tahoma"/>
                <a:cs typeface="Tahoma"/>
              </a:rPr>
              <a:t> </a:t>
            </a:r>
            <a:r>
              <a:rPr sz="1100" dirty="0">
                <a:solidFill>
                  <a:srgbClr val="94A3B8"/>
                </a:solidFill>
                <a:latin typeface="Tahoma"/>
                <a:cs typeface="Tahoma"/>
              </a:rPr>
              <a:t>times</a:t>
            </a:r>
            <a:r>
              <a:rPr sz="1100" spc="85" dirty="0">
                <a:solidFill>
                  <a:srgbClr val="94A3B8"/>
                </a:solidFill>
                <a:latin typeface="Tahoma"/>
                <a:cs typeface="Tahoma"/>
              </a:rPr>
              <a:t> </a:t>
            </a:r>
            <a:r>
              <a:rPr sz="1100" dirty="0">
                <a:solidFill>
                  <a:srgbClr val="94A3B8"/>
                </a:solidFill>
                <a:latin typeface="Tahoma"/>
                <a:cs typeface="Tahoma"/>
              </a:rPr>
              <a:t>are</a:t>
            </a:r>
            <a:r>
              <a:rPr sz="1100" spc="80" dirty="0">
                <a:solidFill>
                  <a:srgbClr val="94A3B8"/>
                </a:solidFill>
                <a:latin typeface="Tahoma"/>
                <a:cs typeface="Tahoma"/>
              </a:rPr>
              <a:t> </a:t>
            </a:r>
            <a:r>
              <a:rPr sz="1100" spc="-10" dirty="0">
                <a:solidFill>
                  <a:srgbClr val="94A3B8"/>
                </a:solidFill>
                <a:latin typeface="Tahoma"/>
                <a:cs typeface="Tahoma"/>
              </a:rPr>
              <a:t>tightly </a:t>
            </a:r>
            <a:r>
              <a:rPr sz="1100" spc="55" dirty="0">
                <a:solidFill>
                  <a:srgbClr val="94A3B8"/>
                </a:solidFill>
                <a:latin typeface="Tahoma"/>
                <a:cs typeface="Tahoma"/>
              </a:rPr>
              <a:t>clustered</a:t>
            </a:r>
            <a:r>
              <a:rPr sz="1100" spc="30" dirty="0">
                <a:solidFill>
                  <a:srgbClr val="94A3B8"/>
                </a:solidFill>
                <a:latin typeface="Tahoma"/>
                <a:cs typeface="Tahoma"/>
              </a:rPr>
              <a:t> </a:t>
            </a:r>
            <a:r>
              <a:rPr sz="1100" dirty="0">
                <a:solidFill>
                  <a:srgbClr val="94A3B8"/>
                </a:solidFill>
                <a:latin typeface="Tahoma"/>
                <a:cs typeface="Tahoma"/>
              </a:rPr>
              <a:t>around</a:t>
            </a:r>
            <a:r>
              <a:rPr sz="1100" spc="40" dirty="0">
                <a:solidFill>
                  <a:srgbClr val="94A3B8"/>
                </a:solidFill>
                <a:latin typeface="Tahoma"/>
                <a:cs typeface="Tahoma"/>
              </a:rPr>
              <a:t> </a:t>
            </a:r>
            <a:r>
              <a:rPr sz="1400" b="1" spc="-170" dirty="0">
                <a:solidFill>
                  <a:srgbClr val="22D3EE"/>
                </a:solidFill>
                <a:latin typeface="Tahoma"/>
                <a:cs typeface="Tahoma"/>
              </a:rPr>
              <a:t>10–15</a:t>
            </a:r>
            <a:r>
              <a:rPr sz="1400" b="1" spc="10" dirty="0">
                <a:solidFill>
                  <a:srgbClr val="22D3EE"/>
                </a:solidFill>
                <a:latin typeface="Tahoma"/>
                <a:cs typeface="Tahoma"/>
              </a:rPr>
              <a:t> </a:t>
            </a:r>
            <a:r>
              <a:rPr sz="1400" b="1" spc="-45" dirty="0">
                <a:solidFill>
                  <a:srgbClr val="22D3EE"/>
                </a:solidFill>
                <a:latin typeface="Tahoma"/>
                <a:cs typeface="Tahoma"/>
              </a:rPr>
              <a:t>minutes</a:t>
            </a:r>
            <a:r>
              <a:rPr sz="1100" spc="-45" dirty="0">
                <a:solidFill>
                  <a:srgbClr val="94A3B8"/>
                </a:solidFill>
                <a:latin typeface="Tahoma"/>
                <a:cs typeface="Tahoma"/>
              </a:rPr>
              <a:t>,</a:t>
            </a:r>
            <a:r>
              <a:rPr sz="1100" spc="30" dirty="0">
                <a:solidFill>
                  <a:srgbClr val="94A3B8"/>
                </a:solidFill>
                <a:latin typeface="Tahoma"/>
                <a:cs typeface="Tahoma"/>
              </a:rPr>
              <a:t> </a:t>
            </a:r>
            <a:r>
              <a:rPr sz="1100" spc="45" dirty="0">
                <a:solidFill>
                  <a:srgbClr val="94A3B8"/>
                </a:solidFill>
                <a:latin typeface="Tahoma"/>
                <a:cs typeface="Tahoma"/>
              </a:rPr>
              <a:t>proving</a:t>
            </a:r>
            <a:r>
              <a:rPr sz="1100" spc="35" dirty="0">
                <a:solidFill>
                  <a:srgbClr val="94A3B8"/>
                </a:solidFill>
                <a:latin typeface="Tahoma"/>
                <a:cs typeface="Tahoma"/>
              </a:rPr>
              <a:t> </a:t>
            </a:r>
            <a:r>
              <a:rPr sz="1100" dirty="0">
                <a:solidFill>
                  <a:srgbClr val="94A3B8"/>
                </a:solidFill>
                <a:latin typeface="Tahoma"/>
                <a:cs typeface="Tahoma"/>
              </a:rPr>
              <a:t>their</a:t>
            </a:r>
            <a:r>
              <a:rPr sz="1100" spc="30" dirty="0">
                <a:solidFill>
                  <a:srgbClr val="94A3B8"/>
                </a:solidFill>
                <a:latin typeface="Tahoma"/>
                <a:cs typeface="Tahoma"/>
              </a:rPr>
              <a:t> </a:t>
            </a:r>
            <a:r>
              <a:rPr sz="1100" spc="75" dirty="0">
                <a:solidFill>
                  <a:srgbClr val="94A3B8"/>
                </a:solidFill>
                <a:latin typeface="Tahoma"/>
                <a:cs typeface="Tahoma"/>
              </a:rPr>
              <a:t>use</a:t>
            </a:r>
            <a:r>
              <a:rPr sz="1100" spc="35" dirty="0">
                <a:solidFill>
                  <a:srgbClr val="94A3B8"/>
                </a:solidFill>
                <a:latin typeface="Tahoma"/>
                <a:cs typeface="Tahoma"/>
              </a:rPr>
              <a:t> </a:t>
            </a:r>
            <a:r>
              <a:rPr sz="1100" spc="60" dirty="0">
                <a:solidFill>
                  <a:srgbClr val="94A3B8"/>
                </a:solidFill>
                <a:latin typeface="Tahoma"/>
                <a:cs typeface="Tahoma"/>
              </a:rPr>
              <a:t>is</a:t>
            </a:r>
            <a:r>
              <a:rPr sz="1100" spc="30" dirty="0">
                <a:solidFill>
                  <a:srgbClr val="94A3B8"/>
                </a:solidFill>
                <a:latin typeface="Tahoma"/>
                <a:cs typeface="Tahoma"/>
              </a:rPr>
              <a:t> </a:t>
            </a:r>
            <a:r>
              <a:rPr sz="1100" spc="35" dirty="0">
                <a:solidFill>
                  <a:srgbClr val="94A3B8"/>
                </a:solidFill>
                <a:latin typeface="Tahoma"/>
                <a:cs typeface="Tahoma"/>
              </a:rPr>
              <a:t>strictly </a:t>
            </a:r>
            <a:r>
              <a:rPr sz="1100" spc="50" dirty="0">
                <a:solidFill>
                  <a:srgbClr val="94A3B8"/>
                </a:solidFill>
                <a:latin typeface="Tahoma"/>
                <a:cs typeface="Tahoma"/>
              </a:rPr>
              <a:t>destination-</a:t>
            </a:r>
            <a:r>
              <a:rPr sz="1100" spc="45" dirty="0">
                <a:solidFill>
                  <a:srgbClr val="94A3B8"/>
                </a:solidFill>
                <a:latin typeface="Tahoma"/>
                <a:cs typeface="Tahoma"/>
              </a:rPr>
              <a:t>focused.</a:t>
            </a:r>
            <a:endParaRPr sz="1100" dirty="0">
              <a:latin typeface="Tahoma"/>
              <a:cs typeface="Tahoma"/>
            </a:endParaRPr>
          </a:p>
        </p:txBody>
      </p:sp>
      <p:grpSp>
        <p:nvGrpSpPr>
          <p:cNvPr id="9" name="object 9"/>
          <p:cNvGrpSpPr/>
          <p:nvPr/>
        </p:nvGrpSpPr>
        <p:grpSpPr>
          <a:xfrm>
            <a:off x="6326829" y="1077090"/>
            <a:ext cx="5292090" cy="5377733"/>
            <a:chOff x="6326822" y="885021"/>
            <a:chExt cx="5292090" cy="5324475"/>
          </a:xfrm>
        </p:grpSpPr>
        <p:pic>
          <p:nvPicPr>
            <p:cNvPr id="10" name="object 10"/>
            <p:cNvPicPr/>
            <p:nvPr/>
          </p:nvPicPr>
          <p:blipFill>
            <a:blip r:embed="rId3" cstate="print"/>
            <a:stretch>
              <a:fillRect/>
            </a:stretch>
          </p:blipFill>
          <p:spPr>
            <a:xfrm>
              <a:off x="6326974" y="885021"/>
              <a:ext cx="5291299" cy="2473931"/>
            </a:xfrm>
            <a:prstGeom prst="rect">
              <a:avLst/>
            </a:prstGeom>
          </p:spPr>
        </p:pic>
        <p:sp>
          <p:nvSpPr>
            <p:cNvPr id="11" name="object 11"/>
            <p:cNvSpPr/>
            <p:nvPr/>
          </p:nvSpPr>
          <p:spPr>
            <a:xfrm>
              <a:off x="6334124" y="3534725"/>
              <a:ext cx="5277485" cy="2667000"/>
            </a:xfrm>
            <a:custGeom>
              <a:avLst/>
              <a:gdLst/>
              <a:ahLst/>
              <a:cxnLst/>
              <a:rect l="l" t="t" r="r" b="b"/>
              <a:pathLst>
                <a:path w="5277484" h="2667000">
                  <a:moveTo>
                    <a:pt x="5124607" y="2666999"/>
                  </a:moveTo>
                  <a:lnTo>
                    <a:pt x="152392" y="2666999"/>
                  </a:lnTo>
                  <a:lnTo>
                    <a:pt x="104224" y="2659230"/>
                  </a:lnTo>
                  <a:lnTo>
                    <a:pt x="62391" y="2637597"/>
                  </a:lnTo>
                  <a:lnTo>
                    <a:pt x="29402" y="2604608"/>
                  </a:lnTo>
                  <a:lnTo>
                    <a:pt x="7769" y="2562775"/>
                  </a:lnTo>
                  <a:lnTo>
                    <a:pt x="0" y="2514607"/>
                  </a:lnTo>
                  <a:lnTo>
                    <a:pt x="0" y="152392"/>
                  </a:lnTo>
                  <a:lnTo>
                    <a:pt x="7769" y="104224"/>
                  </a:lnTo>
                  <a:lnTo>
                    <a:pt x="29402" y="62391"/>
                  </a:lnTo>
                  <a:lnTo>
                    <a:pt x="62391" y="29402"/>
                  </a:lnTo>
                  <a:lnTo>
                    <a:pt x="104224" y="7769"/>
                  </a:lnTo>
                  <a:lnTo>
                    <a:pt x="152392" y="0"/>
                  </a:lnTo>
                  <a:lnTo>
                    <a:pt x="5124607" y="0"/>
                  </a:lnTo>
                  <a:lnTo>
                    <a:pt x="5182925" y="11600"/>
                  </a:lnTo>
                  <a:lnTo>
                    <a:pt x="5232365" y="44634"/>
                  </a:lnTo>
                  <a:lnTo>
                    <a:pt x="5265399" y="94074"/>
                  </a:lnTo>
                  <a:lnTo>
                    <a:pt x="5276999" y="152392"/>
                  </a:lnTo>
                  <a:lnTo>
                    <a:pt x="5276999" y="2514607"/>
                  </a:lnTo>
                  <a:lnTo>
                    <a:pt x="5269230" y="2562775"/>
                  </a:lnTo>
                  <a:lnTo>
                    <a:pt x="5247597" y="2604608"/>
                  </a:lnTo>
                  <a:lnTo>
                    <a:pt x="5214608" y="2637597"/>
                  </a:lnTo>
                  <a:lnTo>
                    <a:pt x="5172775" y="2659230"/>
                  </a:lnTo>
                  <a:lnTo>
                    <a:pt x="5124607" y="2666999"/>
                  </a:lnTo>
                  <a:close/>
                </a:path>
              </a:pathLst>
            </a:custGeom>
            <a:solidFill>
              <a:srgbClr val="0F172A"/>
            </a:solidFill>
          </p:spPr>
          <p:txBody>
            <a:bodyPr wrap="square" lIns="0" tIns="0" rIns="0" bIns="0" rtlCol="0"/>
            <a:lstStyle/>
            <a:p>
              <a:endParaRPr/>
            </a:p>
          </p:txBody>
        </p:sp>
        <p:sp>
          <p:nvSpPr>
            <p:cNvPr id="12" name="object 12"/>
            <p:cNvSpPr/>
            <p:nvPr/>
          </p:nvSpPr>
          <p:spPr>
            <a:xfrm>
              <a:off x="6334124" y="3534725"/>
              <a:ext cx="5277485" cy="2667000"/>
            </a:xfrm>
            <a:custGeom>
              <a:avLst/>
              <a:gdLst/>
              <a:ahLst/>
              <a:cxnLst/>
              <a:rect l="l" t="t" r="r" b="b"/>
              <a:pathLst>
                <a:path w="5277484" h="2667000">
                  <a:moveTo>
                    <a:pt x="0" y="152392"/>
                  </a:moveTo>
                  <a:lnTo>
                    <a:pt x="7769" y="104224"/>
                  </a:lnTo>
                  <a:lnTo>
                    <a:pt x="29402" y="62391"/>
                  </a:lnTo>
                  <a:lnTo>
                    <a:pt x="62391" y="29402"/>
                  </a:lnTo>
                  <a:lnTo>
                    <a:pt x="104224" y="7769"/>
                  </a:lnTo>
                  <a:lnTo>
                    <a:pt x="152392" y="0"/>
                  </a:lnTo>
                  <a:lnTo>
                    <a:pt x="5124607" y="0"/>
                  </a:lnTo>
                  <a:lnTo>
                    <a:pt x="5182925" y="11600"/>
                  </a:lnTo>
                  <a:lnTo>
                    <a:pt x="5232365" y="44634"/>
                  </a:lnTo>
                  <a:lnTo>
                    <a:pt x="5265399" y="94074"/>
                  </a:lnTo>
                  <a:lnTo>
                    <a:pt x="5276999" y="152392"/>
                  </a:lnTo>
                  <a:lnTo>
                    <a:pt x="5276999" y="2514607"/>
                  </a:lnTo>
                  <a:lnTo>
                    <a:pt x="5269230" y="2562775"/>
                  </a:lnTo>
                  <a:lnTo>
                    <a:pt x="5247597" y="2604608"/>
                  </a:lnTo>
                  <a:lnTo>
                    <a:pt x="5214608" y="2637597"/>
                  </a:lnTo>
                  <a:lnTo>
                    <a:pt x="5172775" y="2659230"/>
                  </a:lnTo>
                  <a:lnTo>
                    <a:pt x="5124607" y="2666999"/>
                  </a:lnTo>
                  <a:lnTo>
                    <a:pt x="152392" y="2666999"/>
                  </a:lnTo>
                  <a:lnTo>
                    <a:pt x="104224" y="2659230"/>
                  </a:lnTo>
                  <a:lnTo>
                    <a:pt x="62391" y="2637597"/>
                  </a:lnTo>
                  <a:lnTo>
                    <a:pt x="29402" y="2604608"/>
                  </a:lnTo>
                  <a:lnTo>
                    <a:pt x="7769" y="2562775"/>
                  </a:lnTo>
                  <a:lnTo>
                    <a:pt x="0" y="2514607"/>
                  </a:lnTo>
                  <a:lnTo>
                    <a:pt x="0" y="152392"/>
                  </a:lnTo>
                  <a:close/>
                </a:path>
              </a:pathLst>
            </a:custGeom>
            <a:ln w="14299">
              <a:solidFill>
                <a:srgbClr val="1E293B"/>
              </a:solidFill>
            </a:ln>
          </p:spPr>
          <p:txBody>
            <a:bodyPr wrap="square" lIns="0" tIns="0" rIns="0" bIns="0" rtlCol="0"/>
            <a:lstStyle/>
            <a:p>
              <a:endParaRPr/>
            </a:p>
          </p:txBody>
        </p:sp>
      </p:grpSp>
      <p:sp>
        <p:nvSpPr>
          <p:cNvPr id="13" name="object 13"/>
          <p:cNvSpPr txBox="1"/>
          <p:nvPr/>
        </p:nvSpPr>
        <p:spPr>
          <a:xfrm>
            <a:off x="6537442" y="4141743"/>
            <a:ext cx="4870375" cy="1639167"/>
          </a:xfrm>
          <a:prstGeom prst="rect">
            <a:avLst/>
          </a:prstGeom>
        </p:spPr>
        <p:txBody>
          <a:bodyPr vert="horz" wrap="square" lIns="0" tIns="12700" rIns="0" bIns="0" rtlCol="0">
            <a:spAutoFit/>
          </a:bodyPr>
          <a:lstStyle/>
          <a:p>
            <a:pPr marL="12700">
              <a:lnSpc>
                <a:spcPct val="100000"/>
              </a:lnSpc>
              <a:spcBef>
                <a:spcPts val="100"/>
              </a:spcBef>
            </a:pPr>
            <a:r>
              <a:rPr sz="1650" b="1" spc="-130" dirty="0">
                <a:solidFill>
                  <a:srgbClr val="F3F4F6"/>
                </a:solidFill>
                <a:latin typeface="Verdana"/>
                <a:cs typeface="Verdana"/>
              </a:rPr>
              <a:t>Casual</a:t>
            </a:r>
            <a:r>
              <a:rPr sz="1650" b="1" spc="-225" dirty="0">
                <a:solidFill>
                  <a:srgbClr val="F3F4F6"/>
                </a:solidFill>
                <a:latin typeface="Verdana"/>
                <a:cs typeface="Verdana"/>
              </a:rPr>
              <a:t> </a:t>
            </a:r>
            <a:r>
              <a:rPr sz="1650" b="1" spc="-130" dirty="0">
                <a:solidFill>
                  <a:srgbClr val="F3F4F6"/>
                </a:solidFill>
                <a:latin typeface="Verdana"/>
                <a:cs typeface="Verdana"/>
              </a:rPr>
              <a:t>Customer</a:t>
            </a:r>
            <a:r>
              <a:rPr sz="1650" b="1" spc="-220" dirty="0">
                <a:solidFill>
                  <a:srgbClr val="F3F4F6"/>
                </a:solidFill>
                <a:latin typeface="Verdana"/>
                <a:cs typeface="Verdana"/>
              </a:rPr>
              <a:t> </a:t>
            </a:r>
            <a:r>
              <a:rPr sz="1650" b="1" spc="-130" dirty="0">
                <a:solidFill>
                  <a:srgbClr val="F3F4F6"/>
                </a:solidFill>
                <a:latin typeface="Verdana"/>
                <a:cs typeface="Verdana"/>
              </a:rPr>
              <a:t>Growth</a:t>
            </a:r>
            <a:r>
              <a:rPr sz="1650" b="1" spc="-220" dirty="0">
                <a:solidFill>
                  <a:srgbClr val="F3F4F6"/>
                </a:solidFill>
                <a:latin typeface="Verdana"/>
                <a:cs typeface="Verdana"/>
              </a:rPr>
              <a:t> </a:t>
            </a:r>
            <a:r>
              <a:rPr sz="1650" b="1" spc="-10" dirty="0">
                <a:solidFill>
                  <a:srgbClr val="F3F4F6"/>
                </a:solidFill>
                <a:latin typeface="Verdana"/>
                <a:cs typeface="Verdana"/>
              </a:rPr>
              <a:t>Footprint</a:t>
            </a:r>
            <a:endParaRPr sz="1650" dirty="0">
              <a:latin typeface="Verdana"/>
              <a:cs typeface="Verdana"/>
            </a:endParaRPr>
          </a:p>
          <a:p>
            <a:pPr marL="469900" marR="5080" indent="-336550">
              <a:lnSpc>
                <a:spcPct val="102200"/>
              </a:lnSpc>
              <a:spcBef>
                <a:spcPts val="1095"/>
              </a:spcBef>
              <a:buClr>
                <a:srgbClr val="000000"/>
              </a:buClr>
              <a:buFont typeface="Microsoft Sans Serif"/>
              <a:buChar char="●"/>
              <a:tabLst>
                <a:tab pos="469900" algn="l"/>
              </a:tabLst>
            </a:pPr>
            <a:r>
              <a:rPr sz="1400" b="1" spc="-20" dirty="0">
                <a:solidFill>
                  <a:srgbClr val="F7FAFC"/>
                </a:solidFill>
                <a:latin typeface="Tahoma"/>
                <a:cs typeface="Tahoma"/>
              </a:rPr>
              <a:t>Midday</a:t>
            </a:r>
            <a:r>
              <a:rPr sz="1400" b="1" dirty="0">
                <a:solidFill>
                  <a:srgbClr val="F7FAFC"/>
                </a:solidFill>
                <a:latin typeface="Tahoma"/>
                <a:cs typeface="Tahoma"/>
              </a:rPr>
              <a:t> </a:t>
            </a:r>
            <a:r>
              <a:rPr sz="1400" b="1" spc="-35" dirty="0">
                <a:solidFill>
                  <a:srgbClr val="F7FAFC"/>
                </a:solidFill>
                <a:latin typeface="Tahoma"/>
                <a:cs typeface="Tahoma"/>
              </a:rPr>
              <a:t>Leisure</a:t>
            </a:r>
            <a:r>
              <a:rPr sz="1400" b="1" spc="5" dirty="0">
                <a:solidFill>
                  <a:srgbClr val="F7FAFC"/>
                </a:solidFill>
                <a:latin typeface="Tahoma"/>
                <a:cs typeface="Tahoma"/>
              </a:rPr>
              <a:t> </a:t>
            </a:r>
            <a:r>
              <a:rPr sz="1400" b="1" spc="-45" dirty="0">
                <a:solidFill>
                  <a:srgbClr val="F7FAFC"/>
                </a:solidFill>
                <a:latin typeface="Tahoma"/>
                <a:cs typeface="Tahoma"/>
              </a:rPr>
              <a:t>Trajectory:</a:t>
            </a:r>
            <a:r>
              <a:rPr sz="1400" b="1" spc="-35" dirty="0">
                <a:solidFill>
                  <a:srgbClr val="F7FAFC"/>
                </a:solidFill>
                <a:latin typeface="Tahoma"/>
                <a:cs typeface="Tahoma"/>
              </a:rPr>
              <a:t> </a:t>
            </a:r>
            <a:r>
              <a:rPr sz="1100" spc="65" dirty="0">
                <a:solidFill>
                  <a:srgbClr val="94A3B8"/>
                </a:solidFill>
                <a:latin typeface="Tahoma"/>
                <a:cs typeface="Tahoma"/>
              </a:rPr>
              <a:t>Casual</a:t>
            </a:r>
            <a:r>
              <a:rPr sz="1100" spc="30" dirty="0">
                <a:solidFill>
                  <a:srgbClr val="94A3B8"/>
                </a:solidFill>
                <a:latin typeface="Tahoma"/>
                <a:cs typeface="Tahoma"/>
              </a:rPr>
              <a:t> </a:t>
            </a:r>
            <a:r>
              <a:rPr sz="1100" spc="50" dirty="0">
                <a:solidFill>
                  <a:srgbClr val="94A3B8"/>
                </a:solidFill>
                <a:latin typeface="Tahoma"/>
                <a:cs typeface="Tahoma"/>
              </a:rPr>
              <a:t>riders</a:t>
            </a:r>
            <a:r>
              <a:rPr sz="1100" spc="25" dirty="0">
                <a:solidFill>
                  <a:srgbClr val="94A3B8"/>
                </a:solidFill>
                <a:latin typeface="Tahoma"/>
                <a:cs typeface="Tahoma"/>
              </a:rPr>
              <a:t> </a:t>
            </a:r>
            <a:r>
              <a:rPr sz="1100" dirty="0">
                <a:solidFill>
                  <a:srgbClr val="94A3B8"/>
                </a:solidFill>
                <a:latin typeface="Tahoma"/>
                <a:cs typeface="Tahoma"/>
              </a:rPr>
              <a:t>exhibit</a:t>
            </a:r>
            <a:r>
              <a:rPr sz="1100" spc="30" dirty="0">
                <a:solidFill>
                  <a:srgbClr val="94A3B8"/>
                </a:solidFill>
                <a:latin typeface="Tahoma"/>
                <a:cs typeface="Tahoma"/>
              </a:rPr>
              <a:t> </a:t>
            </a:r>
            <a:r>
              <a:rPr sz="1100" dirty="0">
                <a:solidFill>
                  <a:srgbClr val="94A3B8"/>
                </a:solidFill>
                <a:latin typeface="Tahoma"/>
                <a:cs typeface="Tahoma"/>
              </a:rPr>
              <a:t>a </a:t>
            </a:r>
            <a:r>
              <a:rPr sz="1100" spc="45" dirty="0">
                <a:solidFill>
                  <a:srgbClr val="94A3B8"/>
                </a:solidFill>
                <a:latin typeface="Tahoma"/>
                <a:cs typeface="Tahoma"/>
              </a:rPr>
              <a:t>smooth,</a:t>
            </a:r>
            <a:r>
              <a:rPr sz="1100" spc="35" dirty="0">
                <a:solidFill>
                  <a:srgbClr val="94A3B8"/>
                </a:solidFill>
                <a:latin typeface="Tahoma"/>
                <a:cs typeface="Tahoma"/>
              </a:rPr>
              <a:t> </a:t>
            </a:r>
            <a:r>
              <a:rPr sz="1100" dirty="0">
                <a:solidFill>
                  <a:srgbClr val="94A3B8"/>
                </a:solidFill>
                <a:latin typeface="Tahoma"/>
                <a:cs typeface="Tahoma"/>
              </a:rPr>
              <a:t>bell-</a:t>
            </a:r>
            <a:r>
              <a:rPr sz="1100" spc="70" dirty="0">
                <a:solidFill>
                  <a:srgbClr val="94A3B8"/>
                </a:solidFill>
                <a:latin typeface="Tahoma"/>
                <a:cs typeface="Tahoma"/>
              </a:rPr>
              <a:t>shaped</a:t>
            </a:r>
            <a:r>
              <a:rPr sz="1100" spc="35" dirty="0">
                <a:solidFill>
                  <a:srgbClr val="94A3B8"/>
                </a:solidFill>
                <a:latin typeface="Tahoma"/>
                <a:cs typeface="Tahoma"/>
              </a:rPr>
              <a:t> </a:t>
            </a:r>
            <a:r>
              <a:rPr sz="1100" spc="50" dirty="0">
                <a:solidFill>
                  <a:srgbClr val="94A3B8"/>
                </a:solidFill>
                <a:latin typeface="Tahoma"/>
                <a:cs typeface="Tahoma"/>
              </a:rPr>
              <a:t>midday</a:t>
            </a:r>
            <a:r>
              <a:rPr sz="1100" spc="35" dirty="0">
                <a:solidFill>
                  <a:srgbClr val="94A3B8"/>
                </a:solidFill>
                <a:latin typeface="Tahoma"/>
                <a:cs typeface="Tahoma"/>
              </a:rPr>
              <a:t> </a:t>
            </a:r>
            <a:r>
              <a:rPr sz="1100" spc="55" dirty="0">
                <a:solidFill>
                  <a:srgbClr val="94A3B8"/>
                </a:solidFill>
                <a:latin typeface="Tahoma"/>
                <a:cs typeface="Tahoma"/>
              </a:rPr>
              <a:t>active</a:t>
            </a:r>
            <a:r>
              <a:rPr sz="1100" spc="35" dirty="0">
                <a:solidFill>
                  <a:srgbClr val="94A3B8"/>
                </a:solidFill>
                <a:latin typeface="Tahoma"/>
                <a:cs typeface="Tahoma"/>
              </a:rPr>
              <a:t> </a:t>
            </a:r>
            <a:r>
              <a:rPr sz="1100" spc="65" dirty="0">
                <a:solidFill>
                  <a:srgbClr val="94A3B8"/>
                </a:solidFill>
                <a:latin typeface="Tahoma"/>
                <a:cs typeface="Tahoma"/>
              </a:rPr>
              <a:t>curve</a:t>
            </a:r>
            <a:r>
              <a:rPr sz="1100" spc="40" dirty="0">
                <a:solidFill>
                  <a:srgbClr val="94A3B8"/>
                </a:solidFill>
                <a:latin typeface="Tahoma"/>
                <a:cs typeface="Tahoma"/>
              </a:rPr>
              <a:t> </a:t>
            </a:r>
            <a:r>
              <a:rPr sz="1100" dirty="0">
                <a:solidFill>
                  <a:srgbClr val="94A3B8"/>
                </a:solidFill>
                <a:latin typeface="Tahoma"/>
                <a:cs typeface="Tahoma"/>
              </a:rPr>
              <a:t>that</a:t>
            </a:r>
            <a:r>
              <a:rPr sz="1100" spc="35" dirty="0">
                <a:solidFill>
                  <a:srgbClr val="94A3B8"/>
                </a:solidFill>
                <a:latin typeface="Tahoma"/>
                <a:cs typeface="Tahoma"/>
              </a:rPr>
              <a:t> </a:t>
            </a:r>
            <a:r>
              <a:rPr sz="1100" spc="60" dirty="0">
                <a:solidFill>
                  <a:srgbClr val="94A3B8"/>
                </a:solidFill>
                <a:latin typeface="Tahoma"/>
                <a:cs typeface="Tahoma"/>
              </a:rPr>
              <a:t>drops</a:t>
            </a:r>
            <a:r>
              <a:rPr sz="1100" spc="35" dirty="0">
                <a:solidFill>
                  <a:srgbClr val="94A3B8"/>
                </a:solidFill>
                <a:latin typeface="Tahoma"/>
                <a:cs typeface="Tahoma"/>
              </a:rPr>
              <a:t> </a:t>
            </a:r>
            <a:r>
              <a:rPr sz="1100" dirty="0">
                <a:solidFill>
                  <a:srgbClr val="94A3B8"/>
                </a:solidFill>
                <a:latin typeface="Tahoma"/>
                <a:cs typeface="Tahoma"/>
              </a:rPr>
              <a:t>the</a:t>
            </a:r>
            <a:r>
              <a:rPr sz="1100" spc="35" dirty="0">
                <a:solidFill>
                  <a:srgbClr val="94A3B8"/>
                </a:solidFill>
                <a:latin typeface="Tahoma"/>
                <a:cs typeface="Tahoma"/>
              </a:rPr>
              <a:t> </a:t>
            </a:r>
            <a:r>
              <a:rPr sz="1100" spc="-20" dirty="0">
                <a:solidFill>
                  <a:srgbClr val="94A3B8"/>
                </a:solidFill>
                <a:latin typeface="Tahoma"/>
                <a:cs typeface="Tahoma"/>
              </a:rPr>
              <a:t>dual </a:t>
            </a:r>
            <a:r>
              <a:rPr sz="1100" spc="50" dirty="0">
                <a:solidFill>
                  <a:srgbClr val="94A3B8"/>
                </a:solidFill>
                <a:latin typeface="Tahoma"/>
                <a:cs typeface="Tahoma"/>
              </a:rPr>
              <a:t>rush-</a:t>
            </a:r>
            <a:r>
              <a:rPr sz="1100" spc="55" dirty="0">
                <a:solidFill>
                  <a:srgbClr val="94A3B8"/>
                </a:solidFill>
                <a:latin typeface="Tahoma"/>
                <a:cs typeface="Tahoma"/>
              </a:rPr>
              <a:t>hour</a:t>
            </a:r>
            <a:r>
              <a:rPr sz="1100" spc="-20" dirty="0">
                <a:solidFill>
                  <a:srgbClr val="94A3B8"/>
                </a:solidFill>
                <a:latin typeface="Tahoma"/>
                <a:cs typeface="Tahoma"/>
              </a:rPr>
              <a:t> </a:t>
            </a:r>
            <a:r>
              <a:rPr sz="1100" spc="55" dirty="0">
                <a:solidFill>
                  <a:srgbClr val="94A3B8"/>
                </a:solidFill>
                <a:latin typeface="Tahoma"/>
                <a:cs typeface="Tahoma"/>
              </a:rPr>
              <a:t>commute</a:t>
            </a:r>
            <a:r>
              <a:rPr sz="1100" spc="-20" dirty="0">
                <a:solidFill>
                  <a:srgbClr val="94A3B8"/>
                </a:solidFill>
                <a:latin typeface="Tahoma"/>
                <a:cs typeface="Tahoma"/>
              </a:rPr>
              <a:t> </a:t>
            </a:r>
            <a:r>
              <a:rPr sz="1100" spc="40" dirty="0">
                <a:solidFill>
                  <a:srgbClr val="94A3B8"/>
                </a:solidFill>
                <a:latin typeface="Tahoma"/>
                <a:cs typeface="Tahoma"/>
              </a:rPr>
              <a:t>spikes.</a:t>
            </a:r>
            <a:endParaRPr sz="1100" dirty="0">
              <a:latin typeface="Tahoma"/>
              <a:cs typeface="Tahoma"/>
            </a:endParaRPr>
          </a:p>
          <a:p>
            <a:pPr marL="469900" marR="20955" indent="-336550">
              <a:lnSpc>
                <a:spcPct val="102200"/>
              </a:lnSpc>
              <a:spcBef>
                <a:spcPts val="860"/>
              </a:spcBef>
              <a:buClr>
                <a:srgbClr val="000000"/>
              </a:buClr>
              <a:buFont typeface="Microsoft Sans Serif"/>
              <a:buChar char="●"/>
              <a:tabLst>
                <a:tab pos="469900" algn="l"/>
              </a:tabLst>
            </a:pPr>
            <a:r>
              <a:rPr sz="1400" b="1" spc="-90" dirty="0">
                <a:solidFill>
                  <a:srgbClr val="F7FAFC"/>
                </a:solidFill>
                <a:latin typeface="Tahoma"/>
                <a:cs typeface="Tahoma"/>
              </a:rPr>
              <a:t>60%</a:t>
            </a:r>
            <a:r>
              <a:rPr sz="1400" b="1" spc="40" dirty="0">
                <a:solidFill>
                  <a:srgbClr val="F7FAFC"/>
                </a:solidFill>
                <a:latin typeface="Tahoma"/>
                <a:cs typeface="Tahoma"/>
              </a:rPr>
              <a:t> </a:t>
            </a:r>
            <a:r>
              <a:rPr sz="1400" b="1" spc="-60" dirty="0">
                <a:solidFill>
                  <a:srgbClr val="F7FAFC"/>
                </a:solidFill>
                <a:latin typeface="Tahoma"/>
                <a:cs typeface="Tahoma"/>
              </a:rPr>
              <a:t>Duration</a:t>
            </a:r>
            <a:r>
              <a:rPr sz="1400" b="1" spc="45" dirty="0">
                <a:solidFill>
                  <a:srgbClr val="F7FAFC"/>
                </a:solidFill>
                <a:latin typeface="Tahoma"/>
                <a:cs typeface="Tahoma"/>
              </a:rPr>
              <a:t> </a:t>
            </a:r>
            <a:r>
              <a:rPr sz="1400" b="1" spc="-40" dirty="0">
                <a:solidFill>
                  <a:srgbClr val="F7FAFC"/>
                </a:solidFill>
                <a:latin typeface="Tahoma"/>
                <a:cs typeface="Tahoma"/>
              </a:rPr>
              <a:t>Expansion:</a:t>
            </a:r>
            <a:r>
              <a:rPr sz="1400" b="1" spc="10" dirty="0">
                <a:solidFill>
                  <a:srgbClr val="F7FAFC"/>
                </a:solidFill>
                <a:latin typeface="Tahoma"/>
                <a:cs typeface="Tahoma"/>
              </a:rPr>
              <a:t> </a:t>
            </a:r>
            <a:r>
              <a:rPr sz="1100" dirty="0">
                <a:solidFill>
                  <a:srgbClr val="94A3B8"/>
                </a:solidFill>
                <a:latin typeface="Tahoma"/>
                <a:cs typeface="Tahoma"/>
              </a:rPr>
              <a:t>Total</a:t>
            </a:r>
            <a:r>
              <a:rPr sz="1100" spc="65" dirty="0">
                <a:solidFill>
                  <a:srgbClr val="94A3B8"/>
                </a:solidFill>
                <a:latin typeface="Tahoma"/>
                <a:cs typeface="Tahoma"/>
              </a:rPr>
              <a:t> </a:t>
            </a:r>
            <a:r>
              <a:rPr sz="1100" dirty="0">
                <a:solidFill>
                  <a:srgbClr val="94A3B8"/>
                </a:solidFill>
                <a:latin typeface="Tahoma"/>
                <a:cs typeface="Tahoma"/>
              </a:rPr>
              <a:t>trip</a:t>
            </a:r>
            <a:r>
              <a:rPr sz="1100" spc="65" dirty="0">
                <a:solidFill>
                  <a:srgbClr val="94A3B8"/>
                </a:solidFill>
                <a:latin typeface="Tahoma"/>
                <a:cs typeface="Tahoma"/>
              </a:rPr>
              <a:t> </a:t>
            </a:r>
            <a:r>
              <a:rPr sz="1100" dirty="0">
                <a:solidFill>
                  <a:srgbClr val="94A3B8"/>
                </a:solidFill>
                <a:latin typeface="Tahoma"/>
                <a:cs typeface="Tahoma"/>
              </a:rPr>
              <a:t>length</a:t>
            </a:r>
            <a:r>
              <a:rPr sz="1100" spc="60" dirty="0">
                <a:solidFill>
                  <a:srgbClr val="94A3B8"/>
                </a:solidFill>
                <a:latin typeface="Tahoma"/>
                <a:cs typeface="Tahoma"/>
              </a:rPr>
              <a:t> </a:t>
            </a:r>
            <a:r>
              <a:rPr sz="1100" spc="50" dirty="0">
                <a:solidFill>
                  <a:srgbClr val="94A3B8"/>
                </a:solidFill>
                <a:latin typeface="Tahoma"/>
                <a:cs typeface="Tahoma"/>
              </a:rPr>
              <a:t>surges significantly</a:t>
            </a:r>
            <a:r>
              <a:rPr sz="1100" spc="20" dirty="0">
                <a:solidFill>
                  <a:srgbClr val="94A3B8"/>
                </a:solidFill>
                <a:latin typeface="Tahoma"/>
                <a:cs typeface="Tahoma"/>
              </a:rPr>
              <a:t> </a:t>
            </a:r>
            <a:r>
              <a:rPr sz="1100" spc="55" dirty="0">
                <a:solidFill>
                  <a:srgbClr val="94A3B8"/>
                </a:solidFill>
                <a:latin typeface="Tahoma"/>
                <a:cs typeface="Tahoma"/>
              </a:rPr>
              <a:t>on</a:t>
            </a:r>
            <a:r>
              <a:rPr sz="1100" spc="25" dirty="0">
                <a:solidFill>
                  <a:srgbClr val="94A3B8"/>
                </a:solidFill>
                <a:latin typeface="Tahoma"/>
                <a:cs typeface="Tahoma"/>
              </a:rPr>
              <a:t> </a:t>
            </a:r>
            <a:r>
              <a:rPr sz="1100" spc="55" dirty="0">
                <a:solidFill>
                  <a:srgbClr val="94A3B8"/>
                </a:solidFill>
                <a:latin typeface="Tahoma"/>
                <a:cs typeface="Tahoma"/>
              </a:rPr>
              <a:t>weekends,</a:t>
            </a:r>
            <a:r>
              <a:rPr sz="1100" spc="20" dirty="0">
                <a:solidFill>
                  <a:srgbClr val="94A3B8"/>
                </a:solidFill>
                <a:latin typeface="Tahoma"/>
                <a:cs typeface="Tahoma"/>
              </a:rPr>
              <a:t> indicating</a:t>
            </a:r>
            <a:r>
              <a:rPr sz="1100" spc="25" dirty="0">
                <a:solidFill>
                  <a:srgbClr val="94A3B8"/>
                </a:solidFill>
                <a:latin typeface="Tahoma"/>
                <a:cs typeface="Tahoma"/>
              </a:rPr>
              <a:t> </a:t>
            </a:r>
            <a:r>
              <a:rPr sz="1100" spc="70" dirty="0">
                <a:solidFill>
                  <a:srgbClr val="94A3B8"/>
                </a:solidFill>
                <a:latin typeface="Tahoma"/>
                <a:cs typeface="Tahoma"/>
              </a:rPr>
              <a:t>deep</a:t>
            </a:r>
            <a:r>
              <a:rPr sz="1100" spc="25" dirty="0">
                <a:solidFill>
                  <a:srgbClr val="94A3B8"/>
                </a:solidFill>
                <a:latin typeface="Tahoma"/>
                <a:cs typeface="Tahoma"/>
              </a:rPr>
              <a:t> </a:t>
            </a:r>
            <a:r>
              <a:rPr sz="1100" spc="55" dirty="0">
                <a:solidFill>
                  <a:srgbClr val="94A3B8"/>
                </a:solidFill>
                <a:latin typeface="Tahoma"/>
                <a:cs typeface="Tahoma"/>
              </a:rPr>
              <a:t>engagement</a:t>
            </a:r>
            <a:r>
              <a:rPr sz="1100" spc="20" dirty="0">
                <a:solidFill>
                  <a:srgbClr val="94A3B8"/>
                </a:solidFill>
                <a:latin typeface="Tahoma"/>
                <a:cs typeface="Tahoma"/>
              </a:rPr>
              <a:t> </a:t>
            </a:r>
            <a:r>
              <a:rPr sz="1100" spc="-20" dirty="0">
                <a:solidFill>
                  <a:srgbClr val="94A3B8"/>
                </a:solidFill>
                <a:latin typeface="Tahoma"/>
                <a:cs typeface="Tahoma"/>
              </a:rPr>
              <a:t>with </a:t>
            </a:r>
            <a:r>
              <a:rPr sz="1100" spc="45" dirty="0">
                <a:solidFill>
                  <a:srgbClr val="94A3B8"/>
                </a:solidFill>
                <a:latin typeface="Tahoma"/>
                <a:cs typeface="Tahoma"/>
              </a:rPr>
              <a:t>leisure</a:t>
            </a:r>
            <a:r>
              <a:rPr sz="1100" spc="65" dirty="0">
                <a:solidFill>
                  <a:srgbClr val="94A3B8"/>
                </a:solidFill>
                <a:latin typeface="Tahoma"/>
                <a:cs typeface="Tahoma"/>
              </a:rPr>
              <a:t> </a:t>
            </a:r>
            <a:r>
              <a:rPr sz="1100" dirty="0">
                <a:solidFill>
                  <a:srgbClr val="94A3B8"/>
                </a:solidFill>
                <a:latin typeface="Tahoma"/>
                <a:cs typeface="Tahoma"/>
              </a:rPr>
              <a:t>travel,</a:t>
            </a:r>
            <a:r>
              <a:rPr sz="1100" spc="70" dirty="0">
                <a:solidFill>
                  <a:srgbClr val="94A3B8"/>
                </a:solidFill>
                <a:latin typeface="Tahoma"/>
                <a:cs typeface="Tahoma"/>
              </a:rPr>
              <a:t> </a:t>
            </a:r>
            <a:r>
              <a:rPr sz="1100" dirty="0">
                <a:solidFill>
                  <a:srgbClr val="94A3B8"/>
                </a:solidFill>
                <a:latin typeface="Tahoma"/>
                <a:cs typeface="Tahoma"/>
              </a:rPr>
              <a:t>tourism,</a:t>
            </a:r>
            <a:r>
              <a:rPr sz="1100" spc="65" dirty="0">
                <a:solidFill>
                  <a:srgbClr val="94A3B8"/>
                </a:solidFill>
                <a:latin typeface="Tahoma"/>
                <a:cs typeface="Tahoma"/>
              </a:rPr>
              <a:t> </a:t>
            </a:r>
            <a:r>
              <a:rPr sz="1100" spc="55" dirty="0">
                <a:solidFill>
                  <a:srgbClr val="94A3B8"/>
                </a:solidFill>
                <a:latin typeface="Tahoma"/>
                <a:cs typeface="Tahoma"/>
              </a:rPr>
              <a:t>and</a:t>
            </a:r>
            <a:r>
              <a:rPr sz="1100" spc="70" dirty="0">
                <a:solidFill>
                  <a:srgbClr val="94A3B8"/>
                </a:solidFill>
                <a:latin typeface="Tahoma"/>
                <a:cs typeface="Tahoma"/>
              </a:rPr>
              <a:t> </a:t>
            </a:r>
            <a:r>
              <a:rPr sz="1100" spc="65" dirty="0">
                <a:solidFill>
                  <a:srgbClr val="94A3B8"/>
                </a:solidFill>
                <a:latin typeface="Tahoma"/>
                <a:cs typeface="Tahoma"/>
              </a:rPr>
              <a:t>open-</a:t>
            </a:r>
            <a:r>
              <a:rPr sz="1100" spc="70" dirty="0">
                <a:solidFill>
                  <a:srgbClr val="94A3B8"/>
                </a:solidFill>
                <a:latin typeface="Tahoma"/>
                <a:cs typeface="Tahoma"/>
              </a:rPr>
              <a:t>ended</a:t>
            </a:r>
            <a:r>
              <a:rPr sz="1100" spc="65" dirty="0">
                <a:solidFill>
                  <a:srgbClr val="94A3B8"/>
                </a:solidFill>
                <a:latin typeface="Tahoma"/>
                <a:cs typeface="Tahoma"/>
              </a:rPr>
              <a:t> </a:t>
            </a:r>
            <a:r>
              <a:rPr sz="1100" spc="-10" dirty="0">
                <a:solidFill>
                  <a:srgbClr val="94A3B8"/>
                </a:solidFill>
                <a:latin typeface="Tahoma"/>
                <a:cs typeface="Tahoma"/>
              </a:rPr>
              <a:t>exploration.</a:t>
            </a:r>
            <a:endParaRPr sz="1100" dirty="0">
              <a:latin typeface="Tahoma"/>
              <a:cs typeface="Tahoma"/>
            </a:endParaRPr>
          </a:p>
        </p:txBody>
      </p:sp>
    </p:spTree>
    <p:extLst>
      <p:ext uri="{BB962C8B-B14F-4D97-AF65-F5344CB8AC3E}">
        <p14:creationId xmlns:p14="http://schemas.microsoft.com/office/powerpoint/2010/main" val="1312044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1234997" y="-11973"/>
            <a:ext cx="9722005" cy="923426"/>
          </a:xfrm>
          <a:prstGeom prst="rect">
            <a:avLst/>
          </a:prstGeom>
        </p:spPr>
        <p:txBody>
          <a:bodyPr vert="horz" wrap="square" lIns="0" tIns="304895" rIns="0" bIns="0" rtlCol="0">
            <a:spAutoFit/>
          </a:bodyPr>
          <a:lstStyle/>
          <a:p>
            <a:pPr marL="12700">
              <a:lnSpc>
                <a:spcPct val="100000"/>
              </a:lnSpc>
              <a:spcBef>
                <a:spcPts val="100"/>
              </a:spcBef>
            </a:pPr>
            <a:r>
              <a:rPr sz="4000" spc="-220" dirty="0">
                <a:solidFill>
                  <a:schemeClr val="tx1"/>
                </a:solidFill>
              </a:rPr>
              <a:t>Demographic</a:t>
            </a:r>
            <a:r>
              <a:rPr sz="4000" spc="-415" dirty="0">
                <a:solidFill>
                  <a:schemeClr val="tx1"/>
                </a:solidFill>
              </a:rPr>
              <a:t> </a:t>
            </a:r>
            <a:r>
              <a:rPr sz="4000" spc="-220" dirty="0">
                <a:solidFill>
                  <a:schemeClr val="tx1"/>
                </a:solidFill>
              </a:rPr>
              <a:t>Constraints</a:t>
            </a:r>
            <a:r>
              <a:rPr sz="4000" spc="-409" dirty="0">
                <a:solidFill>
                  <a:schemeClr val="tx1"/>
                </a:solidFill>
              </a:rPr>
              <a:t> </a:t>
            </a:r>
            <a:r>
              <a:rPr sz="4000" spc="-229" dirty="0">
                <a:solidFill>
                  <a:schemeClr val="tx1"/>
                </a:solidFill>
              </a:rPr>
              <a:t>&amp;</a:t>
            </a:r>
            <a:r>
              <a:rPr sz="4000" spc="-409" dirty="0">
                <a:solidFill>
                  <a:schemeClr val="tx1"/>
                </a:solidFill>
              </a:rPr>
              <a:t> </a:t>
            </a:r>
            <a:r>
              <a:rPr sz="4000" spc="-245" dirty="0">
                <a:solidFill>
                  <a:schemeClr val="tx1"/>
                </a:solidFill>
              </a:rPr>
              <a:t>Feature</a:t>
            </a:r>
            <a:r>
              <a:rPr spc="-415" dirty="0">
                <a:solidFill>
                  <a:schemeClr val="tx1"/>
                </a:solidFill>
              </a:rPr>
              <a:t> </a:t>
            </a:r>
            <a:r>
              <a:rPr sz="4000" spc="-160" dirty="0">
                <a:solidFill>
                  <a:schemeClr val="tx1"/>
                </a:solidFill>
              </a:rPr>
              <a:t>Associations</a:t>
            </a:r>
          </a:p>
        </p:txBody>
      </p:sp>
      <p:grpSp>
        <p:nvGrpSpPr>
          <p:cNvPr id="4" name="object 4"/>
          <p:cNvGrpSpPr/>
          <p:nvPr/>
        </p:nvGrpSpPr>
        <p:grpSpPr>
          <a:xfrm>
            <a:off x="580707" y="944526"/>
            <a:ext cx="11030585" cy="5790569"/>
            <a:chOff x="581025" y="933375"/>
            <a:chExt cx="11030585" cy="5557924"/>
          </a:xfrm>
        </p:grpSpPr>
        <p:pic>
          <p:nvPicPr>
            <p:cNvPr id="5" name="object 5"/>
            <p:cNvPicPr/>
            <p:nvPr/>
          </p:nvPicPr>
          <p:blipFill>
            <a:blip r:embed="rId2" cstate="print"/>
            <a:stretch>
              <a:fillRect/>
            </a:stretch>
          </p:blipFill>
          <p:spPr>
            <a:xfrm>
              <a:off x="581025" y="933375"/>
              <a:ext cx="5276999" cy="5557924"/>
            </a:xfrm>
            <a:prstGeom prst="rect">
              <a:avLst/>
            </a:prstGeom>
          </p:spPr>
        </p:pic>
        <p:sp>
          <p:nvSpPr>
            <p:cNvPr id="6" name="object 6"/>
            <p:cNvSpPr/>
            <p:nvPr/>
          </p:nvSpPr>
          <p:spPr>
            <a:xfrm>
              <a:off x="6334125" y="1247775"/>
              <a:ext cx="5277485" cy="3809527"/>
            </a:xfrm>
            <a:custGeom>
              <a:avLst/>
              <a:gdLst/>
              <a:ahLst/>
              <a:cxnLst/>
              <a:rect l="l" t="t" r="r" b="b"/>
              <a:pathLst>
                <a:path w="5277484" h="4620260">
                  <a:moveTo>
                    <a:pt x="5124642" y="4619699"/>
                  </a:moveTo>
                  <a:lnTo>
                    <a:pt x="152357" y="4619699"/>
                  </a:lnTo>
                  <a:lnTo>
                    <a:pt x="104200" y="4611932"/>
                  </a:lnTo>
                  <a:lnTo>
                    <a:pt x="62377" y="4590303"/>
                  </a:lnTo>
                  <a:lnTo>
                    <a:pt x="29396" y="4557322"/>
                  </a:lnTo>
                  <a:lnTo>
                    <a:pt x="7767" y="4515499"/>
                  </a:lnTo>
                  <a:lnTo>
                    <a:pt x="0" y="4467342"/>
                  </a:lnTo>
                  <a:lnTo>
                    <a:pt x="0" y="152357"/>
                  </a:lnTo>
                  <a:lnTo>
                    <a:pt x="7767" y="104200"/>
                  </a:lnTo>
                  <a:lnTo>
                    <a:pt x="29396" y="62377"/>
                  </a:lnTo>
                  <a:lnTo>
                    <a:pt x="62377" y="29396"/>
                  </a:lnTo>
                  <a:lnTo>
                    <a:pt x="104200" y="7767"/>
                  </a:lnTo>
                  <a:lnTo>
                    <a:pt x="152357" y="0"/>
                  </a:lnTo>
                  <a:lnTo>
                    <a:pt x="5124642" y="0"/>
                  </a:lnTo>
                  <a:lnTo>
                    <a:pt x="5182947" y="11597"/>
                  </a:lnTo>
                  <a:lnTo>
                    <a:pt x="5232375" y="44624"/>
                  </a:lnTo>
                  <a:lnTo>
                    <a:pt x="5265402" y="94052"/>
                  </a:lnTo>
                  <a:lnTo>
                    <a:pt x="5276999" y="152357"/>
                  </a:lnTo>
                  <a:lnTo>
                    <a:pt x="5276999" y="4467342"/>
                  </a:lnTo>
                  <a:lnTo>
                    <a:pt x="5269232" y="4515499"/>
                  </a:lnTo>
                  <a:lnTo>
                    <a:pt x="5247603" y="4557322"/>
                  </a:lnTo>
                  <a:lnTo>
                    <a:pt x="5214622" y="4590303"/>
                  </a:lnTo>
                  <a:lnTo>
                    <a:pt x="5172799" y="4611932"/>
                  </a:lnTo>
                  <a:lnTo>
                    <a:pt x="5124642" y="4619699"/>
                  </a:lnTo>
                  <a:close/>
                </a:path>
              </a:pathLst>
            </a:custGeom>
            <a:solidFill>
              <a:srgbClr val="0F172A"/>
            </a:solidFill>
          </p:spPr>
          <p:txBody>
            <a:bodyPr wrap="square" lIns="0" tIns="0" rIns="0" bIns="0" rtlCol="0"/>
            <a:lstStyle/>
            <a:p>
              <a:endParaRPr/>
            </a:p>
          </p:txBody>
        </p:sp>
        <p:sp>
          <p:nvSpPr>
            <p:cNvPr id="7" name="object 7"/>
            <p:cNvSpPr/>
            <p:nvPr/>
          </p:nvSpPr>
          <p:spPr>
            <a:xfrm>
              <a:off x="6334125" y="1247775"/>
              <a:ext cx="5277485" cy="3809527"/>
            </a:xfrm>
            <a:custGeom>
              <a:avLst/>
              <a:gdLst/>
              <a:ahLst/>
              <a:cxnLst/>
              <a:rect l="l" t="t" r="r" b="b"/>
              <a:pathLst>
                <a:path w="5277484" h="4620260">
                  <a:moveTo>
                    <a:pt x="0" y="152357"/>
                  </a:moveTo>
                  <a:lnTo>
                    <a:pt x="7767" y="104200"/>
                  </a:lnTo>
                  <a:lnTo>
                    <a:pt x="29396" y="62377"/>
                  </a:lnTo>
                  <a:lnTo>
                    <a:pt x="62377" y="29396"/>
                  </a:lnTo>
                  <a:lnTo>
                    <a:pt x="104200" y="7767"/>
                  </a:lnTo>
                  <a:lnTo>
                    <a:pt x="152357" y="0"/>
                  </a:lnTo>
                  <a:lnTo>
                    <a:pt x="5124642" y="0"/>
                  </a:lnTo>
                  <a:lnTo>
                    <a:pt x="5182947" y="11597"/>
                  </a:lnTo>
                  <a:lnTo>
                    <a:pt x="5232375" y="44624"/>
                  </a:lnTo>
                  <a:lnTo>
                    <a:pt x="5265402" y="94052"/>
                  </a:lnTo>
                  <a:lnTo>
                    <a:pt x="5276999" y="152357"/>
                  </a:lnTo>
                  <a:lnTo>
                    <a:pt x="5276999" y="4467342"/>
                  </a:lnTo>
                  <a:lnTo>
                    <a:pt x="5269232" y="4515499"/>
                  </a:lnTo>
                  <a:lnTo>
                    <a:pt x="5247603" y="4557322"/>
                  </a:lnTo>
                  <a:lnTo>
                    <a:pt x="5214622" y="4590303"/>
                  </a:lnTo>
                  <a:lnTo>
                    <a:pt x="5172799" y="4611932"/>
                  </a:lnTo>
                  <a:lnTo>
                    <a:pt x="5124642" y="4619699"/>
                  </a:lnTo>
                  <a:lnTo>
                    <a:pt x="152357" y="4619699"/>
                  </a:lnTo>
                  <a:lnTo>
                    <a:pt x="104200" y="4611932"/>
                  </a:lnTo>
                  <a:lnTo>
                    <a:pt x="62377" y="4590303"/>
                  </a:lnTo>
                  <a:lnTo>
                    <a:pt x="29396" y="4557322"/>
                  </a:lnTo>
                  <a:lnTo>
                    <a:pt x="7767" y="4515499"/>
                  </a:lnTo>
                  <a:lnTo>
                    <a:pt x="0" y="4467342"/>
                  </a:lnTo>
                  <a:lnTo>
                    <a:pt x="0" y="152357"/>
                  </a:lnTo>
                  <a:close/>
                </a:path>
              </a:pathLst>
            </a:custGeom>
            <a:ln w="14299">
              <a:solidFill>
                <a:srgbClr val="1E293B"/>
              </a:solidFill>
            </a:ln>
          </p:spPr>
          <p:txBody>
            <a:bodyPr wrap="square" lIns="0" tIns="0" rIns="0" bIns="0" rtlCol="0"/>
            <a:lstStyle/>
            <a:p>
              <a:endParaRPr/>
            </a:p>
          </p:txBody>
        </p:sp>
      </p:grpSp>
      <p:sp>
        <p:nvSpPr>
          <p:cNvPr id="8" name="object 8"/>
          <p:cNvSpPr txBox="1"/>
          <p:nvPr/>
        </p:nvSpPr>
        <p:spPr>
          <a:xfrm>
            <a:off x="6882253" y="1744568"/>
            <a:ext cx="4180592" cy="3001719"/>
          </a:xfrm>
          <a:prstGeom prst="rect">
            <a:avLst/>
          </a:prstGeom>
        </p:spPr>
        <p:txBody>
          <a:bodyPr vert="horz" wrap="square" lIns="0" tIns="12700" rIns="0" bIns="0" rtlCol="0">
            <a:spAutoFit/>
          </a:bodyPr>
          <a:lstStyle/>
          <a:p>
            <a:pPr marL="12700">
              <a:lnSpc>
                <a:spcPct val="100000"/>
              </a:lnSpc>
              <a:spcBef>
                <a:spcPts val="100"/>
              </a:spcBef>
            </a:pPr>
            <a:r>
              <a:rPr sz="1650" b="1" spc="-130" dirty="0">
                <a:solidFill>
                  <a:srgbClr val="F3F4F6"/>
                </a:solidFill>
                <a:latin typeface="Verdana"/>
                <a:cs typeface="Verdana"/>
              </a:rPr>
              <a:t>Demographic</a:t>
            </a:r>
            <a:r>
              <a:rPr sz="1650" b="1" spc="-225" dirty="0">
                <a:solidFill>
                  <a:srgbClr val="F3F4F6"/>
                </a:solidFill>
                <a:latin typeface="Verdana"/>
                <a:cs typeface="Verdana"/>
              </a:rPr>
              <a:t> </a:t>
            </a:r>
            <a:r>
              <a:rPr sz="1650" b="1" spc="-130" dirty="0">
                <a:solidFill>
                  <a:srgbClr val="F3F4F6"/>
                </a:solidFill>
                <a:latin typeface="Verdana"/>
                <a:cs typeface="Verdana"/>
              </a:rPr>
              <a:t>Constraints</a:t>
            </a:r>
            <a:r>
              <a:rPr sz="1650" b="1" spc="-225" dirty="0">
                <a:solidFill>
                  <a:srgbClr val="F3F4F6"/>
                </a:solidFill>
                <a:latin typeface="Verdana"/>
                <a:cs typeface="Verdana"/>
              </a:rPr>
              <a:t> </a:t>
            </a:r>
            <a:r>
              <a:rPr sz="1650" b="1" spc="-135" dirty="0">
                <a:solidFill>
                  <a:srgbClr val="F3F4F6"/>
                </a:solidFill>
                <a:latin typeface="Verdana"/>
                <a:cs typeface="Verdana"/>
              </a:rPr>
              <a:t>&amp;</a:t>
            </a:r>
            <a:r>
              <a:rPr sz="1650" b="1" spc="-225" dirty="0">
                <a:solidFill>
                  <a:srgbClr val="F3F4F6"/>
                </a:solidFill>
                <a:latin typeface="Verdana"/>
                <a:cs typeface="Verdana"/>
              </a:rPr>
              <a:t> </a:t>
            </a:r>
            <a:r>
              <a:rPr sz="1650" b="1" spc="-25" dirty="0">
                <a:solidFill>
                  <a:srgbClr val="F3F4F6"/>
                </a:solidFill>
                <a:latin typeface="Verdana"/>
                <a:cs typeface="Verdana"/>
              </a:rPr>
              <a:t>Associations</a:t>
            </a:r>
            <a:endParaRPr sz="1650" dirty="0">
              <a:latin typeface="Verdana"/>
              <a:cs typeface="Verdana"/>
            </a:endParaRPr>
          </a:p>
          <a:p>
            <a:pPr marL="469900" marR="173355" indent="-314960">
              <a:lnSpc>
                <a:spcPct val="102299"/>
              </a:lnSpc>
              <a:spcBef>
                <a:spcPts val="1515"/>
              </a:spcBef>
              <a:buClr>
                <a:srgbClr val="94A3B8"/>
              </a:buClr>
              <a:buFont typeface="Microsoft Sans Serif"/>
              <a:buChar char="●"/>
              <a:tabLst>
                <a:tab pos="469900" algn="l"/>
              </a:tabLst>
            </a:pPr>
            <a:r>
              <a:rPr sz="1100" b="1" dirty="0">
                <a:solidFill>
                  <a:srgbClr val="F7FAFC"/>
                </a:solidFill>
                <a:latin typeface="Tahoma"/>
                <a:cs typeface="Tahoma"/>
              </a:rPr>
              <a:t>The</a:t>
            </a:r>
            <a:r>
              <a:rPr sz="1100" b="1" spc="110" dirty="0">
                <a:solidFill>
                  <a:srgbClr val="F7FAFC"/>
                </a:solidFill>
                <a:latin typeface="Tahoma"/>
                <a:cs typeface="Tahoma"/>
              </a:rPr>
              <a:t> </a:t>
            </a:r>
            <a:r>
              <a:rPr sz="1100" b="1" dirty="0">
                <a:solidFill>
                  <a:srgbClr val="F7FAFC"/>
                </a:solidFill>
                <a:latin typeface="Tahoma"/>
                <a:cs typeface="Tahoma"/>
              </a:rPr>
              <a:t>Core</a:t>
            </a:r>
            <a:r>
              <a:rPr sz="1100" b="1" spc="114" dirty="0">
                <a:solidFill>
                  <a:srgbClr val="F7FAFC"/>
                </a:solidFill>
                <a:latin typeface="Tahoma"/>
                <a:cs typeface="Tahoma"/>
              </a:rPr>
              <a:t> </a:t>
            </a:r>
            <a:r>
              <a:rPr sz="1100" b="1" dirty="0">
                <a:solidFill>
                  <a:srgbClr val="F7FAFC"/>
                </a:solidFill>
                <a:latin typeface="Tahoma"/>
                <a:cs typeface="Tahoma"/>
              </a:rPr>
              <a:t>Consumer</a:t>
            </a:r>
            <a:r>
              <a:rPr sz="1100" b="1" spc="114" dirty="0">
                <a:solidFill>
                  <a:srgbClr val="F7FAFC"/>
                </a:solidFill>
                <a:latin typeface="Tahoma"/>
                <a:cs typeface="Tahoma"/>
              </a:rPr>
              <a:t> </a:t>
            </a:r>
            <a:r>
              <a:rPr sz="1100" b="1" spc="-20" dirty="0">
                <a:solidFill>
                  <a:srgbClr val="F7FAFC"/>
                </a:solidFill>
                <a:latin typeface="Tahoma"/>
                <a:cs typeface="Tahoma"/>
              </a:rPr>
              <a:t>Profile:</a:t>
            </a:r>
            <a:r>
              <a:rPr sz="1100" b="1" spc="204" dirty="0">
                <a:solidFill>
                  <a:srgbClr val="F7FAFC"/>
                </a:solidFill>
                <a:latin typeface="Tahoma"/>
                <a:cs typeface="Tahoma"/>
              </a:rPr>
              <a:t> </a:t>
            </a:r>
            <a:r>
              <a:rPr sz="1100" dirty="0">
                <a:solidFill>
                  <a:srgbClr val="94A3B8"/>
                </a:solidFill>
                <a:latin typeface="Tahoma"/>
                <a:cs typeface="Tahoma"/>
              </a:rPr>
              <a:t>Platform</a:t>
            </a:r>
            <a:r>
              <a:rPr sz="1100" spc="150" dirty="0">
                <a:solidFill>
                  <a:srgbClr val="94A3B8"/>
                </a:solidFill>
                <a:latin typeface="Tahoma"/>
                <a:cs typeface="Tahoma"/>
              </a:rPr>
              <a:t> </a:t>
            </a:r>
            <a:r>
              <a:rPr sz="1100" dirty="0">
                <a:solidFill>
                  <a:srgbClr val="94A3B8"/>
                </a:solidFill>
                <a:latin typeface="Tahoma"/>
                <a:cs typeface="Tahoma"/>
              </a:rPr>
              <a:t>adoption</a:t>
            </a:r>
            <a:r>
              <a:rPr sz="1100" spc="150" dirty="0">
                <a:solidFill>
                  <a:srgbClr val="94A3B8"/>
                </a:solidFill>
                <a:latin typeface="Tahoma"/>
                <a:cs typeface="Tahoma"/>
              </a:rPr>
              <a:t> </a:t>
            </a:r>
            <a:r>
              <a:rPr sz="1100" dirty="0">
                <a:solidFill>
                  <a:srgbClr val="94A3B8"/>
                </a:solidFill>
                <a:latin typeface="Tahoma"/>
                <a:cs typeface="Tahoma"/>
              </a:rPr>
              <a:t>highlights</a:t>
            </a:r>
            <a:r>
              <a:rPr sz="1100" spc="155" dirty="0">
                <a:solidFill>
                  <a:srgbClr val="94A3B8"/>
                </a:solidFill>
                <a:latin typeface="Tahoma"/>
                <a:cs typeface="Tahoma"/>
              </a:rPr>
              <a:t> </a:t>
            </a:r>
            <a:r>
              <a:rPr sz="1100" spc="-25" dirty="0">
                <a:solidFill>
                  <a:srgbClr val="94A3B8"/>
                </a:solidFill>
                <a:latin typeface="Tahoma"/>
                <a:cs typeface="Tahoma"/>
              </a:rPr>
              <a:t>an </a:t>
            </a:r>
            <a:r>
              <a:rPr sz="1100" spc="50" dirty="0">
                <a:solidFill>
                  <a:srgbClr val="94A3B8"/>
                </a:solidFill>
                <a:latin typeface="Tahoma"/>
                <a:cs typeface="Tahoma"/>
              </a:rPr>
              <a:t>intense</a:t>
            </a:r>
            <a:r>
              <a:rPr sz="1100" spc="-25" dirty="0">
                <a:solidFill>
                  <a:srgbClr val="94A3B8"/>
                </a:solidFill>
                <a:latin typeface="Tahoma"/>
                <a:cs typeface="Tahoma"/>
              </a:rPr>
              <a:t> </a:t>
            </a:r>
            <a:r>
              <a:rPr sz="1100" spc="50" dirty="0">
                <a:solidFill>
                  <a:srgbClr val="94A3B8"/>
                </a:solidFill>
                <a:latin typeface="Tahoma"/>
                <a:cs typeface="Tahoma"/>
              </a:rPr>
              <a:t>concentration</a:t>
            </a:r>
            <a:r>
              <a:rPr sz="1100" spc="-20" dirty="0">
                <a:solidFill>
                  <a:srgbClr val="94A3B8"/>
                </a:solidFill>
                <a:latin typeface="Tahoma"/>
                <a:cs typeface="Tahoma"/>
              </a:rPr>
              <a:t> </a:t>
            </a:r>
            <a:r>
              <a:rPr sz="1100" spc="55" dirty="0">
                <a:solidFill>
                  <a:srgbClr val="94A3B8"/>
                </a:solidFill>
                <a:latin typeface="Tahoma"/>
                <a:cs typeface="Tahoma"/>
              </a:rPr>
              <a:t>among</a:t>
            </a:r>
            <a:r>
              <a:rPr sz="1100" spc="-20" dirty="0">
                <a:solidFill>
                  <a:srgbClr val="94A3B8"/>
                </a:solidFill>
                <a:latin typeface="Tahoma"/>
                <a:cs typeface="Tahoma"/>
              </a:rPr>
              <a:t> </a:t>
            </a:r>
            <a:r>
              <a:rPr sz="1100" spc="55" dirty="0">
                <a:solidFill>
                  <a:srgbClr val="94A3B8"/>
                </a:solidFill>
                <a:latin typeface="Tahoma"/>
                <a:cs typeface="Tahoma"/>
              </a:rPr>
              <a:t>young</a:t>
            </a:r>
            <a:r>
              <a:rPr sz="1100" spc="-20" dirty="0">
                <a:solidFill>
                  <a:srgbClr val="94A3B8"/>
                </a:solidFill>
                <a:latin typeface="Tahoma"/>
                <a:cs typeface="Tahoma"/>
              </a:rPr>
              <a:t> </a:t>
            </a:r>
            <a:r>
              <a:rPr sz="1100" spc="55" dirty="0">
                <a:solidFill>
                  <a:srgbClr val="94A3B8"/>
                </a:solidFill>
                <a:latin typeface="Tahoma"/>
                <a:cs typeface="Tahoma"/>
              </a:rPr>
              <a:t>professionals</a:t>
            </a:r>
            <a:r>
              <a:rPr sz="1100" spc="-20" dirty="0">
                <a:solidFill>
                  <a:srgbClr val="94A3B8"/>
                </a:solidFill>
                <a:latin typeface="Tahoma"/>
                <a:cs typeface="Tahoma"/>
              </a:rPr>
              <a:t> </a:t>
            </a:r>
            <a:r>
              <a:rPr sz="1100" spc="30" dirty="0">
                <a:solidFill>
                  <a:srgbClr val="94A3B8"/>
                </a:solidFill>
                <a:latin typeface="Tahoma"/>
                <a:cs typeface="Tahoma"/>
              </a:rPr>
              <a:t>and </a:t>
            </a:r>
            <a:r>
              <a:rPr sz="1100" spc="50" dirty="0">
                <a:solidFill>
                  <a:srgbClr val="94A3B8"/>
                </a:solidFill>
                <a:latin typeface="Tahoma"/>
                <a:cs typeface="Tahoma"/>
              </a:rPr>
              <a:t>students</a:t>
            </a:r>
            <a:r>
              <a:rPr sz="1100" spc="-5" dirty="0">
                <a:solidFill>
                  <a:srgbClr val="94A3B8"/>
                </a:solidFill>
                <a:latin typeface="Tahoma"/>
                <a:cs typeface="Tahoma"/>
              </a:rPr>
              <a:t> </a:t>
            </a:r>
            <a:r>
              <a:rPr sz="1100" spc="65" dirty="0">
                <a:solidFill>
                  <a:srgbClr val="94A3B8"/>
                </a:solidFill>
                <a:latin typeface="Tahoma"/>
                <a:cs typeface="Tahoma"/>
              </a:rPr>
              <a:t>aged</a:t>
            </a:r>
            <a:r>
              <a:rPr sz="1100" dirty="0">
                <a:solidFill>
                  <a:srgbClr val="94A3B8"/>
                </a:solidFill>
                <a:latin typeface="Tahoma"/>
                <a:cs typeface="Tahoma"/>
              </a:rPr>
              <a:t> </a:t>
            </a:r>
            <a:r>
              <a:rPr sz="1100" b="1" spc="-40" dirty="0">
                <a:solidFill>
                  <a:srgbClr val="22D3EE"/>
                </a:solidFill>
                <a:latin typeface="Tahoma"/>
                <a:cs typeface="Tahoma"/>
              </a:rPr>
              <a:t>25–</a:t>
            </a:r>
            <a:r>
              <a:rPr sz="1100" b="1" spc="-25" dirty="0">
                <a:solidFill>
                  <a:srgbClr val="22D3EE"/>
                </a:solidFill>
                <a:latin typeface="Tahoma"/>
                <a:cs typeface="Tahoma"/>
              </a:rPr>
              <a:t>38</a:t>
            </a:r>
            <a:r>
              <a:rPr sz="1100" spc="-25" dirty="0">
                <a:solidFill>
                  <a:srgbClr val="94A3B8"/>
                </a:solidFill>
                <a:latin typeface="Tahoma"/>
                <a:cs typeface="Tahoma"/>
              </a:rPr>
              <a:t>.</a:t>
            </a:r>
            <a:endParaRPr sz="1100" dirty="0">
              <a:latin typeface="Tahoma"/>
              <a:cs typeface="Tahoma"/>
            </a:endParaRPr>
          </a:p>
          <a:p>
            <a:pPr marL="469900" marR="5080" indent="-314960">
              <a:lnSpc>
                <a:spcPct val="102299"/>
              </a:lnSpc>
              <a:spcBef>
                <a:spcPts val="900"/>
              </a:spcBef>
              <a:buClr>
                <a:srgbClr val="94A3B8"/>
              </a:buClr>
              <a:buFont typeface="Microsoft Sans Serif"/>
              <a:buChar char="●"/>
              <a:tabLst>
                <a:tab pos="469900" algn="l"/>
              </a:tabLst>
            </a:pPr>
            <a:r>
              <a:rPr sz="1100" b="1" dirty="0">
                <a:solidFill>
                  <a:srgbClr val="F7FAFC"/>
                </a:solidFill>
                <a:latin typeface="Tahoma"/>
                <a:cs typeface="Tahoma"/>
              </a:rPr>
              <a:t>Severe</a:t>
            </a:r>
            <a:r>
              <a:rPr sz="1100" b="1" spc="-35" dirty="0">
                <a:solidFill>
                  <a:srgbClr val="F7FAFC"/>
                </a:solidFill>
                <a:latin typeface="Tahoma"/>
                <a:cs typeface="Tahoma"/>
              </a:rPr>
              <a:t> </a:t>
            </a:r>
            <a:r>
              <a:rPr sz="1100" b="1" dirty="0">
                <a:solidFill>
                  <a:srgbClr val="F7FAFC"/>
                </a:solidFill>
                <a:latin typeface="Tahoma"/>
                <a:cs typeface="Tahoma"/>
              </a:rPr>
              <a:t>Gender</a:t>
            </a:r>
            <a:r>
              <a:rPr sz="1100" b="1" spc="-30" dirty="0">
                <a:solidFill>
                  <a:srgbClr val="F7FAFC"/>
                </a:solidFill>
                <a:latin typeface="Tahoma"/>
                <a:cs typeface="Tahoma"/>
              </a:rPr>
              <a:t> Imbalance:</a:t>
            </a:r>
            <a:r>
              <a:rPr sz="1100" b="1" spc="30" dirty="0">
                <a:solidFill>
                  <a:srgbClr val="F7FAFC"/>
                </a:solidFill>
                <a:latin typeface="Tahoma"/>
                <a:cs typeface="Tahoma"/>
              </a:rPr>
              <a:t> </a:t>
            </a:r>
            <a:r>
              <a:rPr sz="1100" spc="75" dirty="0">
                <a:solidFill>
                  <a:srgbClr val="94A3B8"/>
                </a:solidFill>
                <a:latin typeface="Tahoma"/>
                <a:cs typeface="Tahoma"/>
              </a:rPr>
              <a:t>Male</a:t>
            </a:r>
            <a:r>
              <a:rPr sz="1100" spc="-15" dirty="0">
                <a:solidFill>
                  <a:srgbClr val="94A3B8"/>
                </a:solidFill>
                <a:latin typeface="Tahoma"/>
                <a:cs typeface="Tahoma"/>
              </a:rPr>
              <a:t> </a:t>
            </a:r>
            <a:r>
              <a:rPr sz="1100" spc="50" dirty="0">
                <a:solidFill>
                  <a:srgbClr val="94A3B8"/>
                </a:solidFill>
                <a:latin typeface="Tahoma"/>
                <a:cs typeface="Tahoma"/>
              </a:rPr>
              <a:t>riders</a:t>
            </a:r>
            <a:r>
              <a:rPr sz="1100" spc="-15" dirty="0">
                <a:solidFill>
                  <a:srgbClr val="94A3B8"/>
                </a:solidFill>
                <a:latin typeface="Tahoma"/>
                <a:cs typeface="Tahoma"/>
              </a:rPr>
              <a:t> </a:t>
            </a:r>
            <a:r>
              <a:rPr sz="1100" spc="50" dirty="0">
                <a:solidFill>
                  <a:srgbClr val="94A3B8"/>
                </a:solidFill>
                <a:latin typeface="Tahoma"/>
                <a:cs typeface="Tahoma"/>
              </a:rPr>
              <a:t>generate</a:t>
            </a:r>
            <a:r>
              <a:rPr sz="1100" spc="-10" dirty="0">
                <a:solidFill>
                  <a:srgbClr val="94A3B8"/>
                </a:solidFill>
                <a:latin typeface="Tahoma"/>
                <a:cs typeface="Tahoma"/>
              </a:rPr>
              <a:t> </a:t>
            </a:r>
            <a:r>
              <a:rPr sz="1100" dirty="0">
                <a:solidFill>
                  <a:srgbClr val="94A3B8"/>
                </a:solidFill>
                <a:latin typeface="Tahoma"/>
                <a:cs typeface="Tahoma"/>
              </a:rPr>
              <a:t>over</a:t>
            </a:r>
            <a:r>
              <a:rPr sz="1100" spc="-5" dirty="0">
                <a:solidFill>
                  <a:srgbClr val="94A3B8"/>
                </a:solidFill>
                <a:latin typeface="Tahoma"/>
                <a:cs typeface="Tahoma"/>
              </a:rPr>
              <a:t> </a:t>
            </a:r>
            <a:r>
              <a:rPr sz="1100" b="1" spc="-75" dirty="0">
                <a:solidFill>
                  <a:srgbClr val="22D3EE"/>
                </a:solidFill>
                <a:latin typeface="Tahoma"/>
                <a:cs typeface="Tahoma"/>
              </a:rPr>
              <a:t>70%</a:t>
            </a:r>
            <a:r>
              <a:rPr sz="1100" b="1" spc="5" dirty="0">
                <a:solidFill>
                  <a:srgbClr val="22D3EE"/>
                </a:solidFill>
                <a:latin typeface="Tahoma"/>
                <a:cs typeface="Tahoma"/>
              </a:rPr>
              <a:t> </a:t>
            </a:r>
            <a:r>
              <a:rPr sz="1100" spc="35" dirty="0">
                <a:solidFill>
                  <a:srgbClr val="94A3B8"/>
                </a:solidFill>
                <a:latin typeface="Tahoma"/>
                <a:cs typeface="Tahoma"/>
              </a:rPr>
              <a:t>of </a:t>
            </a:r>
            <a:r>
              <a:rPr sz="1100" spc="20" dirty="0">
                <a:solidFill>
                  <a:srgbClr val="94A3B8"/>
                </a:solidFill>
                <a:latin typeface="Tahoma"/>
                <a:cs typeface="Tahoma"/>
              </a:rPr>
              <a:t>total</a:t>
            </a:r>
            <a:r>
              <a:rPr sz="1100" spc="75" dirty="0">
                <a:solidFill>
                  <a:srgbClr val="94A3B8"/>
                </a:solidFill>
                <a:latin typeface="Tahoma"/>
                <a:cs typeface="Tahoma"/>
              </a:rPr>
              <a:t> </a:t>
            </a:r>
            <a:r>
              <a:rPr sz="1100" spc="60" dirty="0">
                <a:solidFill>
                  <a:srgbClr val="94A3B8"/>
                </a:solidFill>
                <a:latin typeface="Tahoma"/>
                <a:cs typeface="Tahoma"/>
              </a:rPr>
              <a:t>system</a:t>
            </a:r>
            <a:r>
              <a:rPr sz="1100" spc="80" dirty="0">
                <a:solidFill>
                  <a:srgbClr val="94A3B8"/>
                </a:solidFill>
                <a:latin typeface="Tahoma"/>
                <a:cs typeface="Tahoma"/>
              </a:rPr>
              <a:t> </a:t>
            </a:r>
            <a:r>
              <a:rPr sz="1100" spc="20" dirty="0">
                <a:solidFill>
                  <a:srgbClr val="94A3B8"/>
                </a:solidFill>
                <a:latin typeface="Tahoma"/>
                <a:cs typeface="Tahoma"/>
              </a:rPr>
              <a:t>transactions,</a:t>
            </a:r>
            <a:r>
              <a:rPr sz="1100" spc="75" dirty="0">
                <a:solidFill>
                  <a:srgbClr val="94A3B8"/>
                </a:solidFill>
                <a:latin typeface="Tahoma"/>
                <a:cs typeface="Tahoma"/>
              </a:rPr>
              <a:t> </a:t>
            </a:r>
            <a:r>
              <a:rPr sz="1100" spc="20" dirty="0">
                <a:solidFill>
                  <a:srgbClr val="94A3B8"/>
                </a:solidFill>
                <a:latin typeface="Tahoma"/>
                <a:cs typeface="Tahoma"/>
              </a:rPr>
              <a:t>indicating</a:t>
            </a:r>
            <a:r>
              <a:rPr sz="1100" spc="80" dirty="0">
                <a:solidFill>
                  <a:srgbClr val="94A3B8"/>
                </a:solidFill>
                <a:latin typeface="Tahoma"/>
                <a:cs typeface="Tahoma"/>
              </a:rPr>
              <a:t> </a:t>
            </a:r>
            <a:r>
              <a:rPr sz="1100" spc="50" dirty="0">
                <a:solidFill>
                  <a:srgbClr val="94A3B8"/>
                </a:solidFill>
                <a:latin typeface="Tahoma"/>
                <a:cs typeface="Tahoma"/>
              </a:rPr>
              <a:t>a</a:t>
            </a:r>
            <a:r>
              <a:rPr sz="1100" spc="80" dirty="0">
                <a:solidFill>
                  <a:srgbClr val="94A3B8"/>
                </a:solidFill>
                <a:latin typeface="Tahoma"/>
                <a:cs typeface="Tahoma"/>
              </a:rPr>
              <a:t> </a:t>
            </a:r>
            <a:r>
              <a:rPr sz="1100" spc="20" dirty="0">
                <a:solidFill>
                  <a:srgbClr val="94A3B8"/>
                </a:solidFill>
                <a:latin typeface="Tahoma"/>
                <a:cs typeface="Tahoma"/>
              </a:rPr>
              <a:t>major</a:t>
            </a:r>
            <a:r>
              <a:rPr sz="1100" spc="75" dirty="0">
                <a:solidFill>
                  <a:srgbClr val="94A3B8"/>
                </a:solidFill>
                <a:latin typeface="Tahoma"/>
                <a:cs typeface="Tahoma"/>
              </a:rPr>
              <a:t> </a:t>
            </a:r>
            <a:r>
              <a:rPr sz="1100" spc="40" dirty="0">
                <a:solidFill>
                  <a:srgbClr val="94A3B8"/>
                </a:solidFill>
                <a:latin typeface="Tahoma"/>
                <a:cs typeface="Tahoma"/>
              </a:rPr>
              <a:t>underrepresented </a:t>
            </a:r>
            <a:r>
              <a:rPr sz="1100" spc="60" dirty="0">
                <a:solidFill>
                  <a:srgbClr val="94A3B8"/>
                </a:solidFill>
                <a:latin typeface="Tahoma"/>
                <a:cs typeface="Tahoma"/>
              </a:rPr>
              <a:t>segment</a:t>
            </a:r>
            <a:r>
              <a:rPr sz="1100" spc="45" dirty="0">
                <a:solidFill>
                  <a:srgbClr val="94A3B8"/>
                </a:solidFill>
                <a:latin typeface="Tahoma"/>
                <a:cs typeface="Tahoma"/>
              </a:rPr>
              <a:t> </a:t>
            </a:r>
            <a:r>
              <a:rPr sz="1100" dirty="0">
                <a:solidFill>
                  <a:srgbClr val="94A3B8"/>
                </a:solidFill>
                <a:latin typeface="Tahoma"/>
                <a:cs typeface="Tahoma"/>
              </a:rPr>
              <a:t>in</a:t>
            </a:r>
            <a:r>
              <a:rPr sz="1100" spc="50" dirty="0">
                <a:solidFill>
                  <a:srgbClr val="94A3B8"/>
                </a:solidFill>
                <a:latin typeface="Tahoma"/>
                <a:cs typeface="Tahoma"/>
              </a:rPr>
              <a:t> </a:t>
            </a:r>
            <a:r>
              <a:rPr sz="1100" dirty="0">
                <a:solidFill>
                  <a:srgbClr val="94A3B8"/>
                </a:solidFill>
                <a:latin typeface="Tahoma"/>
                <a:cs typeface="Tahoma"/>
              </a:rPr>
              <a:t>other</a:t>
            </a:r>
            <a:r>
              <a:rPr sz="1100" spc="50" dirty="0">
                <a:solidFill>
                  <a:srgbClr val="94A3B8"/>
                </a:solidFill>
                <a:latin typeface="Tahoma"/>
                <a:cs typeface="Tahoma"/>
              </a:rPr>
              <a:t> </a:t>
            </a:r>
            <a:r>
              <a:rPr sz="1100" spc="55" dirty="0">
                <a:solidFill>
                  <a:srgbClr val="94A3B8"/>
                </a:solidFill>
                <a:latin typeface="Tahoma"/>
                <a:cs typeface="Tahoma"/>
              </a:rPr>
              <a:t>demographic</a:t>
            </a:r>
            <a:r>
              <a:rPr sz="1100" spc="50" dirty="0">
                <a:solidFill>
                  <a:srgbClr val="94A3B8"/>
                </a:solidFill>
                <a:latin typeface="Tahoma"/>
                <a:cs typeface="Tahoma"/>
              </a:rPr>
              <a:t> </a:t>
            </a:r>
            <a:r>
              <a:rPr sz="1100" spc="40" dirty="0">
                <a:solidFill>
                  <a:srgbClr val="94A3B8"/>
                </a:solidFill>
                <a:latin typeface="Tahoma"/>
                <a:cs typeface="Tahoma"/>
              </a:rPr>
              <a:t>buckets.</a:t>
            </a:r>
            <a:endParaRPr sz="1100" dirty="0">
              <a:latin typeface="Tahoma"/>
              <a:cs typeface="Tahoma"/>
            </a:endParaRPr>
          </a:p>
          <a:p>
            <a:pPr marL="469900" marR="8890" indent="-314960">
              <a:lnSpc>
                <a:spcPct val="102299"/>
              </a:lnSpc>
              <a:spcBef>
                <a:spcPts val="900"/>
              </a:spcBef>
              <a:buClr>
                <a:srgbClr val="94A3B8"/>
              </a:buClr>
              <a:buFont typeface="Microsoft Sans Serif"/>
              <a:buChar char="●"/>
              <a:tabLst>
                <a:tab pos="469900" algn="l"/>
              </a:tabLst>
            </a:pPr>
            <a:r>
              <a:rPr sz="1100" b="1" spc="-25" dirty="0">
                <a:solidFill>
                  <a:srgbClr val="F7FAFC"/>
                </a:solidFill>
                <a:latin typeface="Tahoma"/>
                <a:cs typeface="Tahoma"/>
              </a:rPr>
              <a:t>Statistical</a:t>
            </a:r>
            <a:r>
              <a:rPr sz="1100" b="1" spc="70" dirty="0">
                <a:solidFill>
                  <a:srgbClr val="F7FAFC"/>
                </a:solidFill>
                <a:latin typeface="Tahoma"/>
                <a:cs typeface="Tahoma"/>
              </a:rPr>
              <a:t> </a:t>
            </a:r>
            <a:r>
              <a:rPr sz="1100" b="1" spc="-20" dirty="0">
                <a:solidFill>
                  <a:srgbClr val="F7FAFC"/>
                </a:solidFill>
                <a:latin typeface="Tahoma"/>
                <a:cs typeface="Tahoma"/>
              </a:rPr>
              <a:t>Independence:</a:t>
            </a:r>
            <a:r>
              <a:rPr sz="1100" b="1" spc="150" dirty="0">
                <a:solidFill>
                  <a:srgbClr val="F7FAFC"/>
                </a:solidFill>
                <a:latin typeface="Tahoma"/>
                <a:cs typeface="Tahoma"/>
              </a:rPr>
              <a:t> </a:t>
            </a:r>
            <a:r>
              <a:rPr sz="1100" spc="70" dirty="0">
                <a:solidFill>
                  <a:srgbClr val="94A3B8"/>
                </a:solidFill>
                <a:latin typeface="Tahoma"/>
                <a:cs typeface="Tahoma"/>
              </a:rPr>
              <a:t>The</a:t>
            </a:r>
            <a:r>
              <a:rPr sz="1100" spc="105" dirty="0">
                <a:solidFill>
                  <a:srgbClr val="94A3B8"/>
                </a:solidFill>
                <a:latin typeface="Tahoma"/>
                <a:cs typeface="Tahoma"/>
              </a:rPr>
              <a:t> </a:t>
            </a:r>
            <a:r>
              <a:rPr sz="1100" dirty="0">
                <a:solidFill>
                  <a:srgbClr val="94A3B8"/>
                </a:solidFill>
                <a:latin typeface="Tahoma"/>
                <a:cs typeface="Tahoma"/>
              </a:rPr>
              <a:t>correlation</a:t>
            </a:r>
            <a:r>
              <a:rPr sz="1100" spc="105" dirty="0">
                <a:solidFill>
                  <a:srgbClr val="94A3B8"/>
                </a:solidFill>
                <a:latin typeface="Tahoma"/>
                <a:cs typeface="Tahoma"/>
              </a:rPr>
              <a:t> </a:t>
            </a:r>
            <a:r>
              <a:rPr sz="1100" dirty="0">
                <a:solidFill>
                  <a:srgbClr val="94A3B8"/>
                </a:solidFill>
                <a:latin typeface="Tahoma"/>
                <a:cs typeface="Tahoma"/>
              </a:rPr>
              <a:t>matrix</a:t>
            </a:r>
            <a:r>
              <a:rPr sz="1100" spc="105" dirty="0">
                <a:solidFill>
                  <a:srgbClr val="94A3B8"/>
                </a:solidFill>
                <a:latin typeface="Tahoma"/>
                <a:cs typeface="Tahoma"/>
              </a:rPr>
              <a:t> </a:t>
            </a:r>
            <a:r>
              <a:rPr sz="1100" spc="60" dirty="0">
                <a:solidFill>
                  <a:srgbClr val="94A3B8"/>
                </a:solidFill>
                <a:latin typeface="Tahoma"/>
                <a:cs typeface="Tahoma"/>
              </a:rPr>
              <a:t>confirms</a:t>
            </a:r>
            <a:r>
              <a:rPr sz="1100" spc="105" dirty="0">
                <a:solidFill>
                  <a:srgbClr val="94A3B8"/>
                </a:solidFill>
                <a:latin typeface="Tahoma"/>
                <a:cs typeface="Tahoma"/>
              </a:rPr>
              <a:t> </a:t>
            </a:r>
            <a:r>
              <a:rPr sz="1100" spc="-20" dirty="0">
                <a:solidFill>
                  <a:srgbClr val="94A3B8"/>
                </a:solidFill>
                <a:latin typeface="Tahoma"/>
                <a:cs typeface="Tahoma"/>
              </a:rPr>
              <a:t>that </a:t>
            </a:r>
            <a:r>
              <a:rPr sz="1100" spc="55" dirty="0">
                <a:solidFill>
                  <a:srgbClr val="94A3B8"/>
                </a:solidFill>
                <a:latin typeface="Tahoma"/>
                <a:cs typeface="Tahoma"/>
              </a:rPr>
              <a:t>engineered</a:t>
            </a:r>
            <a:r>
              <a:rPr sz="1100" spc="90" dirty="0">
                <a:solidFill>
                  <a:srgbClr val="94A3B8"/>
                </a:solidFill>
                <a:latin typeface="Tahoma"/>
                <a:cs typeface="Tahoma"/>
              </a:rPr>
              <a:t> </a:t>
            </a:r>
            <a:r>
              <a:rPr sz="1100" dirty="0">
                <a:solidFill>
                  <a:srgbClr val="94A3B8"/>
                </a:solidFill>
                <a:latin typeface="Tahoma"/>
                <a:cs typeface="Tahoma"/>
              </a:rPr>
              <a:t>time</a:t>
            </a:r>
            <a:r>
              <a:rPr sz="1100" spc="95" dirty="0">
                <a:solidFill>
                  <a:srgbClr val="94A3B8"/>
                </a:solidFill>
                <a:latin typeface="Tahoma"/>
                <a:cs typeface="Tahoma"/>
              </a:rPr>
              <a:t> </a:t>
            </a:r>
            <a:r>
              <a:rPr sz="1100" spc="50" dirty="0">
                <a:solidFill>
                  <a:srgbClr val="94A3B8"/>
                </a:solidFill>
                <a:latin typeface="Tahoma"/>
                <a:cs typeface="Tahoma"/>
              </a:rPr>
              <a:t>parameters</a:t>
            </a:r>
            <a:r>
              <a:rPr sz="1100" spc="95" dirty="0">
                <a:solidFill>
                  <a:srgbClr val="94A3B8"/>
                </a:solidFill>
                <a:latin typeface="Tahoma"/>
                <a:cs typeface="Tahoma"/>
              </a:rPr>
              <a:t> </a:t>
            </a:r>
            <a:r>
              <a:rPr sz="1100" dirty="0">
                <a:solidFill>
                  <a:srgbClr val="94A3B8"/>
                </a:solidFill>
                <a:latin typeface="Tahoma"/>
                <a:cs typeface="Tahoma"/>
              </a:rPr>
              <a:t>(hours,</a:t>
            </a:r>
            <a:r>
              <a:rPr sz="1100" spc="95" dirty="0">
                <a:solidFill>
                  <a:srgbClr val="94A3B8"/>
                </a:solidFill>
                <a:latin typeface="Tahoma"/>
                <a:cs typeface="Tahoma"/>
              </a:rPr>
              <a:t> </a:t>
            </a:r>
            <a:r>
              <a:rPr sz="1100" spc="55" dirty="0">
                <a:solidFill>
                  <a:srgbClr val="94A3B8"/>
                </a:solidFill>
                <a:latin typeface="Tahoma"/>
                <a:cs typeface="Tahoma"/>
              </a:rPr>
              <a:t>calendar</a:t>
            </a:r>
            <a:r>
              <a:rPr sz="1100" spc="95" dirty="0">
                <a:solidFill>
                  <a:srgbClr val="94A3B8"/>
                </a:solidFill>
                <a:latin typeface="Tahoma"/>
                <a:cs typeface="Tahoma"/>
              </a:rPr>
              <a:t> </a:t>
            </a:r>
            <a:r>
              <a:rPr sz="1100" dirty="0">
                <a:solidFill>
                  <a:srgbClr val="94A3B8"/>
                </a:solidFill>
                <a:latin typeface="Tahoma"/>
                <a:cs typeface="Tahoma"/>
              </a:rPr>
              <a:t>months)</a:t>
            </a:r>
            <a:r>
              <a:rPr sz="1100" spc="95" dirty="0">
                <a:solidFill>
                  <a:srgbClr val="94A3B8"/>
                </a:solidFill>
                <a:latin typeface="Tahoma"/>
                <a:cs typeface="Tahoma"/>
              </a:rPr>
              <a:t> </a:t>
            </a:r>
            <a:r>
              <a:rPr sz="1100" spc="50" dirty="0">
                <a:solidFill>
                  <a:srgbClr val="94A3B8"/>
                </a:solidFill>
                <a:latin typeface="Tahoma"/>
                <a:cs typeface="Tahoma"/>
              </a:rPr>
              <a:t>show </a:t>
            </a:r>
            <a:r>
              <a:rPr sz="1100" spc="55" dirty="0">
                <a:solidFill>
                  <a:srgbClr val="94A3B8"/>
                </a:solidFill>
                <a:latin typeface="Tahoma"/>
                <a:cs typeface="Tahoma"/>
              </a:rPr>
              <a:t>near-</a:t>
            </a:r>
            <a:r>
              <a:rPr sz="1100" spc="65" dirty="0">
                <a:solidFill>
                  <a:srgbClr val="94A3B8"/>
                </a:solidFill>
                <a:latin typeface="Tahoma"/>
                <a:cs typeface="Tahoma"/>
              </a:rPr>
              <a:t>zero</a:t>
            </a:r>
            <a:r>
              <a:rPr sz="1100" spc="100" dirty="0">
                <a:solidFill>
                  <a:srgbClr val="94A3B8"/>
                </a:solidFill>
                <a:latin typeface="Tahoma"/>
                <a:cs typeface="Tahoma"/>
              </a:rPr>
              <a:t> </a:t>
            </a:r>
            <a:r>
              <a:rPr sz="1100" dirty="0">
                <a:solidFill>
                  <a:srgbClr val="94A3B8"/>
                </a:solidFill>
                <a:latin typeface="Tahoma"/>
                <a:cs typeface="Tahoma"/>
              </a:rPr>
              <a:t>linear</a:t>
            </a:r>
            <a:r>
              <a:rPr sz="1100" spc="105" dirty="0">
                <a:solidFill>
                  <a:srgbClr val="94A3B8"/>
                </a:solidFill>
                <a:latin typeface="Tahoma"/>
                <a:cs typeface="Tahoma"/>
              </a:rPr>
              <a:t> </a:t>
            </a:r>
            <a:r>
              <a:rPr sz="1100" spc="50" dirty="0">
                <a:solidFill>
                  <a:srgbClr val="94A3B8"/>
                </a:solidFill>
                <a:latin typeface="Tahoma"/>
                <a:cs typeface="Tahoma"/>
              </a:rPr>
              <a:t>correlations</a:t>
            </a:r>
            <a:r>
              <a:rPr sz="1100" spc="105" dirty="0">
                <a:solidFill>
                  <a:srgbClr val="94A3B8"/>
                </a:solidFill>
                <a:latin typeface="Tahoma"/>
                <a:cs typeface="Tahoma"/>
              </a:rPr>
              <a:t> </a:t>
            </a:r>
            <a:r>
              <a:rPr sz="1100" dirty="0">
                <a:solidFill>
                  <a:srgbClr val="94A3B8"/>
                </a:solidFill>
                <a:latin typeface="Tahoma"/>
                <a:cs typeface="Tahoma"/>
              </a:rPr>
              <a:t>with</a:t>
            </a:r>
            <a:r>
              <a:rPr sz="1100" spc="105" dirty="0">
                <a:solidFill>
                  <a:srgbClr val="94A3B8"/>
                </a:solidFill>
                <a:latin typeface="Tahoma"/>
                <a:cs typeface="Tahoma"/>
              </a:rPr>
              <a:t> </a:t>
            </a:r>
            <a:r>
              <a:rPr sz="1100" dirty="0">
                <a:solidFill>
                  <a:srgbClr val="94A3B8"/>
                </a:solidFill>
                <a:latin typeface="Tahoma"/>
                <a:cs typeface="Tahoma"/>
              </a:rPr>
              <a:t>ride</a:t>
            </a:r>
            <a:r>
              <a:rPr sz="1100" spc="105" dirty="0">
                <a:solidFill>
                  <a:srgbClr val="94A3B8"/>
                </a:solidFill>
                <a:latin typeface="Tahoma"/>
                <a:cs typeface="Tahoma"/>
              </a:rPr>
              <a:t> </a:t>
            </a:r>
            <a:r>
              <a:rPr sz="1100" dirty="0">
                <a:solidFill>
                  <a:srgbClr val="94A3B8"/>
                </a:solidFill>
                <a:latin typeface="Tahoma"/>
                <a:cs typeface="Tahoma"/>
              </a:rPr>
              <a:t>duration,</a:t>
            </a:r>
            <a:r>
              <a:rPr sz="1100" spc="105" dirty="0">
                <a:solidFill>
                  <a:srgbClr val="94A3B8"/>
                </a:solidFill>
                <a:latin typeface="Tahoma"/>
                <a:cs typeface="Tahoma"/>
              </a:rPr>
              <a:t> </a:t>
            </a:r>
            <a:r>
              <a:rPr sz="1100" spc="45" dirty="0">
                <a:solidFill>
                  <a:srgbClr val="94A3B8"/>
                </a:solidFill>
                <a:latin typeface="Tahoma"/>
                <a:cs typeface="Tahoma"/>
              </a:rPr>
              <a:t>proving</a:t>
            </a:r>
            <a:r>
              <a:rPr sz="1100" spc="100" dirty="0">
                <a:solidFill>
                  <a:srgbClr val="94A3B8"/>
                </a:solidFill>
                <a:latin typeface="Tahoma"/>
                <a:cs typeface="Tahoma"/>
              </a:rPr>
              <a:t> </a:t>
            </a:r>
            <a:r>
              <a:rPr sz="1100" spc="-20" dirty="0">
                <a:solidFill>
                  <a:srgbClr val="94A3B8"/>
                </a:solidFill>
                <a:latin typeface="Tahoma"/>
                <a:cs typeface="Tahoma"/>
              </a:rPr>
              <a:t>trip </a:t>
            </a:r>
            <a:r>
              <a:rPr sz="1100" dirty="0">
                <a:solidFill>
                  <a:srgbClr val="94A3B8"/>
                </a:solidFill>
                <a:latin typeface="Tahoma"/>
                <a:cs typeface="Tahoma"/>
              </a:rPr>
              <a:t>length</a:t>
            </a:r>
            <a:r>
              <a:rPr sz="1100" spc="100" dirty="0">
                <a:solidFill>
                  <a:srgbClr val="94A3B8"/>
                </a:solidFill>
                <a:latin typeface="Tahoma"/>
                <a:cs typeface="Tahoma"/>
              </a:rPr>
              <a:t> </a:t>
            </a:r>
            <a:r>
              <a:rPr sz="1100" spc="60" dirty="0">
                <a:solidFill>
                  <a:srgbClr val="94A3B8"/>
                </a:solidFill>
                <a:latin typeface="Tahoma"/>
                <a:cs typeface="Tahoma"/>
              </a:rPr>
              <a:t>is</a:t>
            </a:r>
            <a:r>
              <a:rPr sz="1100" spc="105" dirty="0">
                <a:solidFill>
                  <a:srgbClr val="94A3B8"/>
                </a:solidFill>
                <a:latin typeface="Tahoma"/>
                <a:cs typeface="Tahoma"/>
              </a:rPr>
              <a:t> </a:t>
            </a:r>
            <a:r>
              <a:rPr sz="1100" dirty="0">
                <a:solidFill>
                  <a:srgbClr val="94A3B8"/>
                </a:solidFill>
                <a:latin typeface="Tahoma"/>
                <a:cs typeface="Tahoma"/>
              </a:rPr>
              <a:t>driven</a:t>
            </a:r>
            <a:r>
              <a:rPr sz="1100" spc="105" dirty="0">
                <a:solidFill>
                  <a:srgbClr val="94A3B8"/>
                </a:solidFill>
                <a:latin typeface="Tahoma"/>
                <a:cs typeface="Tahoma"/>
              </a:rPr>
              <a:t> </a:t>
            </a:r>
            <a:r>
              <a:rPr sz="1100" spc="60" dirty="0">
                <a:solidFill>
                  <a:srgbClr val="94A3B8"/>
                </a:solidFill>
                <a:latin typeface="Tahoma"/>
                <a:cs typeface="Tahoma"/>
              </a:rPr>
              <a:t>by</a:t>
            </a:r>
            <a:r>
              <a:rPr sz="1100" spc="105" dirty="0">
                <a:solidFill>
                  <a:srgbClr val="94A3B8"/>
                </a:solidFill>
                <a:latin typeface="Tahoma"/>
                <a:cs typeface="Tahoma"/>
              </a:rPr>
              <a:t> </a:t>
            </a:r>
            <a:r>
              <a:rPr sz="1100" spc="55" dirty="0">
                <a:solidFill>
                  <a:srgbClr val="94A3B8"/>
                </a:solidFill>
                <a:latin typeface="Tahoma"/>
                <a:cs typeface="Tahoma"/>
              </a:rPr>
              <a:t>user</a:t>
            </a:r>
            <a:r>
              <a:rPr sz="1100" spc="100" dirty="0">
                <a:solidFill>
                  <a:srgbClr val="94A3B8"/>
                </a:solidFill>
                <a:latin typeface="Tahoma"/>
                <a:cs typeface="Tahoma"/>
              </a:rPr>
              <a:t> </a:t>
            </a:r>
            <a:r>
              <a:rPr sz="1100" dirty="0">
                <a:solidFill>
                  <a:srgbClr val="94A3B8"/>
                </a:solidFill>
                <a:latin typeface="Tahoma"/>
                <a:cs typeface="Tahoma"/>
              </a:rPr>
              <a:t>intent</a:t>
            </a:r>
            <a:r>
              <a:rPr sz="1100" spc="105" dirty="0">
                <a:solidFill>
                  <a:srgbClr val="94A3B8"/>
                </a:solidFill>
                <a:latin typeface="Tahoma"/>
                <a:cs typeface="Tahoma"/>
              </a:rPr>
              <a:t> </a:t>
            </a:r>
            <a:r>
              <a:rPr sz="1100" dirty="0">
                <a:solidFill>
                  <a:srgbClr val="94A3B8"/>
                </a:solidFill>
                <a:latin typeface="Tahoma"/>
                <a:cs typeface="Tahoma"/>
              </a:rPr>
              <a:t>rather</a:t>
            </a:r>
            <a:r>
              <a:rPr sz="1100" spc="105" dirty="0">
                <a:solidFill>
                  <a:srgbClr val="94A3B8"/>
                </a:solidFill>
                <a:latin typeface="Tahoma"/>
                <a:cs typeface="Tahoma"/>
              </a:rPr>
              <a:t> </a:t>
            </a:r>
            <a:r>
              <a:rPr sz="1100" dirty="0">
                <a:solidFill>
                  <a:srgbClr val="94A3B8"/>
                </a:solidFill>
                <a:latin typeface="Tahoma"/>
                <a:cs typeface="Tahoma"/>
              </a:rPr>
              <a:t>than</a:t>
            </a:r>
            <a:r>
              <a:rPr sz="1100" spc="105" dirty="0">
                <a:solidFill>
                  <a:srgbClr val="94A3B8"/>
                </a:solidFill>
                <a:latin typeface="Tahoma"/>
                <a:cs typeface="Tahoma"/>
              </a:rPr>
              <a:t> </a:t>
            </a:r>
            <a:r>
              <a:rPr sz="1100" spc="-10" dirty="0">
                <a:solidFill>
                  <a:srgbClr val="94A3B8"/>
                </a:solidFill>
                <a:latin typeface="Tahoma"/>
                <a:cs typeface="Tahoma"/>
              </a:rPr>
              <a:t>environmental </a:t>
            </a:r>
            <a:r>
              <a:rPr sz="1100" spc="50" dirty="0">
                <a:solidFill>
                  <a:srgbClr val="94A3B8"/>
                </a:solidFill>
                <a:latin typeface="Tahoma"/>
                <a:cs typeface="Tahoma"/>
              </a:rPr>
              <a:t>schedules.</a:t>
            </a:r>
            <a:endParaRPr sz="1100" dirty="0">
              <a:latin typeface="Tahoma"/>
              <a:cs typeface="Tahoma"/>
            </a:endParaRPr>
          </a:p>
        </p:txBody>
      </p:sp>
    </p:spTree>
    <p:extLst>
      <p:ext uri="{BB962C8B-B14F-4D97-AF65-F5344CB8AC3E}">
        <p14:creationId xmlns:p14="http://schemas.microsoft.com/office/powerpoint/2010/main" val="2433880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descr="$PPTXTitle"/>
          <p:cNvSpPr txBox="1">
            <a:spLocks noGrp="1"/>
          </p:cNvSpPr>
          <p:nvPr>
            <p:ph type="title"/>
          </p:nvPr>
        </p:nvSpPr>
        <p:spPr>
          <a:xfrm>
            <a:off x="412213" y="582242"/>
            <a:ext cx="11367574" cy="930120"/>
          </a:xfrm>
          <a:prstGeom prst="rect">
            <a:avLst/>
          </a:prstGeom>
        </p:spPr>
        <p:txBody>
          <a:bodyPr vert="horz" wrap="square" lIns="0" tIns="311525" rIns="0" bIns="0" rtlCol="0">
            <a:spAutoFit/>
          </a:bodyPr>
          <a:lstStyle/>
          <a:p>
            <a:pPr marL="12700">
              <a:lnSpc>
                <a:spcPct val="100000"/>
              </a:lnSpc>
              <a:spcBef>
                <a:spcPts val="100"/>
              </a:spcBef>
            </a:pPr>
            <a:r>
              <a:rPr sz="4000" spc="-240" dirty="0">
                <a:solidFill>
                  <a:schemeClr val="tx1"/>
                </a:solidFill>
              </a:rPr>
              <a:t>Data</a:t>
            </a:r>
            <a:r>
              <a:rPr sz="4000" spc="-430" dirty="0">
                <a:solidFill>
                  <a:schemeClr val="tx1"/>
                </a:solidFill>
              </a:rPr>
              <a:t> </a:t>
            </a:r>
            <a:r>
              <a:rPr sz="4000" spc="-215" dirty="0">
                <a:solidFill>
                  <a:schemeClr val="tx1"/>
                </a:solidFill>
              </a:rPr>
              <a:t>Processing</a:t>
            </a:r>
            <a:r>
              <a:rPr sz="4000" spc="-430" dirty="0">
                <a:solidFill>
                  <a:schemeClr val="tx1"/>
                </a:solidFill>
              </a:rPr>
              <a:t> </a:t>
            </a:r>
            <a:r>
              <a:rPr sz="4000" spc="-229" dirty="0">
                <a:solidFill>
                  <a:schemeClr val="tx1"/>
                </a:solidFill>
              </a:rPr>
              <a:t>&amp;</a:t>
            </a:r>
            <a:r>
              <a:rPr sz="4000" spc="-425" dirty="0">
                <a:solidFill>
                  <a:schemeClr val="tx1"/>
                </a:solidFill>
              </a:rPr>
              <a:t> </a:t>
            </a:r>
            <a:r>
              <a:rPr sz="4000" spc="-250" dirty="0">
                <a:solidFill>
                  <a:schemeClr val="tx1"/>
                </a:solidFill>
              </a:rPr>
              <a:t>Engineering</a:t>
            </a:r>
            <a:r>
              <a:rPr sz="4000" spc="-430" dirty="0">
                <a:solidFill>
                  <a:schemeClr val="tx1"/>
                </a:solidFill>
              </a:rPr>
              <a:t> </a:t>
            </a:r>
            <a:r>
              <a:rPr sz="4000" spc="-170" dirty="0">
                <a:solidFill>
                  <a:schemeClr val="tx1"/>
                </a:solidFill>
              </a:rPr>
              <a:t>Architecture</a:t>
            </a:r>
          </a:p>
        </p:txBody>
      </p:sp>
      <p:grpSp>
        <p:nvGrpSpPr>
          <p:cNvPr id="7" name="object 7"/>
          <p:cNvGrpSpPr/>
          <p:nvPr/>
        </p:nvGrpSpPr>
        <p:grpSpPr>
          <a:xfrm>
            <a:off x="573722" y="1816735"/>
            <a:ext cx="5292090" cy="3634104"/>
            <a:chOff x="573722" y="1816735"/>
            <a:chExt cx="5292090" cy="3634104"/>
          </a:xfrm>
        </p:grpSpPr>
        <p:sp>
          <p:nvSpPr>
            <p:cNvPr id="8" name="object 8"/>
            <p:cNvSpPr/>
            <p:nvPr/>
          </p:nvSpPr>
          <p:spPr>
            <a:xfrm>
              <a:off x="581024" y="1824037"/>
              <a:ext cx="5277485" cy="3619500"/>
            </a:xfrm>
            <a:custGeom>
              <a:avLst/>
              <a:gdLst/>
              <a:ahLst/>
              <a:cxnLst/>
              <a:rect l="l" t="t" r="r" b="b"/>
              <a:pathLst>
                <a:path w="5277485" h="3619500">
                  <a:moveTo>
                    <a:pt x="5124619" y="3619499"/>
                  </a:moveTo>
                  <a:lnTo>
                    <a:pt x="152380" y="3619499"/>
                  </a:lnTo>
                  <a:lnTo>
                    <a:pt x="104216" y="3611731"/>
                  </a:lnTo>
                  <a:lnTo>
                    <a:pt x="62386" y="3590099"/>
                  </a:lnTo>
                  <a:lnTo>
                    <a:pt x="29400" y="3557113"/>
                  </a:lnTo>
                  <a:lnTo>
                    <a:pt x="7768" y="3515283"/>
                  </a:lnTo>
                  <a:lnTo>
                    <a:pt x="0" y="3467119"/>
                  </a:lnTo>
                  <a:lnTo>
                    <a:pt x="0" y="152380"/>
                  </a:lnTo>
                  <a:lnTo>
                    <a:pt x="7768" y="104216"/>
                  </a:lnTo>
                  <a:lnTo>
                    <a:pt x="29400" y="62386"/>
                  </a:lnTo>
                  <a:lnTo>
                    <a:pt x="62386" y="29400"/>
                  </a:lnTo>
                  <a:lnTo>
                    <a:pt x="104216" y="7768"/>
                  </a:lnTo>
                  <a:lnTo>
                    <a:pt x="152380" y="0"/>
                  </a:lnTo>
                  <a:lnTo>
                    <a:pt x="5124619" y="0"/>
                  </a:lnTo>
                  <a:lnTo>
                    <a:pt x="5182932" y="11599"/>
                  </a:lnTo>
                  <a:lnTo>
                    <a:pt x="5232368" y="44631"/>
                  </a:lnTo>
                  <a:lnTo>
                    <a:pt x="5265400" y="94067"/>
                  </a:lnTo>
                  <a:lnTo>
                    <a:pt x="5276999" y="152380"/>
                  </a:lnTo>
                  <a:lnTo>
                    <a:pt x="5276999" y="3467119"/>
                  </a:lnTo>
                  <a:lnTo>
                    <a:pt x="5269231" y="3515283"/>
                  </a:lnTo>
                  <a:lnTo>
                    <a:pt x="5247599" y="3557113"/>
                  </a:lnTo>
                  <a:lnTo>
                    <a:pt x="5214613" y="3590099"/>
                  </a:lnTo>
                  <a:lnTo>
                    <a:pt x="5172783" y="3611731"/>
                  </a:lnTo>
                  <a:lnTo>
                    <a:pt x="5124619" y="3619499"/>
                  </a:lnTo>
                  <a:close/>
                </a:path>
              </a:pathLst>
            </a:custGeom>
            <a:solidFill>
              <a:srgbClr val="0F172A"/>
            </a:solidFill>
          </p:spPr>
          <p:txBody>
            <a:bodyPr wrap="square" lIns="0" tIns="0" rIns="0" bIns="0" rtlCol="0"/>
            <a:lstStyle/>
            <a:p>
              <a:endParaRPr/>
            </a:p>
          </p:txBody>
        </p:sp>
        <p:sp>
          <p:nvSpPr>
            <p:cNvPr id="9" name="object 9"/>
            <p:cNvSpPr/>
            <p:nvPr/>
          </p:nvSpPr>
          <p:spPr>
            <a:xfrm>
              <a:off x="581024" y="1824037"/>
              <a:ext cx="5277485" cy="3619500"/>
            </a:xfrm>
            <a:custGeom>
              <a:avLst/>
              <a:gdLst/>
              <a:ahLst/>
              <a:cxnLst/>
              <a:rect l="l" t="t" r="r" b="b"/>
              <a:pathLst>
                <a:path w="5277485" h="3619500">
                  <a:moveTo>
                    <a:pt x="0" y="152380"/>
                  </a:moveTo>
                  <a:lnTo>
                    <a:pt x="7768" y="104216"/>
                  </a:lnTo>
                  <a:lnTo>
                    <a:pt x="29400" y="62386"/>
                  </a:lnTo>
                  <a:lnTo>
                    <a:pt x="62386" y="29400"/>
                  </a:lnTo>
                  <a:lnTo>
                    <a:pt x="104216" y="7768"/>
                  </a:lnTo>
                  <a:lnTo>
                    <a:pt x="152380" y="0"/>
                  </a:lnTo>
                  <a:lnTo>
                    <a:pt x="5124619" y="0"/>
                  </a:lnTo>
                  <a:lnTo>
                    <a:pt x="5182932" y="11599"/>
                  </a:lnTo>
                  <a:lnTo>
                    <a:pt x="5232368" y="44631"/>
                  </a:lnTo>
                  <a:lnTo>
                    <a:pt x="5265400" y="94067"/>
                  </a:lnTo>
                  <a:lnTo>
                    <a:pt x="5276999" y="152380"/>
                  </a:lnTo>
                  <a:lnTo>
                    <a:pt x="5276999" y="3467119"/>
                  </a:lnTo>
                  <a:lnTo>
                    <a:pt x="5269231" y="3515283"/>
                  </a:lnTo>
                  <a:lnTo>
                    <a:pt x="5247599" y="3557113"/>
                  </a:lnTo>
                  <a:lnTo>
                    <a:pt x="5214613" y="3590099"/>
                  </a:lnTo>
                  <a:lnTo>
                    <a:pt x="5172783" y="3611731"/>
                  </a:lnTo>
                  <a:lnTo>
                    <a:pt x="5124619" y="3619499"/>
                  </a:lnTo>
                  <a:lnTo>
                    <a:pt x="152380" y="3619499"/>
                  </a:lnTo>
                  <a:lnTo>
                    <a:pt x="104216" y="3611731"/>
                  </a:lnTo>
                  <a:lnTo>
                    <a:pt x="62386" y="3590099"/>
                  </a:lnTo>
                  <a:lnTo>
                    <a:pt x="29400" y="3557113"/>
                  </a:lnTo>
                  <a:lnTo>
                    <a:pt x="7768" y="3515283"/>
                  </a:lnTo>
                  <a:lnTo>
                    <a:pt x="0" y="3467119"/>
                  </a:lnTo>
                  <a:lnTo>
                    <a:pt x="0" y="152380"/>
                  </a:lnTo>
                  <a:close/>
                </a:path>
              </a:pathLst>
            </a:custGeom>
            <a:ln w="14299">
              <a:solidFill>
                <a:srgbClr val="1E293B"/>
              </a:solidFill>
            </a:ln>
          </p:spPr>
          <p:txBody>
            <a:bodyPr wrap="square" lIns="0" tIns="0" rIns="0" bIns="0" rtlCol="0"/>
            <a:lstStyle/>
            <a:p>
              <a:endParaRPr/>
            </a:p>
          </p:txBody>
        </p:sp>
      </p:grpSp>
      <p:sp>
        <p:nvSpPr>
          <p:cNvPr id="10" name="object 10"/>
          <p:cNvSpPr txBox="1"/>
          <p:nvPr/>
        </p:nvSpPr>
        <p:spPr>
          <a:xfrm>
            <a:off x="1332925" y="2247843"/>
            <a:ext cx="3773681" cy="2575129"/>
          </a:xfrm>
          <a:prstGeom prst="rect">
            <a:avLst/>
          </a:prstGeom>
        </p:spPr>
        <p:txBody>
          <a:bodyPr vert="horz" wrap="square" lIns="0" tIns="12700" rIns="0" bIns="0" rtlCol="0">
            <a:spAutoFit/>
          </a:bodyPr>
          <a:lstStyle/>
          <a:p>
            <a:pPr marL="12700">
              <a:lnSpc>
                <a:spcPct val="100000"/>
              </a:lnSpc>
              <a:spcBef>
                <a:spcPts val="100"/>
              </a:spcBef>
            </a:pPr>
            <a:r>
              <a:rPr sz="1650" b="1" spc="-105" dirty="0">
                <a:solidFill>
                  <a:srgbClr val="F3F4F6"/>
                </a:solidFill>
                <a:latin typeface="Verdana"/>
                <a:cs typeface="Verdana"/>
              </a:rPr>
              <a:t>Multi-</a:t>
            </a:r>
            <a:r>
              <a:rPr sz="1650" b="1" spc="-100" dirty="0">
                <a:solidFill>
                  <a:srgbClr val="F3F4F6"/>
                </a:solidFill>
                <a:latin typeface="Verdana"/>
                <a:cs typeface="Verdana"/>
              </a:rPr>
              <a:t>File</a:t>
            </a:r>
            <a:r>
              <a:rPr sz="1650" b="1" spc="-200" dirty="0">
                <a:solidFill>
                  <a:srgbClr val="F3F4F6"/>
                </a:solidFill>
                <a:latin typeface="Verdana"/>
                <a:cs typeface="Verdana"/>
              </a:rPr>
              <a:t> </a:t>
            </a:r>
            <a:r>
              <a:rPr sz="1650" b="1" spc="-170" dirty="0">
                <a:solidFill>
                  <a:srgbClr val="F3F4F6"/>
                </a:solidFill>
                <a:latin typeface="Verdana"/>
                <a:cs typeface="Verdana"/>
              </a:rPr>
              <a:t>Integration</a:t>
            </a:r>
            <a:r>
              <a:rPr sz="1650" b="1" spc="-195" dirty="0">
                <a:solidFill>
                  <a:srgbClr val="F3F4F6"/>
                </a:solidFill>
                <a:latin typeface="Verdana"/>
                <a:cs typeface="Verdana"/>
              </a:rPr>
              <a:t> </a:t>
            </a:r>
            <a:r>
              <a:rPr sz="1650" b="1" spc="-10" dirty="0">
                <a:solidFill>
                  <a:srgbClr val="F3F4F6"/>
                </a:solidFill>
                <a:latin typeface="Verdana"/>
                <a:cs typeface="Verdana"/>
              </a:rPr>
              <a:t>Pipeline</a:t>
            </a:r>
            <a:endParaRPr sz="1650" dirty="0">
              <a:latin typeface="Verdana"/>
              <a:cs typeface="Verdana"/>
            </a:endParaRPr>
          </a:p>
          <a:p>
            <a:pPr marL="469900" marR="341630" indent="-314960">
              <a:lnSpc>
                <a:spcPct val="102299"/>
              </a:lnSpc>
              <a:spcBef>
                <a:spcPts val="1515"/>
              </a:spcBef>
              <a:buClr>
                <a:srgbClr val="94A3B8"/>
              </a:buClr>
              <a:buFont typeface="Microsoft Sans Serif"/>
              <a:buChar char="●"/>
              <a:tabLst>
                <a:tab pos="469900" algn="l"/>
              </a:tabLst>
            </a:pPr>
            <a:r>
              <a:rPr sz="1100" b="1" dirty="0">
                <a:solidFill>
                  <a:srgbClr val="F7FAFC"/>
                </a:solidFill>
                <a:latin typeface="Tahoma"/>
                <a:cs typeface="Tahoma"/>
              </a:rPr>
              <a:t>The</a:t>
            </a:r>
            <a:r>
              <a:rPr sz="1100" b="1" spc="30" dirty="0">
                <a:solidFill>
                  <a:srgbClr val="F7FAFC"/>
                </a:solidFill>
                <a:latin typeface="Tahoma"/>
                <a:cs typeface="Tahoma"/>
              </a:rPr>
              <a:t> </a:t>
            </a:r>
            <a:r>
              <a:rPr sz="1100" b="1" spc="-30" dirty="0">
                <a:solidFill>
                  <a:srgbClr val="F7FAFC"/>
                </a:solidFill>
                <a:latin typeface="Tahoma"/>
                <a:cs typeface="Tahoma"/>
              </a:rPr>
              <a:t>Fragmentation</a:t>
            </a:r>
            <a:r>
              <a:rPr sz="1100" b="1" spc="35" dirty="0">
                <a:solidFill>
                  <a:srgbClr val="F7FAFC"/>
                </a:solidFill>
                <a:latin typeface="Tahoma"/>
                <a:cs typeface="Tahoma"/>
              </a:rPr>
              <a:t> </a:t>
            </a:r>
            <a:r>
              <a:rPr sz="1100" b="1" spc="-10" dirty="0">
                <a:solidFill>
                  <a:srgbClr val="F7FAFC"/>
                </a:solidFill>
                <a:latin typeface="Tahoma"/>
                <a:cs typeface="Tahoma"/>
              </a:rPr>
              <a:t>Challenge:</a:t>
            </a:r>
            <a:r>
              <a:rPr sz="1100" b="1" spc="100" dirty="0">
                <a:solidFill>
                  <a:srgbClr val="F7FAFC"/>
                </a:solidFill>
                <a:latin typeface="Tahoma"/>
                <a:cs typeface="Tahoma"/>
              </a:rPr>
              <a:t> </a:t>
            </a:r>
            <a:r>
              <a:rPr sz="1100" spc="55" dirty="0">
                <a:solidFill>
                  <a:srgbClr val="94A3B8"/>
                </a:solidFill>
                <a:latin typeface="Tahoma"/>
                <a:cs typeface="Tahoma"/>
              </a:rPr>
              <a:t>Raw</a:t>
            </a:r>
            <a:r>
              <a:rPr sz="1100" spc="60" dirty="0">
                <a:solidFill>
                  <a:srgbClr val="94A3B8"/>
                </a:solidFill>
                <a:latin typeface="Tahoma"/>
                <a:cs typeface="Tahoma"/>
              </a:rPr>
              <a:t> </a:t>
            </a:r>
            <a:r>
              <a:rPr sz="1100" dirty="0">
                <a:solidFill>
                  <a:srgbClr val="94A3B8"/>
                </a:solidFill>
                <a:latin typeface="Tahoma"/>
                <a:cs typeface="Tahoma"/>
              </a:rPr>
              <a:t>mobility</a:t>
            </a:r>
            <a:r>
              <a:rPr sz="1100" spc="60" dirty="0">
                <a:solidFill>
                  <a:srgbClr val="94A3B8"/>
                </a:solidFill>
                <a:latin typeface="Tahoma"/>
                <a:cs typeface="Tahoma"/>
              </a:rPr>
              <a:t> </a:t>
            </a:r>
            <a:r>
              <a:rPr sz="1100" spc="-10" dirty="0">
                <a:solidFill>
                  <a:srgbClr val="94A3B8"/>
                </a:solidFill>
                <a:latin typeface="Tahoma"/>
                <a:cs typeface="Tahoma"/>
              </a:rPr>
              <a:t>transactional </a:t>
            </a:r>
            <a:r>
              <a:rPr sz="1100" spc="60" dirty="0">
                <a:solidFill>
                  <a:srgbClr val="94A3B8"/>
                </a:solidFill>
                <a:latin typeface="Tahoma"/>
                <a:cs typeface="Tahoma"/>
              </a:rPr>
              <a:t>records</a:t>
            </a:r>
            <a:r>
              <a:rPr sz="1100" spc="30" dirty="0">
                <a:solidFill>
                  <a:srgbClr val="94A3B8"/>
                </a:solidFill>
                <a:latin typeface="Tahoma"/>
                <a:cs typeface="Tahoma"/>
              </a:rPr>
              <a:t> </a:t>
            </a:r>
            <a:r>
              <a:rPr sz="1100" spc="55" dirty="0">
                <a:solidFill>
                  <a:srgbClr val="94A3B8"/>
                </a:solidFill>
                <a:latin typeface="Tahoma"/>
                <a:cs typeface="Tahoma"/>
              </a:rPr>
              <a:t>were</a:t>
            </a:r>
            <a:r>
              <a:rPr sz="1100" spc="30" dirty="0">
                <a:solidFill>
                  <a:srgbClr val="94A3B8"/>
                </a:solidFill>
                <a:latin typeface="Tahoma"/>
                <a:cs typeface="Tahoma"/>
              </a:rPr>
              <a:t> </a:t>
            </a:r>
            <a:r>
              <a:rPr sz="1100" spc="50" dirty="0">
                <a:solidFill>
                  <a:srgbClr val="94A3B8"/>
                </a:solidFill>
                <a:latin typeface="Tahoma"/>
                <a:cs typeface="Tahoma"/>
              </a:rPr>
              <a:t>heavily</a:t>
            </a:r>
            <a:r>
              <a:rPr sz="1100" spc="30" dirty="0">
                <a:solidFill>
                  <a:srgbClr val="94A3B8"/>
                </a:solidFill>
                <a:latin typeface="Tahoma"/>
                <a:cs typeface="Tahoma"/>
              </a:rPr>
              <a:t> </a:t>
            </a:r>
            <a:r>
              <a:rPr sz="1100" spc="20" dirty="0">
                <a:solidFill>
                  <a:srgbClr val="94A3B8"/>
                </a:solidFill>
                <a:latin typeface="Tahoma"/>
                <a:cs typeface="Tahoma"/>
              </a:rPr>
              <a:t>distributed</a:t>
            </a:r>
            <a:r>
              <a:rPr sz="1100" spc="30" dirty="0">
                <a:solidFill>
                  <a:srgbClr val="94A3B8"/>
                </a:solidFill>
                <a:latin typeface="Tahoma"/>
                <a:cs typeface="Tahoma"/>
              </a:rPr>
              <a:t> </a:t>
            </a:r>
            <a:r>
              <a:rPr sz="1100" spc="75" dirty="0">
                <a:solidFill>
                  <a:srgbClr val="94A3B8"/>
                </a:solidFill>
                <a:latin typeface="Tahoma"/>
                <a:cs typeface="Tahoma"/>
              </a:rPr>
              <a:t>across</a:t>
            </a:r>
            <a:r>
              <a:rPr sz="1100" spc="30" dirty="0">
                <a:solidFill>
                  <a:srgbClr val="94A3B8"/>
                </a:solidFill>
                <a:latin typeface="Tahoma"/>
                <a:cs typeface="Tahoma"/>
              </a:rPr>
              <a:t> </a:t>
            </a:r>
            <a:r>
              <a:rPr sz="1100" spc="-10" dirty="0">
                <a:solidFill>
                  <a:srgbClr val="94A3B8"/>
                </a:solidFill>
                <a:latin typeface="Tahoma"/>
                <a:cs typeface="Tahoma"/>
              </a:rPr>
              <a:t>independent, </a:t>
            </a:r>
            <a:r>
              <a:rPr sz="1100" spc="30" dirty="0">
                <a:solidFill>
                  <a:srgbClr val="94A3B8"/>
                </a:solidFill>
                <a:latin typeface="Tahoma"/>
                <a:cs typeface="Tahoma"/>
              </a:rPr>
              <a:t>monthly/seasonal</a:t>
            </a:r>
            <a:r>
              <a:rPr sz="1100" spc="90" dirty="0">
                <a:solidFill>
                  <a:srgbClr val="94A3B8"/>
                </a:solidFill>
                <a:latin typeface="Tahoma"/>
                <a:cs typeface="Tahoma"/>
              </a:rPr>
              <a:t> </a:t>
            </a:r>
            <a:r>
              <a:rPr sz="1100" spc="114" dirty="0">
                <a:solidFill>
                  <a:srgbClr val="94A3B8"/>
                </a:solidFill>
                <a:latin typeface="Tahoma"/>
                <a:cs typeface="Tahoma"/>
              </a:rPr>
              <a:t>CSV</a:t>
            </a:r>
            <a:r>
              <a:rPr sz="1100" spc="95" dirty="0">
                <a:solidFill>
                  <a:srgbClr val="94A3B8"/>
                </a:solidFill>
                <a:latin typeface="Tahoma"/>
                <a:cs typeface="Tahoma"/>
              </a:rPr>
              <a:t> </a:t>
            </a:r>
            <a:r>
              <a:rPr sz="1100" spc="40" dirty="0">
                <a:solidFill>
                  <a:srgbClr val="94A3B8"/>
                </a:solidFill>
                <a:latin typeface="Tahoma"/>
                <a:cs typeface="Tahoma"/>
              </a:rPr>
              <a:t>sheets.</a:t>
            </a:r>
            <a:endParaRPr sz="1100" dirty="0">
              <a:latin typeface="Tahoma"/>
              <a:cs typeface="Tahoma"/>
            </a:endParaRPr>
          </a:p>
          <a:p>
            <a:pPr marL="469900" marR="5080" indent="-314960">
              <a:lnSpc>
                <a:spcPct val="102299"/>
              </a:lnSpc>
              <a:spcBef>
                <a:spcPts val="900"/>
              </a:spcBef>
              <a:buClr>
                <a:srgbClr val="94A3B8"/>
              </a:buClr>
              <a:buFont typeface="Microsoft Sans Serif"/>
              <a:buChar char="●"/>
              <a:tabLst>
                <a:tab pos="469900" algn="l"/>
              </a:tabLst>
            </a:pPr>
            <a:r>
              <a:rPr sz="1100" b="1" spc="-20" dirty="0">
                <a:solidFill>
                  <a:srgbClr val="F7FAFC"/>
                </a:solidFill>
                <a:latin typeface="Tahoma"/>
                <a:cs typeface="Tahoma"/>
              </a:rPr>
              <a:t>Automated</a:t>
            </a:r>
            <a:r>
              <a:rPr sz="1100" b="1" spc="80" dirty="0">
                <a:solidFill>
                  <a:srgbClr val="F7FAFC"/>
                </a:solidFill>
                <a:latin typeface="Tahoma"/>
                <a:cs typeface="Tahoma"/>
              </a:rPr>
              <a:t> </a:t>
            </a:r>
            <a:r>
              <a:rPr sz="1100" b="1" spc="-20" dirty="0">
                <a:solidFill>
                  <a:srgbClr val="F7FAFC"/>
                </a:solidFill>
                <a:latin typeface="Tahoma"/>
                <a:cs typeface="Tahoma"/>
              </a:rPr>
              <a:t>Consolidation:</a:t>
            </a:r>
            <a:r>
              <a:rPr sz="1100" b="1" spc="140" dirty="0">
                <a:solidFill>
                  <a:srgbClr val="F7FAFC"/>
                </a:solidFill>
                <a:latin typeface="Tahoma"/>
                <a:cs typeface="Tahoma"/>
              </a:rPr>
              <a:t> </a:t>
            </a:r>
            <a:r>
              <a:rPr sz="1100" spc="55" dirty="0">
                <a:solidFill>
                  <a:srgbClr val="94A3B8"/>
                </a:solidFill>
                <a:latin typeface="Tahoma"/>
                <a:cs typeface="Tahoma"/>
              </a:rPr>
              <a:t>Developed</a:t>
            </a:r>
            <a:r>
              <a:rPr sz="1100" spc="110" dirty="0">
                <a:solidFill>
                  <a:srgbClr val="94A3B8"/>
                </a:solidFill>
                <a:latin typeface="Tahoma"/>
                <a:cs typeface="Tahoma"/>
              </a:rPr>
              <a:t> </a:t>
            </a:r>
            <a:r>
              <a:rPr sz="1100" spc="50" dirty="0">
                <a:solidFill>
                  <a:srgbClr val="94A3B8"/>
                </a:solidFill>
                <a:latin typeface="Tahoma"/>
                <a:cs typeface="Tahoma"/>
              </a:rPr>
              <a:t>a</a:t>
            </a:r>
            <a:r>
              <a:rPr sz="1100" spc="105" dirty="0">
                <a:solidFill>
                  <a:srgbClr val="94A3B8"/>
                </a:solidFill>
                <a:latin typeface="Tahoma"/>
                <a:cs typeface="Tahoma"/>
              </a:rPr>
              <a:t> </a:t>
            </a:r>
            <a:r>
              <a:rPr sz="1100" dirty="0">
                <a:solidFill>
                  <a:srgbClr val="94A3B8"/>
                </a:solidFill>
                <a:latin typeface="Tahoma"/>
                <a:cs typeface="Tahoma"/>
              </a:rPr>
              <a:t>programmatic</a:t>
            </a:r>
            <a:r>
              <a:rPr sz="1100" spc="105" dirty="0">
                <a:solidFill>
                  <a:srgbClr val="94A3B8"/>
                </a:solidFill>
                <a:latin typeface="Tahoma"/>
                <a:cs typeface="Tahoma"/>
              </a:rPr>
              <a:t> </a:t>
            </a:r>
            <a:r>
              <a:rPr sz="1100" spc="40" dirty="0">
                <a:solidFill>
                  <a:srgbClr val="94A3B8"/>
                </a:solidFill>
                <a:latin typeface="Tahoma"/>
                <a:cs typeface="Tahoma"/>
              </a:rPr>
              <a:t>pipeline </a:t>
            </a:r>
            <a:r>
              <a:rPr sz="1100" spc="55" dirty="0">
                <a:solidFill>
                  <a:srgbClr val="94A3B8"/>
                </a:solidFill>
                <a:latin typeface="Tahoma"/>
                <a:cs typeface="Tahoma"/>
              </a:rPr>
              <a:t>using</a:t>
            </a:r>
            <a:r>
              <a:rPr sz="1100" spc="-5" dirty="0">
                <a:solidFill>
                  <a:srgbClr val="94A3B8"/>
                </a:solidFill>
                <a:latin typeface="Tahoma"/>
                <a:cs typeface="Tahoma"/>
              </a:rPr>
              <a:t> </a:t>
            </a:r>
            <a:r>
              <a:rPr sz="1100" spc="65" dirty="0">
                <a:solidFill>
                  <a:srgbClr val="94A3B8"/>
                </a:solidFill>
                <a:latin typeface="Tahoma"/>
                <a:cs typeface="Tahoma"/>
              </a:rPr>
              <a:t>Python's</a:t>
            </a:r>
            <a:r>
              <a:rPr sz="1100" spc="-5" dirty="0">
                <a:solidFill>
                  <a:srgbClr val="94A3B8"/>
                </a:solidFill>
                <a:latin typeface="Tahoma"/>
                <a:cs typeface="Tahoma"/>
              </a:rPr>
              <a:t> </a:t>
            </a:r>
            <a:r>
              <a:rPr sz="1100" spc="55" dirty="0">
                <a:solidFill>
                  <a:srgbClr val="94A3B8"/>
                </a:solidFill>
                <a:latin typeface="Tahoma"/>
                <a:cs typeface="Tahoma"/>
              </a:rPr>
              <a:t>glob</a:t>
            </a:r>
            <a:r>
              <a:rPr sz="1100" spc="-5" dirty="0">
                <a:solidFill>
                  <a:srgbClr val="94A3B8"/>
                </a:solidFill>
                <a:latin typeface="Tahoma"/>
                <a:cs typeface="Tahoma"/>
              </a:rPr>
              <a:t> </a:t>
            </a:r>
            <a:r>
              <a:rPr sz="1100" spc="55" dirty="0">
                <a:solidFill>
                  <a:srgbClr val="94A3B8"/>
                </a:solidFill>
                <a:latin typeface="Tahoma"/>
                <a:cs typeface="Tahoma"/>
              </a:rPr>
              <a:t>and</a:t>
            </a:r>
            <a:r>
              <a:rPr sz="1100" dirty="0">
                <a:solidFill>
                  <a:srgbClr val="94A3B8"/>
                </a:solidFill>
                <a:latin typeface="Tahoma"/>
                <a:cs typeface="Tahoma"/>
              </a:rPr>
              <a:t> </a:t>
            </a:r>
            <a:r>
              <a:rPr sz="1100" spc="80" dirty="0">
                <a:solidFill>
                  <a:srgbClr val="94A3B8"/>
                </a:solidFill>
                <a:latin typeface="Tahoma"/>
                <a:cs typeface="Tahoma"/>
              </a:rPr>
              <a:t>os</a:t>
            </a:r>
            <a:r>
              <a:rPr sz="1100" spc="-5" dirty="0">
                <a:solidFill>
                  <a:srgbClr val="94A3B8"/>
                </a:solidFill>
                <a:latin typeface="Tahoma"/>
                <a:cs typeface="Tahoma"/>
              </a:rPr>
              <a:t> </a:t>
            </a:r>
            <a:r>
              <a:rPr sz="1100" spc="55" dirty="0">
                <a:solidFill>
                  <a:srgbClr val="94A3B8"/>
                </a:solidFill>
                <a:latin typeface="Tahoma"/>
                <a:cs typeface="Tahoma"/>
              </a:rPr>
              <a:t>modules</a:t>
            </a:r>
            <a:r>
              <a:rPr sz="1100" spc="-5" dirty="0">
                <a:solidFill>
                  <a:srgbClr val="94A3B8"/>
                </a:solidFill>
                <a:latin typeface="Tahoma"/>
                <a:cs typeface="Tahoma"/>
              </a:rPr>
              <a:t> </a:t>
            </a:r>
            <a:r>
              <a:rPr sz="1100" dirty="0">
                <a:solidFill>
                  <a:srgbClr val="94A3B8"/>
                </a:solidFill>
                <a:latin typeface="Tahoma"/>
                <a:cs typeface="Tahoma"/>
              </a:rPr>
              <a:t>to </a:t>
            </a:r>
            <a:r>
              <a:rPr sz="1100" spc="50" dirty="0">
                <a:solidFill>
                  <a:srgbClr val="94A3B8"/>
                </a:solidFill>
                <a:latin typeface="Tahoma"/>
                <a:cs typeface="Tahoma"/>
              </a:rPr>
              <a:t>dynamically</a:t>
            </a:r>
            <a:r>
              <a:rPr sz="1100" spc="-5" dirty="0">
                <a:solidFill>
                  <a:srgbClr val="94A3B8"/>
                </a:solidFill>
                <a:latin typeface="Tahoma"/>
                <a:cs typeface="Tahoma"/>
              </a:rPr>
              <a:t> </a:t>
            </a:r>
            <a:r>
              <a:rPr sz="1100" spc="65" dirty="0">
                <a:solidFill>
                  <a:srgbClr val="94A3B8"/>
                </a:solidFill>
                <a:latin typeface="Tahoma"/>
                <a:cs typeface="Tahoma"/>
              </a:rPr>
              <a:t>sweep </a:t>
            </a:r>
            <a:r>
              <a:rPr sz="1100" dirty="0">
                <a:solidFill>
                  <a:srgbClr val="94A3B8"/>
                </a:solidFill>
                <a:latin typeface="Tahoma"/>
                <a:cs typeface="Tahoma"/>
              </a:rPr>
              <a:t>target</a:t>
            </a:r>
            <a:r>
              <a:rPr sz="1100" spc="170" dirty="0">
                <a:solidFill>
                  <a:srgbClr val="94A3B8"/>
                </a:solidFill>
                <a:latin typeface="Tahoma"/>
                <a:cs typeface="Tahoma"/>
              </a:rPr>
              <a:t> </a:t>
            </a:r>
            <a:r>
              <a:rPr sz="1100" spc="-10" dirty="0">
                <a:solidFill>
                  <a:srgbClr val="94A3B8"/>
                </a:solidFill>
                <a:latin typeface="Tahoma"/>
                <a:cs typeface="Tahoma"/>
              </a:rPr>
              <a:t>paths.</a:t>
            </a:r>
            <a:endParaRPr sz="1100" dirty="0">
              <a:latin typeface="Tahoma"/>
              <a:cs typeface="Tahoma"/>
            </a:endParaRPr>
          </a:p>
          <a:p>
            <a:pPr marL="469900" marR="222250" indent="-314960">
              <a:lnSpc>
                <a:spcPct val="102299"/>
              </a:lnSpc>
              <a:spcBef>
                <a:spcPts val="900"/>
              </a:spcBef>
              <a:buClr>
                <a:srgbClr val="94A3B8"/>
              </a:buClr>
              <a:buFont typeface="Microsoft Sans Serif"/>
              <a:buChar char="●"/>
              <a:tabLst>
                <a:tab pos="469900" algn="l"/>
              </a:tabLst>
            </a:pPr>
            <a:r>
              <a:rPr sz="1100" b="1" dirty="0">
                <a:solidFill>
                  <a:srgbClr val="F7FAFC"/>
                </a:solidFill>
                <a:latin typeface="Tahoma"/>
                <a:cs typeface="Tahoma"/>
              </a:rPr>
              <a:t>High-</a:t>
            </a:r>
            <a:r>
              <a:rPr sz="1100" b="1" spc="-10" dirty="0">
                <a:solidFill>
                  <a:srgbClr val="F7FAFC"/>
                </a:solidFill>
                <a:latin typeface="Tahoma"/>
                <a:cs typeface="Tahoma"/>
              </a:rPr>
              <a:t>Performance</a:t>
            </a:r>
            <a:r>
              <a:rPr sz="1100" b="1" spc="-35" dirty="0">
                <a:solidFill>
                  <a:srgbClr val="F7FAFC"/>
                </a:solidFill>
                <a:latin typeface="Tahoma"/>
                <a:cs typeface="Tahoma"/>
              </a:rPr>
              <a:t> </a:t>
            </a:r>
            <a:r>
              <a:rPr sz="1100" b="1" dirty="0">
                <a:solidFill>
                  <a:srgbClr val="F7FAFC"/>
                </a:solidFill>
                <a:latin typeface="Tahoma"/>
                <a:cs typeface="Tahoma"/>
              </a:rPr>
              <a:t>Merge:</a:t>
            </a:r>
            <a:r>
              <a:rPr sz="1100" b="1" spc="15" dirty="0">
                <a:solidFill>
                  <a:srgbClr val="F7FAFC"/>
                </a:solidFill>
                <a:latin typeface="Tahoma"/>
                <a:cs typeface="Tahoma"/>
              </a:rPr>
              <a:t> </a:t>
            </a:r>
            <a:r>
              <a:rPr sz="1100" spc="55" dirty="0">
                <a:solidFill>
                  <a:srgbClr val="94A3B8"/>
                </a:solidFill>
                <a:latin typeface="Tahoma"/>
                <a:cs typeface="Tahoma"/>
              </a:rPr>
              <a:t>Executed</a:t>
            </a:r>
            <a:r>
              <a:rPr sz="1100" spc="-20" dirty="0">
                <a:solidFill>
                  <a:srgbClr val="94A3B8"/>
                </a:solidFill>
                <a:latin typeface="Tahoma"/>
                <a:cs typeface="Tahoma"/>
              </a:rPr>
              <a:t> </a:t>
            </a:r>
            <a:r>
              <a:rPr sz="1100" spc="50" dirty="0">
                <a:solidFill>
                  <a:srgbClr val="94A3B8"/>
                </a:solidFill>
                <a:latin typeface="Tahoma"/>
                <a:cs typeface="Tahoma"/>
              </a:rPr>
              <a:t>optimized</a:t>
            </a:r>
            <a:r>
              <a:rPr sz="1100" spc="-20" dirty="0">
                <a:solidFill>
                  <a:srgbClr val="94A3B8"/>
                </a:solidFill>
                <a:latin typeface="Tahoma"/>
                <a:cs typeface="Tahoma"/>
              </a:rPr>
              <a:t> </a:t>
            </a:r>
            <a:r>
              <a:rPr sz="1100" spc="60" dirty="0">
                <a:solidFill>
                  <a:srgbClr val="94A3B8"/>
                </a:solidFill>
                <a:latin typeface="Tahoma"/>
                <a:cs typeface="Tahoma"/>
              </a:rPr>
              <a:t>row-</a:t>
            </a:r>
            <a:r>
              <a:rPr sz="1100" spc="65" dirty="0">
                <a:solidFill>
                  <a:srgbClr val="94A3B8"/>
                </a:solidFill>
                <a:latin typeface="Tahoma"/>
                <a:cs typeface="Tahoma"/>
              </a:rPr>
              <a:t>wise </a:t>
            </a:r>
            <a:r>
              <a:rPr sz="1100" spc="50" dirty="0">
                <a:solidFill>
                  <a:srgbClr val="94A3B8"/>
                </a:solidFill>
                <a:latin typeface="Tahoma"/>
                <a:cs typeface="Tahoma"/>
              </a:rPr>
              <a:t>concatenation</a:t>
            </a:r>
            <a:r>
              <a:rPr sz="1100" spc="55" dirty="0">
                <a:solidFill>
                  <a:srgbClr val="94A3B8"/>
                </a:solidFill>
                <a:latin typeface="Tahoma"/>
                <a:cs typeface="Tahoma"/>
              </a:rPr>
              <a:t> </a:t>
            </a:r>
            <a:r>
              <a:rPr sz="1100" dirty="0">
                <a:solidFill>
                  <a:srgbClr val="94A3B8"/>
                </a:solidFill>
                <a:latin typeface="Tahoma"/>
                <a:cs typeface="Tahoma"/>
              </a:rPr>
              <a:t>via</a:t>
            </a:r>
            <a:r>
              <a:rPr sz="1100" spc="60" dirty="0">
                <a:solidFill>
                  <a:srgbClr val="94A3B8"/>
                </a:solidFill>
                <a:latin typeface="Tahoma"/>
                <a:cs typeface="Tahoma"/>
              </a:rPr>
              <a:t> </a:t>
            </a:r>
            <a:r>
              <a:rPr sz="1100" spc="55" dirty="0">
                <a:solidFill>
                  <a:srgbClr val="94A3B8"/>
                </a:solidFill>
                <a:latin typeface="Tahoma"/>
                <a:cs typeface="Tahoma"/>
              </a:rPr>
              <a:t>pd.concat </a:t>
            </a:r>
            <a:r>
              <a:rPr sz="1100" dirty="0">
                <a:solidFill>
                  <a:srgbClr val="94A3B8"/>
                </a:solidFill>
                <a:latin typeface="Tahoma"/>
                <a:cs typeface="Tahoma"/>
              </a:rPr>
              <a:t>to</a:t>
            </a:r>
            <a:r>
              <a:rPr sz="1100" spc="60" dirty="0">
                <a:solidFill>
                  <a:srgbClr val="94A3B8"/>
                </a:solidFill>
                <a:latin typeface="Tahoma"/>
                <a:cs typeface="Tahoma"/>
              </a:rPr>
              <a:t> </a:t>
            </a:r>
            <a:r>
              <a:rPr sz="1100" spc="65" dirty="0">
                <a:solidFill>
                  <a:srgbClr val="94A3B8"/>
                </a:solidFill>
                <a:latin typeface="Tahoma"/>
                <a:cs typeface="Tahoma"/>
              </a:rPr>
              <a:t>seamlessly</a:t>
            </a:r>
            <a:r>
              <a:rPr sz="1100" spc="60" dirty="0">
                <a:solidFill>
                  <a:srgbClr val="94A3B8"/>
                </a:solidFill>
                <a:latin typeface="Tahoma"/>
                <a:cs typeface="Tahoma"/>
              </a:rPr>
              <a:t> </a:t>
            </a:r>
            <a:r>
              <a:rPr sz="1100" dirty="0">
                <a:solidFill>
                  <a:srgbClr val="94A3B8"/>
                </a:solidFill>
                <a:latin typeface="Tahoma"/>
                <a:cs typeface="Tahoma"/>
              </a:rPr>
              <a:t>stitch</a:t>
            </a:r>
            <a:r>
              <a:rPr sz="1100" spc="55" dirty="0">
                <a:solidFill>
                  <a:srgbClr val="94A3B8"/>
                </a:solidFill>
                <a:latin typeface="Tahoma"/>
                <a:cs typeface="Tahoma"/>
              </a:rPr>
              <a:t> </a:t>
            </a:r>
            <a:r>
              <a:rPr sz="1100" spc="50" dirty="0">
                <a:solidFill>
                  <a:srgbClr val="94A3B8"/>
                </a:solidFill>
                <a:latin typeface="Tahoma"/>
                <a:cs typeface="Tahoma"/>
              </a:rPr>
              <a:t>files</a:t>
            </a:r>
            <a:r>
              <a:rPr sz="1100" spc="60" dirty="0">
                <a:solidFill>
                  <a:srgbClr val="94A3B8"/>
                </a:solidFill>
                <a:latin typeface="Tahoma"/>
                <a:cs typeface="Tahoma"/>
              </a:rPr>
              <a:t> </a:t>
            </a:r>
            <a:r>
              <a:rPr sz="1100" dirty="0">
                <a:solidFill>
                  <a:srgbClr val="94A3B8"/>
                </a:solidFill>
                <a:latin typeface="Tahoma"/>
                <a:cs typeface="Tahoma"/>
              </a:rPr>
              <a:t>into</a:t>
            </a:r>
            <a:r>
              <a:rPr sz="1100" spc="55" dirty="0">
                <a:solidFill>
                  <a:srgbClr val="94A3B8"/>
                </a:solidFill>
                <a:latin typeface="Tahoma"/>
                <a:cs typeface="Tahoma"/>
              </a:rPr>
              <a:t> </a:t>
            </a:r>
            <a:r>
              <a:rPr sz="1100" dirty="0">
                <a:solidFill>
                  <a:srgbClr val="94A3B8"/>
                </a:solidFill>
                <a:latin typeface="Tahoma"/>
                <a:cs typeface="Tahoma"/>
              </a:rPr>
              <a:t>a </a:t>
            </a:r>
            <a:r>
              <a:rPr sz="1100" spc="45" dirty="0">
                <a:solidFill>
                  <a:srgbClr val="94A3B8"/>
                </a:solidFill>
                <a:latin typeface="Tahoma"/>
                <a:cs typeface="Tahoma"/>
              </a:rPr>
              <a:t>unified</a:t>
            </a:r>
            <a:r>
              <a:rPr sz="1100" spc="110" dirty="0">
                <a:solidFill>
                  <a:srgbClr val="94A3B8"/>
                </a:solidFill>
                <a:latin typeface="Tahoma"/>
                <a:cs typeface="Tahoma"/>
              </a:rPr>
              <a:t> </a:t>
            </a:r>
            <a:r>
              <a:rPr sz="1100" dirty="0">
                <a:solidFill>
                  <a:srgbClr val="94A3B8"/>
                </a:solidFill>
                <a:latin typeface="Tahoma"/>
                <a:cs typeface="Tahoma"/>
              </a:rPr>
              <a:t>master</a:t>
            </a:r>
            <a:r>
              <a:rPr sz="1100" spc="114" dirty="0">
                <a:solidFill>
                  <a:srgbClr val="94A3B8"/>
                </a:solidFill>
                <a:latin typeface="Tahoma"/>
                <a:cs typeface="Tahoma"/>
              </a:rPr>
              <a:t> </a:t>
            </a:r>
            <a:r>
              <a:rPr sz="1100" spc="-10" dirty="0">
                <a:solidFill>
                  <a:srgbClr val="94A3B8"/>
                </a:solidFill>
                <a:latin typeface="Tahoma"/>
                <a:cs typeface="Tahoma"/>
              </a:rPr>
              <a:t>frame.</a:t>
            </a:r>
            <a:endParaRPr sz="1100" dirty="0">
              <a:latin typeface="Tahoma"/>
              <a:cs typeface="Tahoma"/>
            </a:endParaRPr>
          </a:p>
        </p:txBody>
      </p:sp>
      <p:grpSp>
        <p:nvGrpSpPr>
          <p:cNvPr id="11" name="object 11"/>
          <p:cNvGrpSpPr/>
          <p:nvPr/>
        </p:nvGrpSpPr>
        <p:grpSpPr>
          <a:xfrm>
            <a:off x="6326975" y="1816887"/>
            <a:ext cx="5291455" cy="3634104"/>
            <a:chOff x="6326975" y="1816887"/>
            <a:chExt cx="5291455" cy="3634104"/>
          </a:xfrm>
        </p:grpSpPr>
        <p:sp>
          <p:nvSpPr>
            <p:cNvPr id="12" name="object 12"/>
            <p:cNvSpPr/>
            <p:nvPr/>
          </p:nvSpPr>
          <p:spPr>
            <a:xfrm>
              <a:off x="6334125" y="1824037"/>
              <a:ext cx="5277485" cy="3619500"/>
            </a:xfrm>
            <a:custGeom>
              <a:avLst/>
              <a:gdLst/>
              <a:ahLst/>
              <a:cxnLst/>
              <a:rect l="l" t="t" r="r" b="b"/>
              <a:pathLst>
                <a:path w="5277484" h="3619500">
                  <a:moveTo>
                    <a:pt x="5124618" y="3619499"/>
                  </a:moveTo>
                  <a:lnTo>
                    <a:pt x="152380" y="3619499"/>
                  </a:lnTo>
                  <a:lnTo>
                    <a:pt x="104216" y="3611731"/>
                  </a:lnTo>
                  <a:lnTo>
                    <a:pt x="62386" y="3590099"/>
                  </a:lnTo>
                  <a:lnTo>
                    <a:pt x="29400" y="3557113"/>
                  </a:lnTo>
                  <a:lnTo>
                    <a:pt x="7768" y="3515283"/>
                  </a:lnTo>
                  <a:lnTo>
                    <a:pt x="0" y="3467119"/>
                  </a:lnTo>
                  <a:lnTo>
                    <a:pt x="0" y="152380"/>
                  </a:lnTo>
                  <a:lnTo>
                    <a:pt x="7768" y="104216"/>
                  </a:lnTo>
                  <a:lnTo>
                    <a:pt x="29400" y="62386"/>
                  </a:lnTo>
                  <a:lnTo>
                    <a:pt x="62386" y="29400"/>
                  </a:lnTo>
                  <a:lnTo>
                    <a:pt x="104216" y="7768"/>
                  </a:lnTo>
                  <a:lnTo>
                    <a:pt x="152380" y="0"/>
                  </a:lnTo>
                  <a:lnTo>
                    <a:pt x="5124618" y="0"/>
                  </a:lnTo>
                  <a:lnTo>
                    <a:pt x="5182932" y="11599"/>
                  </a:lnTo>
                  <a:lnTo>
                    <a:pt x="5232368" y="44631"/>
                  </a:lnTo>
                  <a:lnTo>
                    <a:pt x="5265400" y="94067"/>
                  </a:lnTo>
                  <a:lnTo>
                    <a:pt x="5276999" y="152380"/>
                  </a:lnTo>
                  <a:lnTo>
                    <a:pt x="5276999" y="3467119"/>
                  </a:lnTo>
                  <a:lnTo>
                    <a:pt x="5269231" y="3515283"/>
                  </a:lnTo>
                  <a:lnTo>
                    <a:pt x="5247599" y="3557113"/>
                  </a:lnTo>
                  <a:lnTo>
                    <a:pt x="5214613" y="3590099"/>
                  </a:lnTo>
                  <a:lnTo>
                    <a:pt x="5172782" y="3611731"/>
                  </a:lnTo>
                  <a:lnTo>
                    <a:pt x="5124618" y="3619499"/>
                  </a:lnTo>
                  <a:close/>
                </a:path>
              </a:pathLst>
            </a:custGeom>
            <a:solidFill>
              <a:srgbClr val="0F172A"/>
            </a:solidFill>
          </p:spPr>
          <p:txBody>
            <a:bodyPr wrap="square" lIns="0" tIns="0" rIns="0" bIns="0" rtlCol="0"/>
            <a:lstStyle/>
            <a:p>
              <a:endParaRPr/>
            </a:p>
          </p:txBody>
        </p:sp>
        <p:sp>
          <p:nvSpPr>
            <p:cNvPr id="13" name="object 13"/>
            <p:cNvSpPr/>
            <p:nvPr/>
          </p:nvSpPr>
          <p:spPr>
            <a:xfrm>
              <a:off x="6334125" y="1824037"/>
              <a:ext cx="5277485" cy="3619500"/>
            </a:xfrm>
            <a:custGeom>
              <a:avLst/>
              <a:gdLst/>
              <a:ahLst/>
              <a:cxnLst/>
              <a:rect l="l" t="t" r="r" b="b"/>
              <a:pathLst>
                <a:path w="5277484" h="3619500">
                  <a:moveTo>
                    <a:pt x="0" y="152380"/>
                  </a:moveTo>
                  <a:lnTo>
                    <a:pt x="7768" y="104216"/>
                  </a:lnTo>
                  <a:lnTo>
                    <a:pt x="29400" y="62386"/>
                  </a:lnTo>
                  <a:lnTo>
                    <a:pt x="62386" y="29400"/>
                  </a:lnTo>
                  <a:lnTo>
                    <a:pt x="104216" y="7768"/>
                  </a:lnTo>
                  <a:lnTo>
                    <a:pt x="152380" y="0"/>
                  </a:lnTo>
                  <a:lnTo>
                    <a:pt x="5124618" y="0"/>
                  </a:lnTo>
                  <a:lnTo>
                    <a:pt x="5182932" y="11599"/>
                  </a:lnTo>
                  <a:lnTo>
                    <a:pt x="5232368" y="44631"/>
                  </a:lnTo>
                  <a:lnTo>
                    <a:pt x="5265400" y="94067"/>
                  </a:lnTo>
                  <a:lnTo>
                    <a:pt x="5276999" y="152380"/>
                  </a:lnTo>
                  <a:lnTo>
                    <a:pt x="5276999" y="3467119"/>
                  </a:lnTo>
                  <a:lnTo>
                    <a:pt x="5269231" y="3515283"/>
                  </a:lnTo>
                  <a:lnTo>
                    <a:pt x="5247599" y="3557113"/>
                  </a:lnTo>
                  <a:lnTo>
                    <a:pt x="5214613" y="3590099"/>
                  </a:lnTo>
                  <a:lnTo>
                    <a:pt x="5172782" y="3611731"/>
                  </a:lnTo>
                  <a:lnTo>
                    <a:pt x="5124618" y="3619499"/>
                  </a:lnTo>
                  <a:lnTo>
                    <a:pt x="152380" y="3619499"/>
                  </a:lnTo>
                  <a:lnTo>
                    <a:pt x="104216" y="3611731"/>
                  </a:lnTo>
                  <a:lnTo>
                    <a:pt x="62386" y="3590099"/>
                  </a:lnTo>
                  <a:lnTo>
                    <a:pt x="29400" y="3557113"/>
                  </a:lnTo>
                  <a:lnTo>
                    <a:pt x="7768" y="3515283"/>
                  </a:lnTo>
                  <a:lnTo>
                    <a:pt x="0" y="3467119"/>
                  </a:lnTo>
                  <a:lnTo>
                    <a:pt x="0" y="152380"/>
                  </a:lnTo>
                  <a:close/>
                </a:path>
              </a:pathLst>
            </a:custGeom>
            <a:ln w="14299">
              <a:solidFill>
                <a:srgbClr val="1E293B"/>
              </a:solidFill>
            </a:ln>
          </p:spPr>
          <p:txBody>
            <a:bodyPr wrap="square" lIns="0" tIns="0" rIns="0" bIns="0" rtlCol="0"/>
            <a:lstStyle/>
            <a:p>
              <a:endParaRPr/>
            </a:p>
          </p:txBody>
        </p:sp>
      </p:grpSp>
      <p:sp>
        <p:nvSpPr>
          <p:cNvPr id="14" name="object 14"/>
          <p:cNvSpPr txBox="1"/>
          <p:nvPr/>
        </p:nvSpPr>
        <p:spPr>
          <a:xfrm>
            <a:off x="7175888" y="2132927"/>
            <a:ext cx="3373166" cy="3001719"/>
          </a:xfrm>
          <a:prstGeom prst="rect">
            <a:avLst/>
          </a:prstGeom>
        </p:spPr>
        <p:txBody>
          <a:bodyPr vert="horz" wrap="square" lIns="0" tIns="12700" rIns="0" bIns="0" rtlCol="0">
            <a:spAutoFit/>
          </a:bodyPr>
          <a:lstStyle/>
          <a:p>
            <a:pPr marL="12700">
              <a:lnSpc>
                <a:spcPct val="100000"/>
              </a:lnSpc>
              <a:spcBef>
                <a:spcPts val="100"/>
              </a:spcBef>
            </a:pPr>
            <a:r>
              <a:rPr sz="1650" b="1" spc="-175" dirty="0">
                <a:solidFill>
                  <a:srgbClr val="F3F4F6"/>
                </a:solidFill>
                <a:latin typeface="Verdana"/>
                <a:cs typeface="Verdana"/>
              </a:rPr>
              <a:t>Wrangling</a:t>
            </a:r>
            <a:r>
              <a:rPr sz="1650" b="1" spc="-225" dirty="0">
                <a:solidFill>
                  <a:srgbClr val="F3F4F6"/>
                </a:solidFill>
                <a:latin typeface="Verdana"/>
                <a:cs typeface="Verdana"/>
              </a:rPr>
              <a:t> </a:t>
            </a:r>
            <a:r>
              <a:rPr sz="1650" b="1" spc="-135" dirty="0">
                <a:solidFill>
                  <a:srgbClr val="F3F4F6"/>
                </a:solidFill>
                <a:latin typeface="Verdana"/>
                <a:cs typeface="Verdana"/>
              </a:rPr>
              <a:t>&amp;</a:t>
            </a:r>
            <a:r>
              <a:rPr sz="1650" b="1" spc="-220" dirty="0">
                <a:solidFill>
                  <a:srgbClr val="F3F4F6"/>
                </a:solidFill>
                <a:latin typeface="Verdana"/>
                <a:cs typeface="Verdana"/>
              </a:rPr>
              <a:t> </a:t>
            </a:r>
            <a:r>
              <a:rPr sz="1650" b="1" spc="-150" dirty="0">
                <a:solidFill>
                  <a:srgbClr val="F3F4F6"/>
                </a:solidFill>
                <a:latin typeface="Verdana"/>
                <a:cs typeface="Verdana"/>
              </a:rPr>
              <a:t>Feature</a:t>
            </a:r>
            <a:r>
              <a:rPr sz="1650" b="1" spc="-220" dirty="0">
                <a:solidFill>
                  <a:srgbClr val="F3F4F6"/>
                </a:solidFill>
                <a:latin typeface="Verdana"/>
                <a:cs typeface="Verdana"/>
              </a:rPr>
              <a:t> </a:t>
            </a:r>
            <a:r>
              <a:rPr sz="1650" b="1" spc="-55" dirty="0">
                <a:solidFill>
                  <a:srgbClr val="F3F4F6"/>
                </a:solidFill>
                <a:latin typeface="Verdana"/>
                <a:cs typeface="Verdana"/>
              </a:rPr>
              <a:t>Engineering</a:t>
            </a:r>
            <a:endParaRPr sz="1650" dirty="0">
              <a:latin typeface="Verdana"/>
              <a:cs typeface="Verdana"/>
            </a:endParaRPr>
          </a:p>
          <a:p>
            <a:pPr marL="469900" marR="43180" indent="-314960">
              <a:lnSpc>
                <a:spcPct val="102299"/>
              </a:lnSpc>
              <a:spcBef>
                <a:spcPts val="1515"/>
              </a:spcBef>
              <a:buClr>
                <a:srgbClr val="94A3B8"/>
              </a:buClr>
              <a:buFont typeface="Microsoft Sans Serif"/>
              <a:buChar char="●"/>
              <a:tabLst>
                <a:tab pos="469900" algn="l"/>
              </a:tabLst>
            </a:pPr>
            <a:r>
              <a:rPr sz="1100" b="1" dirty="0">
                <a:solidFill>
                  <a:srgbClr val="F7FAFC"/>
                </a:solidFill>
                <a:latin typeface="Tahoma"/>
                <a:cs typeface="Tahoma"/>
              </a:rPr>
              <a:t>Missing</a:t>
            </a:r>
            <a:r>
              <a:rPr sz="1100" b="1" spc="-40" dirty="0">
                <a:solidFill>
                  <a:srgbClr val="F7FAFC"/>
                </a:solidFill>
                <a:latin typeface="Tahoma"/>
                <a:cs typeface="Tahoma"/>
              </a:rPr>
              <a:t> </a:t>
            </a:r>
            <a:r>
              <a:rPr sz="1100" b="1" spc="-35" dirty="0">
                <a:solidFill>
                  <a:srgbClr val="F7FAFC"/>
                </a:solidFill>
                <a:latin typeface="Tahoma"/>
                <a:cs typeface="Tahoma"/>
              </a:rPr>
              <a:t>Data </a:t>
            </a:r>
            <a:r>
              <a:rPr sz="1100" b="1" spc="-30" dirty="0">
                <a:solidFill>
                  <a:srgbClr val="F7FAFC"/>
                </a:solidFill>
                <a:latin typeface="Tahoma"/>
                <a:cs typeface="Tahoma"/>
              </a:rPr>
              <a:t>Mitigation:</a:t>
            </a:r>
            <a:r>
              <a:rPr sz="1100" b="1" spc="20" dirty="0">
                <a:solidFill>
                  <a:srgbClr val="F7FAFC"/>
                </a:solidFill>
                <a:latin typeface="Tahoma"/>
                <a:cs typeface="Tahoma"/>
              </a:rPr>
              <a:t> </a:t>
            </a:r>
            <a:r>
              <a:rPr sz="1100" spc="85" dirty="0">
                <a:solidFill>
                  <a:srgbClr val="94A3B8"/>
                </a:solidFill>
                <a:latin typeface="Tahoma"/>
                <a:cs typeface="Tahoma"/>
              </a:rPr>
              <a:t>Used</a:t>
            </a:r>
            <a:r>
              <a:rPr sz="1100" spc="-20" dirty="0">
                <a:solidFill>
                  <a:srgbClr val="94A3B8"/>
                </a:solidFill>
                <a:latin typeface="Tahoma"/>
                <a:cs typeface="Tahoma"/>
              </a:rPr>
              <a:t> </a:t>
            </a:r>
            <a:r>
              <a:rPr sz="1100" spc="55" dirty="0">
                <a:solidFill>
                  <a:srgbClr val="94A3B8"/>
                </a:solidFill>
                <a:latin typeface="Tahoma"/>
                <a:cs typeface="Tahoma"/>
              </a:rPr>
              <a:t>missing</a:t>
            </a:r>
            <a:r>
              <a:rPr sz="1100" spc="-20" dirty="0">
                <a:solidFill>
                  <a:srgbClr val="94A3B8"/>
                </a:solidFill>
                <a:latin typeface="Tahoma"/>
                <a:cs typeface="Tahoma"/>
              </a:rPr>
              <a:t> </a:t>
            </a:r>
            <a:r>
              <a:rPr sz="1100" spc="50" dirty="0">
                <a:solidFill>
                  <a:srgbClr val="94A3B8"/>
                </a:solidFill>
                <a:latin typeface="Tahoma"/>
                <a:cs typeface="Tahoma"/>
              </a:rPr>
              <a:t>value</a:t>
            </a:r>
            <a:r>
              <a:rPr sz="1100" spc="-20" dirty="0">
                <a:solidFill>
                  <a:srgbClr val="94A3B8"/>
                </a:solidFill>
                <a:latin typeface="Tahoma"/>
                <a:cs typeface="Tahoma"/>
              </a:rPr>
              <a:t> </a:t>
            </a:r>
            <a:r>
              <a:rPr sz="1100" spc="55" dirty="0">
                <a:solidFill>
                  <a:srgbClr val="94A3B8"/>
                </a:solidFill>
                <a:latin typeface="Tahoma"/>
                <a:cs typeface="Tahoma"/>
              </a:rPr>
              <a:t>heatmaps</a:t>
            </a:r>
            <a:r>
              <a:rPr sz="1100" spc="-20" dirty="0">
                <a:solidFill>
                  <a:srgbClr val="94A3B8"/>
                </a:solidFill>
                <a:latin typeface="Tahoma"/>
                <a:cs typeface="Tahoma"/>
              </a:rPr>
              <a:t> </a:t>
            </a:r>
            <a:r>
              <a:rPr sz="1100" spc="-25" dirty="0">
                <a:solidFill>
                  <a:srgbClr val="94A3B8"/>
                </a:solidFill>
                <a:latin typeface="Tahoma"/>
                <a:cs typeface="Tahoma"/>
              </a:rPr>
              <a:t>to </a:t>
            </a:r>
            <a:r>
              <a:rPr sz="1100" spc="45" dirty="0">
                <a:solidFill>
                  <a:srgbClr val="94A3B8"/>
                </a:solidFill>
                <a:latin typeface="Tahoma"/>
                <a:cs typeface="Tahoma"/>
              </a:rPr>
              <a:t>isolate</a:t>
            </a:r>
            <a:r>
              <a:rPr sz="1100" spc="20" dirty="0">
                <a:solidFill>
                  <a:srgbClr val="94A3B8"/>
                </a:solidFill>
                <a:latin typeface="Tahoma"/>
                <a:cs typeface="Tahoma"/>
              </a:rPr>
              <a:t> </a:t>
            </a:r>
            <a:r>
              <a:rPr sz="1100" spc="10" dirty="0">
                <a:solidFill>
                  <a:srgbClr val="94A3B8"/>
                </a:solidFill>
                <a:latin typeface="Tahoma"/>
                <a:cs typeface="Tahoma"/>
              </a:rPr>
              <a:t>structural</a:t>
            </a:r>
            <a:r>
              <a:rPr sz="1100" spc="25" dirty="0">
                <a:solidFill>
                  <a:srgbClr val="94A3B8"/>
                </a:solidFill>
                <a:latin typeface="Tahoma"/>
                <a:cs typeface="Tahoma"/>
              </a:rPr>
              <a:t> </a:t>
            </a:r>
            <a:r>
              <a:rPr sz="1100" spc="50" dirty="0">
                <a:solidFill>
                  <a:srgbClr val="94A3B8"/>
                </a:solidFill>
                <a:latin typeface="Tahoma"/>
                <a:cs typeface="Tahoma"/>
              </a:rPr>
              <a:t>gaps,</a:t>
            </a:r>
            <a:r>
              <a:rPr sz="1100" spc="25" dirty="0">
                <a:solidFill>
                  <a:srgbClr val="94A3B8"/>
                </a:solidFill>
                <a:latin typeface="Tahoma"/>
                <a:cs typeface="Tahoma"/>
              </a:rPr>
              <a:t> </a:t>
            </a:r>
            <a:r>
              <a:rPr sz="1100" spc="60" dirty="0">
                <a:solidFill>
                  <a:srgbClr val="94A3B8"/>
                </a:solidFill>
                <a:latin typeface="Tahoma"/>
                <a:cs typeface="Tahoma"/>
              </a:rPr>
              <a:t>cleanly</a:t>
            </a:r>
            <a:r>
              <a:rPr sz="1100" spc="25" dirty="0">
                <a:solidFill>
                  <a:srgbClr val="94A3B8"/>
                </a:solidFill>
                <a:latin typeface="Tahoma"/>
                <a:cs typeface="Tahoma"/>
              </a:rPr>
              <a:t> </a:t>
            </a:r>
            <a:r>
              <a:rPr sz="1100" spc="50" dirty="0">
                <a:solidFill>
                  <a:srgbClr val="94A3B8"/>
                </a:solidFill>
                <a:latin typeface="Tahoma"/>
                <a:cs typeface="Tahoma"/>
              </a:rPr>
              <a:t>dropping</a:t>
            </a:r>
            <a:r>
              <a:rPr sz="1100" spc="25" dirty="0">
                <a:solidFill>
                  <a:srgbClr val="94A3B8"/>
                </a:solidFill>
                <a:latin typeface="Tahoma"/>
                <a:cs typeface="Tahoma"/>
              </a:rPr>
              <a:t> </a:t>
            </a:r>
            <a:r>
              <a:rPr sz="1100" spc="60" dirty="0">
                <a:solidFill>
                  <a:srgbClr val="94A3B8"/>
                </a:solidFill>
                <a:latin typeface="Tahoma"/>
                <a:cs typeface="Tahoma"/>
              </a:rPr>
              <a:t>records</a:t>
            </a:r>
            <a:r>
              <a:rPr sz="1100" spc="25" dirty="0">
                <a:solidFill>
                  <a:srgbClr val="94A3B8"/>
                </a:solidFill>
                <a:latin typeface="Tahoma"/>
                <a:cs typeface="Tahoma"/>
              </a:rPr>
              <a:t> </a:t>
            </a:r>
            <a:r>
              <a:rPr sz="1100" spc="50" dirty="0">
                <a:solidFill>
                  <a:srgbClr val="94A3B8"/>
                </a:solidFill>
                <a:latin typeface="Tahoma"/>
                <a:cs typeface="Tahoma"/>
              </a:rPr>
              <a:t>lacking</a:t>
            </a:r>
            <a:r>
              <a:rPr sz="1100" spc="25" dirty="0">
                <a:solidFill>
                  <a:srgbClr val="94A3B8"/>
                </a:solidFill>
                <a:latin typeface="Tahoma"/>
                <a:cs typeface="Tahoma"/>
              </a:rPr>
              <a:t> </a:t>
            </a:r>
            <a:r>
              <a:rPr sz="1100" spc="-10" dirty="0">
                <a:solidFill>
                  <a:srgbClr val="94A3B8"/>
                </a:solidFill>
                <a:latin typeface="Tahoma"/>
                <a:cs typeface="Tahoma"/>
              </a:rPr>
              <a:t>vital </a:t>
            </a:r>
            <a:r>
              <a:rPr sz="1100" spc="45" dirty="0">
                <a:solidFill>
                  <a:srgbClr val="94A3B8"/>
                </a:solidFill>
                <a:latin typeface="Tahoma"/>
                <a:cs typeface="Tahoma"/>
              </a:rPr>
              <a:t>location</a:t>
            </a:r>
            <a:r>
              <a:rPr sz="1100" spc="-15" dirty="0">
                <a:solidFill>
                  <a:srgbClr val="94A3B8"/>
                </a:solidFill>
                <a:latin typeface="Tahoma"/>
                <a:cs typeface="Tahoma"/>
              </a:rPr>
              <a:t> </a:t>
            </a:r>
            <a:r>
              <a:rPr sz="1100" spc="-10" dirty="0">
                <a:solidFill>
                  <a:srgbClr val="94A3B8"/>
                </a:solidFill>
                <a:latin typeface="Tahoma"/>
                <a:cs typeface="Tahoma"/>
              </a:rPr>
              <a:t>names.</a:t>
            </a:r>
            <a:endParaRPr sz="1100" dirty="0">
              <a:latin typeface="Tahoma"/>
              <a:cs typeface="Tahoma"/>
            </a:endParaRPr>
          </a:p>
          <a:p>
            <a:pPr marL="469900" marR="256540" indent="-314960">
              <a:lnSpc>
                <a:spcPct val="102299"/>
              </a:lnSpc>
              <a:spcBef>
                <a:spcPts val="900"/>
              </a:spcBef>
              <a:buClr>
                <a:srgbClr val="94A3B8"/>
              </a:buClr>
              <a:buFont typeface="Microsoft Sans Serif"/>
              <a:buChar char="●"/>
              <a:tabLst>
                <a:tab pos="469900" algn="l"/>
              </a:tabLst>
            </a:pPr>
            <a:r>
              <a:rPr sz="1100" b="1" spc="-25" dirty="0">
                <a:solidFill>
                  <a:srgbClr val="F7FAFC"/>
                </a:solidFill>
                <a:latin typeface="Tahoma"/>
                <a:cs typeface="Tahoma"/>
              </a:rPr>
              <a:t>Temporal</a:t>
            </a:r>
            <a:r>
              <a:rPr sz="1100" b="1" spc="-15" dirty="0">
                <a:solidFill>
                  <a:srgbClr val="F7FAFC"/>
                </a:solidFill>
                <a:latin typeface="Tahoma"/>
                <a:cs typeface="Tahoma"/>
              </a:rPr>
              <a:t> </a:t>
            </a:r>
            <a:r>
              <a:rPr sz="1100" b="1" dirty="0">
                <a:solidFill>
                  <a:srgbClr val="F7FAFC"/>
                </a:solidFill>
                <a:latin typeface="Tahoma"/>
                <a:cs typeface="Tahoma"/>
              </a:rPr>
              <a:t>Casting:</a:t>
            </a:r>
            <a:r>
              <a:rPr sz="1100" b="1" spc="50" dirty="0">
                <a:solidFill>
                  <a:srgbClr val="F7FAFC"/>
                </a:solidFill>
                <a:latin typeface="Tahoma"/>
                <a:cs typeface="Tahoma"/>
              </a:rPr>
              <a:t> </a:t>
            </a:r>
            <a:r>
              <a:rPr sz="1100" spc="50" dirty="0">
                <a:solidFill>
                  <a:srgbClr val="94A3B8"/>
                </a:solidFill>
                <a:latin typeface="Tahoma"/>
                <a:cs typeface="Tahoma"/>
              </a:rPr>
              <a:t>Transformed</a:t>
            </a:r>
            <a:r>
              <a:rPr sz="1100" spc="5" dirty="0">
                <a:solidFill>
                  <a:srgbClr val="94A3B8"/>
                </a:solidFill>
                <a:latin typeface="Tahoma"/>
                <a:cs typeface="Tahoma"/>
              </a:rPr>
              <a:t> </a:t>
            </a:r>
            <a:r>
              <a:rPr sz="1100" spc="55" dirty="0">
                <a:solidFill>
                  <a:srgbClr val="94A3B8"/>
                </a:solidFill>
                <a:latin typeface="Tahoma"/>
                <a:cs typeface="Tahoma"/>
              </a:rPr>
              <a:t>raw</a:t>
            </a:r>
            <a:r>
              <a:rPr sz="1100" spc="10" dirty="0">
                <a:solidFill>
                  <a:srgbClr val="94A3B8"/>
                </a:solidFill>
                <a:latin typeface="Tahoma"/>
                <a:cs typeface="Tahoma"/>
              </a:rPr>
              <a:t> </a:t>
            </a:r>
            <a:r>
              <a:rPr sz="1100" dirty="0">
                <a:solidFill>
                  <a:srgbClr val="94A3B8"/>
                </a:solidFill>
                <a:latin typeface="Tahoma"/>
                <a:cs typeface="Tahoma"/>
              </a:rPr>
              <a:t>string</a:t>
            </a:r>
            <a:r>
              <a:rPr sz="1100" spc="10" dirty="0">
                <a:solidFill>
                  <a:srgbClr val="94A3B8"/>
                </a:solidFill>
                <a:latin typeface="Tahoma"/>
                <a:cs typeface="Tahoma"/>
              </a:rPr>
              <a:t> </a:t>
            </a:r>
            <a:r>
              <a:rPr sz="1100" spc="55" dirty="0">
                <a:solidFill>
                  <a:srgbClr val="94A3B8"/>
                </a:solidFill>
                <a:latin typeface="Tahoma"/>
                <a:cs typeface="Tahoma"/>
              </a:rPr>
              <a:t>objects</a:t>
            </a:r>
            <a:r>
              <a:rPr sz="1100" spc="10" dirty="0">
                <a:solidFill>
                  <a:srgbClr val="94A3B8"/>
                </a:solidFill>
                <a:latin typeface="Tahoma"/>
                <a:cs typeface="Tahoma"/>
              </a:rPr>
              <a:t> </a:t>
            </a:r>
            <a:r>
              <a:rPr sz="1100" spc="-20" dirty="0">
                <a:solidFill>
                  <a:srgbClr val="94A3B8"/>
                </a:solidFill>
                <a:latin typeface="Tahoma"/>
                <a:cs typeface="Tahoma"/>
              </a:rPr>
              <a:t>into </a:t>
            </a:r>
            <a:r>
              <a:rPr sz="1100" spc="45" dirty="0">
                <a:solidFill>
                  <a:srgbClr val="94A3B8"/>
                </a:solidFill>
                <a:latin typeface="Tahoma"/>
                <a:cs typeface="Tahoma"/>
              </a:rPr>
              <a:t>standard</a:t>
            </a:r>
            <a:r>
              <a:rPr sz="1100" spc="130" dirty="0">
                <a:solidFill>
                  <a:srgbClr val="94A3B8"/>
                </a:solidFill>
                <a:latin typeface="Tahoma"/>
                <a:cs typeface="Tahoma"/>
              </a:rPr>
              <a:t> </a:t>
            </a:r>
            <a:r>
              <a:rPr sz="1100" spc="20" dirty="0">
                <a:solidFill>
                  <a:srgbClr val="94A3B8"/>
                </a:solidFill>
                <a:latin typeface="Tahoma"/>
                <a:cs typeface="Tahoma"/>
              </a:rPr>
              <a:t>datetime</a:t>
            </a:r>
            <a:r>
              <a:rPr sz="1100" spc="135" dirty="0">
                <a:solidFill>
                  <a:srgbClr val="94A3B8"/>
                </a:solidFill>
                <a:latin typeface="Tahoma"/>
                <a:cs typeface="Tahoma"/>
              </a:rPr>
              <a:t> </a:t>
            </a:r>
            <a:r>
              <a:rPr sz="1100" spc="20" dirty="0">
                <a:solidFill>
                  <a:srgbClr val="94A3B8"/>
                </a:solidFill>
                <a:latin typeface="Tahoma"/>
                <a:cs typeface="Tahoma"/>
              </a:rPr>
              <a:t>structures</a:t>
            </a:r>
            <a:r>
              <a:rPr sz="1100" spc="130" dirty="0">
                <a:solidFill>
                  <a:srgbClr val="94A3B8"/>
                </a:solidFill>
                <a:latin typeface="Tahoma"/>
                <a:cs typeface="Tahoma"/>
              </a:rPr>
              <a:t> </a:t>
            </a:r>
            <a:r>
              <a:rPr sz="1100" spc="20" dirty="0">
                <a:solidFill>
                  <a:srgbClr val="94A3B8"/>
                </a:solidFill>
                <a:latin typeface="Tahoma"/>
                <a:cs typeface="Tahoma"/>
              </a:rPr>
              <a:t>(datetime64[ns])</a:t>
            </a:r>
            <a:r>
              <a:rPr sz="1100" spc="135" dirty="0">
                <a:solidFill>
                  <a:srgbClr val="94A3B8"/>
                </a:solidFill>
                <a:latin typeface="Tahoma"/>
                <a:cs typeface="Tahoma"/>
              </a:rPr>
              <a:t> </a:t>
            </a:r>
            <a:r>
              <a:rPr sz="1100" spc="20" dirty="0">
                <a:solidFill>
                  <a:srgbClr val="94A3B8"/>
                </a:solidFill>
                <a:latin typeface="Tahoma"/>
                <a:cs typeface="Tahoma"/>
              </a:rPr>
              <a:t>for</a:t>
            </a:r>
            <a:r>
              <a:rPr sz="1100" spc="130" dirty="0">
                <a:solidFill>
                  <a:srgbClr val="94A3B8"/>
                </a:solidFill>
                <a:latin typeface="Tahoma"/>
                <a:cs typeface="Tahoma"/>
              </a:rPr>
              <a:t> </a:t>
            </a:r>
            <a:r>
              <a:rPr sz="1100" spc="55" dirty="0">
                <a:solidFill>
                  <a:srgbClr val="94A3B8"/>
                </a:solidFill>
                <a:latin typeface="Tahoma"/>
                <a:cs typeface="Tahoma"/>
              </a:rPr>
              <a:t>precise chronological</a:t>
            </a:r>
            <a:r>
              <a:rPr sz="1100" spc="-15" dirty="0">
                <a:solidFill>
                  <a:srgbClr val="94A3B8"/>
                </a:solidFill>
                <a:latin typeface="Tahoma"/>
                <a:cs typeface="Tahoma"/>
              </a:rPr>
              <a:t> </a:t>
            </a:r>
            <a:r>
              <a:rPr sz="1100" spc="-10" dirty="0">
                <a:solidFill>
                  <a:srgbClr val="94A3B8"/>
                </a:solidFill>
                <a:latin typeface="Tahoma"/>
                <a:cs typeface="Tahoma"/>
              </a:rPr>
              <a:t>tracking.</a:t>
            </a:r>
            <a:endParaRPr sz="1100" dirty="0">
              <a:latin typeface="Tahoma"/>
              <a:cs typeface="Tahoma"/>
            </a:endParaRPr>
          </a:p>
          <a:p>
            <a:pPr marL="469900" marR="5080" indent="-314960">
              <a:lnSpc>
                <a:spcPct val="102299"/>
              </a:lnSpc>
              <a:spcBef>
                <a:spcPts val="900"/>
              </a:spcBef>
              <a:buClr>
                <a:srgbClr val="94A3B8"/>
              </a:buClr>
              <a:buFont typeface="Microsoft Sans Serif"/>
              <a:buChar char="●"/>
              <a:tabLst>
                <a:tab pos="469900" algn="l"/>
              </a:tabLst>
            </a:pPr>
            <a:r>
              <a:rPr sz="1100" b="1" spc="-25" dirty="0">
                <a:solidFill>
                  <a:srgbClr val="F7FAFC"/>
                </a:solidFill>
                <a:latin typeface="Tahoma"/>
                <a:cs typeface="Tahoma"/>
              </a:rPr>
              <a:t>Feature</a:t>
            </a:r>
            <a:r>
              <a:rPr sz="1100" b="1" spc="25" dirty="0">
                <a:solidFill>
                  <a:srgbClr val="F7FAFC"/>
                </a:solidFill>
                <a:latin typeface="Tahoma"/>
                <a:cs typeface="Tahoma"/>
              </a:rPr>
              <a:t> </a:t>
            </a:r>
            <a:r>
              <a:rPr sz="1100" b="1" spc="-25" dirty="0">
                <a:solidFill>
                  <a:srgbClr val="F7FAFC"/>
                </a:solidFill>
                <a:latin typeface="Tahoma"/>
                <a:cs typeface="Tahoma"/>
              </a:rPr>
              <a:t>Extraction:</a:t>
            </a:r>
            <a:r>
              <a:rPr sz="1100" b="1" spc="95" dirty="0">
                <a:solidFill>
                  <a:srgbClr val="F7FAFC"/>
                </a:solidFill>
                <a:latin typeface="Tahoma"/>
                <a:cs typeface="Tahoma"/>
              </a:rPr>
              <a:t> </a:t>
            </a:r>
            <a:r>
              <a:rPr sz="1100" spc="50" dirty="0">
                <a:solidFill>
                  <a:srgbClr val="94A3B8"/>
                </a:solidFill>
                <a:latin typeface="Tahoma"/>
                <a:cs typeface="Tahoma"/>
              </a:rPr>
              <a:t>Extracted</a:t>
            </a:r>
            <a:r>
              <a:rPr sz="1100" spc="55" dirty="0">
                <a:solidFill>
                  <a:srgbClr val="94A3B8"/>
                </a:solidFill>
                <a:latin typeface="Tahoma"/>
                <a:cs typeface="Tahoma"/>
              </a:rPr>
              <a:t> </a:t>
            </a:r>
            <a:r>
              <a:rPr sz="1100" spc="70" dirty="0">
                <a:solidFill>
                  <a:srgbClr val="94A3B8"/>
                </a:solidFill>
                <a:latin typeface="Tahoma"/>
                <a:cs typeface="Tahoma"/>
              </a:rPr>
              <a:t>new</a:t>
            </a:r>
            <a:r>
              <a:rPr sz="1100" spc="50" dirty="0">
                <a:solidFill>
                  <a:srgbClr val="94A3B8"/>
                </a:solidFill>
                <a:latin typeface="Tahoma"/>
                <a:cs typeface="Tahoma"/>
              </a:rPr>
              <a:t> fields</a:t>
            </a:r>
            <a:r>
              <a:rPr sz="1100" spc="55" dirty="0">
                <a:solidFill>
                  <a:srgbClr val="94A3B8"/>
                </a:solidFill>
                <a:latin typeface="Tahoma"/>
                <a:cs typeface="Tahoma"/>
              </a:rPr>
              <a:t> </a:t>
            </a:r>
            <a:r>
              <a:rPr sz="1100" dirty="0">
                <a:solidFill>
                  <a:srgbClr val="94A3B8"/>
                </a:solidFill>
                <a:latin typeface="Tahoma"/>
                <a:cs typeface="Tahoma"/>
              </a:rPr>
              <a:t>including</a:t>
            </a:r>
            <a:r>
              <a:rPr sz="1100" spc="50" dirty="0">
                <a:solidFill>
                  <a:srgbClr val="94A3B8"/>
                </a:solidFill>
                <a:latin typeface="Tahoma"/>
                <a:cs typeface="Tahoma"/>
              </a:rPr>
              <a:t> </a:t>
            </a:r>
            <a:r>
              <a:rPr sz="1100" spc="-10" dirty="0">
                <a:solidFill>
                  <a:srgbClr val="94A3B8"/>
                </a:solidFill>
                <a:latin typeface="Tahoma"/>
                <a:cs typeface="Tahoma"/>
              </a:rPr>
              <a:t>start_hour, </a:t>
            </a:r>
            <a:r>
              <a:rPr sz="1100" spc="20" dirty="0">
                <a:solidFill>
                  <a:srgbClr val="94A3B8"/>
                </a:solidFill>
                <a:latin typeface="Tahoma"/>
                <a:cs typeface="Tahoma"/>
              </a:rPr>
              <a:t>day_of_week,</a:t>
            </a:r>
            <a:r>
              <a:rPr sz="1100" spc="25" dirty="0">
                <a:solidFill>
                  <a:srgbClr val="94A3B8"/>
                </a:solidFill>
                <a:latin typeface="Tahoma"/>
                <a:cs typeface="Tahoma"/>
              </a:rPr>
              <a:t> </a:t>
            </a:r>
            <a:r>
              <a:rPr sz="1100" spc="55" dirty="0">
                <a:solidFill>
                  <a:srgbClr val="94A3B8"/>
                </a:solidFill>
                <a:latin typeface="Tahoma"/>
                <a:cs typeface="Tahoma"/>
              </a:rPr>
              <a:t>and</a:t>
            </a:r>
            <a:r>
              <a:rPr sz="1100" spc="30" dirty="0">
                <a:solidFill>
                  <a:srgbClr val="94A3B8"/>
                </a:solidFill>
                <a:latin typeface="Tahoma"/>
                <a:cs typeface="Tahoma"/>
              </a:rPr>
              <a:t> </a:t>
            </a:r>
            <a:r>
              <a:rPr sz="1100" spc="20" dirty="0">
                <a:solidFill>
                  <a:srgbClr val="94A3B8"/>
                </a:solidFill>
                <a:latin typeface="Tahoma"/>
                <a:cs typeface="Tahoma"/>
              </a:rPr>
              <a:t>month,</a:t>
            </a:r>
            <a:r>
              <a:rPr sz="1100" spc="30" dirty="0">
                <a:solidFill>
                  <a:srgbClr val="94A3B8"/>
                </a:solidFill>
                <a:latin typeface="Tahoma"/>
                <a:cs typeface="Tahoma"/>
              </a:rPr>
              <a:t> </a:t>
            </a:r>
            <a:r>
              <a:rPr sz="1100" spc="55" dirty="0">
                <a:solidFill>
                  <a:srgbClr val="94A3B8"/>
                </a:solidFill>
                <a:latin typeface="Tahoma"/>
                <a:cs typeface="Tahoma"/>
              </a:rPr>
              <a:t>and</a:t>
            </a:r>
            <a:r>
              <a:rPr sz="1100" spc="30" dirty="0">
                <a:solidFill>
                  <a:srgbClr val="94A3B8"/>
                </a:solidFill>
                <a:latin typeface="Tahoma"/>
                <a:cs typeface="Tahoma"/>
              </a:rPr>
              <a:t> </a:t>
            </a:r>
            <a:r>
              <a:rPr sz="1100" spc="55" dirty="0">
                <a:solidFill>
                  <a:srgbClr val="94A3B8"/>
                </a:solidFill>
                <a:latin typeface="Tahoma"/>
                <a:cs typeface="Tahoma"/>
              </a:rPr>
              <a:t>converted</a:t>
            </a:r>
            <a:r>
              <a:rPr sz="1100" spc="30" dirty="0">
                <a:solidFill>
                  <a:srgbClr val="94A3B8"/>
                </a:solidFill>
                <a:latin typeface="Tahoma"/>
                <a:cs typeface="Tahoma"/>
              </a:rPr>
              <a:t> </a:t>
            </a:r>
            <a:r>
              <a:rPr sz="1100" spc="20" dirty="0">
                <a:solidFill>
                  <a:srgbClr val="94A3B8"/>
                </a:solidFill>
                <a:latin typeface="Tahoma"/>
                <a:cs typeface="Tahoma"/>
              </a:rPr>
              <a:t>durations</a:t>
            </a:r>
            <a:r>
              <a:rPr sz="1100" spc="30" dirty="0">
                <a:solidFill>
                  <a:srgbClr val="94A3B8"/>
                </a:solidFill>
                <a:latin typeface="Tahoma"/>
                <a:cs typeface="Tahoma"/>
              </a:rPr>
              <a:t> </a:t>
            </a:r>
            <a:r>
              <a:rPr sz="1100" spc="-20" dirty="0">
                <a:solidFill>
                  <a:srgbClr val="94A3B8"/>
                </a:solidFill>
                <a:latin typeface="Tahoma"/>
                <a:cs typeface="Tahoma"/>
              </a:rPr>
              <a:t>into </a:t>
            </a:r>
            <a:r>
              <a:rPr sz="1100" spc="55" dirty="0">
                <a:solidFill>
                  <a:srgbClr val="94A3B8"/>
                </a:solidFill>
                <a:latin typeface="Tahoma"/>
                <a:cs typeface="Tahoma"/>
              </a:rPr>
              <a:t>human-readable</a:t>
            </a:r>
            <a:r>
              <a:rPr sz="1100" spc="5" dirty="0">
                <a:solidFill>
                  <a:srgbClr val="94A3B8"/>
                </a:solidFill>
                <a:latin typeface="Tahoma"/>
                <a:cs typeface="Tahoma"/>
              </a:rPr>
              <a:t> </a:t>
            </a:r>
            <a:r>
              <a:rPr sz="1100" spc="-10" dirty="0">
                <a:solidFill>
                  <a:srgbClr val="94A3B8"/>
                </a:solidFill>
                <a:latin typeface="Tahoma"/>
                <a:cs typeface="Tahoma"/>
              </a:rPr>
              <a:t>minutes.</a:t>
            </a:r>
            <a:endParaRPr sz="1100" dirty="0">
              <a:latin typeface="Tahoma"/>
              <a:cs typeface="Tahoma"/>
            </a:endParaRPr>
          </a:p>
        </p:txBody>
      </p:sp>
    </p:spTree>
    <p:extLst>
      <p:ext uri="{BB962C8B-B14F-4D97-AF65-F5344CB8AC3E}">
        <p14:creationId xmlns:p14="http://schemas.microsoft.com/office/powerpoint/2010/main" val="1829753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2047029" y="54011"/>
            <a:ext cx="7636287" cy="641201"/>
          </a:xfrm>
          <a:prstGeom prst="rect">
            <a:avLst/>
          </a:prstGeom>
        </p:spPr>
        <p:txBody>
          <a:bodyPr vert="horz" wrap="square" lIns="0" tIns="12700" rIns="0" bIns="0" rtlCol="0">
            <a:spAutoFit/>
          </a:bodyPr>
          <a:lstStyle/>
          <a:p>
            <a:pPr marL="12700">
              <a:lnSpc>
                <a:spcPct val="100000"/>
              </a:lnSpc>
              <a:spcBef>
                <a:spcPts val="100"/>
              </a:spcBef>
            </a:pPr>
            <a:r>
              <a:rPr sz="4000" spc="-245" dirty="0">
                <a:solidFill>
                  <a:schemeClr val="tx1"/>
                </a:solidFill>
              </a:rPr>
              <a:t>Profiling</a:t>
            </a:r>
            <a:r>
              <a:rPr sz="4000" spc="-400" dirty="0">
                <a:solidFill>
                  <a:schemeClr val="tx1"/>
                </a:solidFill>
              </a:rPr>
              <a:t> </a:t>
            </a:r>
            <a:r>
              <a:rPr sz="4000" spc="-225" dirty="0">
                <a:solidFill>
                  <a:schemeClr val="tx1"/>
                </a:solidFill>
              </a:rPr>
              <a:t>Bike-</a:t>
            </a:r>
            <a:r>
              <a:rPr sz="4000" spc="-175" dirty="0">
                <a:solidFill>
                  <a:schemeClr val="tx1"/>
                </a:solidFill>
              </a:rPr>
              <a:t>Share</a:t>
            </a:r>
            <a:r>
              <a:rPr sz="4000" spc="-400" dirty="0">
                <a:solidFill>
                  <a:schemeClr val="tx1"/>
                </a:solidFill>
              </a:rPr>
              <a:t> </a:t>
            </a:r>
            <a:r>
              <a:rPr sz="4000" spc="-250" dirty="0">
                <a:solidFill>
                  <a:schemeClr val="tx1"/>
                </a:solidFill>
              </a:rPr>
              <a:t>Demand</a:t>
            </a:r>
            <a:r>
              <a:rPr sz="4000" spc="-400" dirty="0">
                <a:solidFill>
                  <a:schemeClr val="tx1"/>
                </a:solidFill>
              </a:rPr>
              <a:t> </a:t>
            </a:r>
            <a:r>
              <a:rPr sz="4000" spc="-285" dirty="0">
                <a:solidFill>
                  <a:schemeClr val="tx1"/>
                </a:solidFill>
              </a:rPr>
              <a:t>Timelines</a:t>
            </a:r>
          </a:p>
        </p:txBody>
      </p:sp>
      <p:pic>
        <p:nvPicPr>
          <p:cNvPr id="4" name="object 4"/>
          <p:cNvPicPr/>
          <p:nvPr/>
        </p:nvPicPr>
        <p:blipFill>
          <a:blip r:embed="rId2" cstate="print"/>
          <a:stretch>
            <a:fillRect/>
          </a:stretch>
        </p:blipFill>
        <p:spPr>
          <a:xfrm>
            <a:off x="573875" y="794401"/>
            <a:ext cx="5291299" cy="2982362"/>
          </a:xfrm>
          <a:prstGeom prst="rect">
            <a:avLst/>
          </a:prstGeom>
        </p:spPr>
      </p:pic>
      <p:grpSp>
        <p:nvGrpSpPr>
          <p:cNvPr id="5" name="object 5"/>
          <p:cNvGrpSpPr/>
          <p:nvPr/>
        </p:nvGrpSpPr>
        <p:grpSpPr>
          <a:xfrm>
            <a:off x="6326976" y="1816887"/>
            <a:ext cx="4400498" cy="3634104"/>
            <a:chOff x="6326975" y="1816887"/>
            <a:chExt cx="5291455" cy="3634104"/>
          </a:xfrm>
        </p:grpSpPr>
        <p:sp>
          <p:nvSpPr>
            <p:cNvPr id="6" name="object 6"/>
            <p:cNvSpPr/>
            <p:nvPr/>
          </p:nvSpPr>
          <p:spPr>
            <a:xfrm>
              <a:off x="6334125" y="1824037"/>
              <a:ext cx="5277485" cy="3619500"/>
            </a:xfrm>
            <a:custGeom>
              <a:avLst/>
              <a:gdLst/>
              <a:ahLst/>
              <a:cxnLst/>
              <a:rect l="l" t="t" r="r" b="b"/>
              <a:pathLst>
                <a:path w="5277484" h="3619500">
                  <a:moveTo>
                    <a:pt x="5124618" y="3619499"/>
                  </a:moveTo>
                  <a:lnTo>
                    <a:pt x="152380" y="3619499"/>
                  </a:lnTo>
                  <a:lnTo>
                    <a:pt x="104216" y="3611731"/>
                  </a:lnTo>
                  <a:lnTo>
                    <a:pt x="62386" y="3590099"/>
                  </a:lnTo>
                  <a:lnTo>
                    <a:pt x="29400" y="3557113"/>
                  </a:lnTo>
                  <a:lnTo>
                    <a:pt x="7768" y="3515283"/>
                  </a:lnTo>
                  <a:lnTo>
                    <a:pt x="0" y="3467119"/>
                  </a:lnTo>
                  <a:lnTo>
                    <a:pt x="0" y="152380"/>
                  </a:lnTo>
                  <a:lnTo>
                    <a:pt x="7768" y="104216"/>
                  </a:lnTo>
                  <a:lnTo>
                    <a:pt x="29400" y="62386"/>
                  </a:lnTo>
                  <a:lnTo>
                    <a:pt x="62386" y="29400"/>
                  </a:lnTo>
                  <a:lnTo>
                    <a:pt x="104216" y="7768"/>
                  </a:lnTo>
                  <a:lnTo>
                    <a:pt x="152380" y="0"/>
                  </a:lnTo>
                  <a:lnTo>
                    <a:pt x="5124618" y="0"/>
                  </a:lnTo>
                  <a:lnTo>
                    <a:pt x="5182932" y="11599"/>
                  </a:lnTo>
                  <a:lnTo>
                    <a:pt x="5232368" y="44631"/>
                  </a:lnTo>
                  <a:lnTo>
                    <a:pt x="5265400" y="94067"/>
                  </a:lnTo>
                  <a:lnTo>
                    <a:pt x="5276999" y="152380"/>
                  </a:lnTo>
                  <a:lnTo>
                    <a:pt x="5276999" y="3467119"/>
                  </a:lnTo>
                  <a:lnTo>
                    <a:pt x="5269231" y="3515283"/>
                  </a:lnTo>
                  <a:lnTo>
                    <a:pt x="5247599" y="3557113"/>
                  </a:lnTo>
                  <a:lnTo>
                    <a:pt x="5214613" y="3590099"/>
                  </a:lnTo>
                  <a:lnTo>
                    <a:pt x="5172782" y="3611731"/>
                  </a:lnTo>
                  <a:lnTo>
                    <a:pt x="5124618" y="3619499"/>
                  </a:lnTo>
                  <a:close/>
                </a:path>
              </a:pathLst>
            </a:custGeom>
            <a:solidFill>
              <a:srgbClr val="0F172A"/>
            </a:solidFill>
          </p:spPr>
          <p:txBody>
            <a:bodyPr wrap="square" lIns="0" tIns="0" rIns="0" bIns="0" rtlCol="0"/>
            <a:lstStyle/>
            <a:p>
              <a:endParaRPr/>
            </a:p>
          </p:txBody>
        </p:sp>
        <p:sp>
          <p:nvSpPr>
            <p:cNvPr id="7" name="object 7"/>
            <p:cNvSpPr/>
            <p:nvPr/>
          </p:nvSpPr>
          <p:spPr>
            <a:xfrm>
              <a:off x="6334125" y="1824037"/>
              <a:ext cx="5277485" cy="3619500"/>
            </a:xfrm>
            <a:custGeom>
              <a:avLst/>
              <a:gdLst/>
              <a:ahLst/>
              <a:cxnLst/>
              <a:rect l="l" t="t" r="r" b="b"/>
              <a:pathLst>
                <a:path w="5277484" h="3619500">
                  <a:moveTo>
                    <a:pt x="0" y="152380"/>
                  </a:moveTo>
                  <a:lnTo>
                    <a:pt x="7768" y="104216"/>
                  </a:lnTo>
                  <a:lnTo>
                    <a:pt x="29400" y="62386"/>
                  </a:lnTo>
                  <a:lnTo>
                    <a:pt x="62386" y="29400"/>
                  </a:lnTo>
                  <a:lnTo>
                    <a:pt x="104216" y="7768"/>
                  </a:lnTo>
                  <a:lnTo>
                    <a:pt x="152380" y="0"/>
                  </a:lnTo>
                  <a:lnTo>
                    <a:pt x="5124618" y="0"/>
                  </a:lnTo>
                  <a:lnTo>
                    <a:pt x="5182932" y="11599"/>
                  </a:lnTo>
                  <a:lnTo>
                    <a:pt x="5232368" y="44631"/>
                  </a:lnTo>
                  <a:lnTo>
                    <a:pt x="5265400" y="94067"/>
                  </a:lnTo>
                  <a:lnTo>
                    <a:pt x="5276999" y="152380"/>
                  </a:lnTo>
                  <a:lnTo>
                    <a:pt x="5276999" y="3467119"/>
                  </a:lnTo>
                  <a:lnTo>
                    <a:pt x="5269231" y="3515283"/>
                  </a:lnTo>
                  <a:lnTo>
                    <a:pt x="5247599" y="3557113"/>
                  </a:lnTo>
                  <a:lnTo>
                    <a:pt x="5214613" y="3590099"/>
                  </a:lnTo>
                  <a:lnTo>
                    <a:pt x="5172782" y="3611731"/>
                  </a:lnTo>
                  <a:lnTo>
                    <a:pt x="5124618" y="3619499"/>
                  </a:lnTo>
                  <a:lnTo>
                    <a:pt x="152380" y="3619499"/>
                  </a:lnTo>
                  <a:lnTo>
                    <a:pt x="104216" y="3611731"/>
                  </a:lnTo>
                  <a:lnTo>
                    <a:pt x="62386" y="3590099"/>
                  </a:lnTo>
                  <a:lnTo>
                    <a:pt x="29400" y="3557113"/>
                  </a:lnTo>
                  <a:lnTo>
                    <a:pt x="7768" y="3515283"/>
                  </a:lnTo>
                  <a:lnTo>
                    <a:pt x="0" y="3467119"/>
                  </a:lnTo>
                  <a:lnTo>
                    <a:pt x="0" y="152380"/>
                  </a:lnTo>
                  <a:close/>
                </a:path>
              </a:pathLst>
            </a:custGeom>
            <a:ln w="14299">
              <a:solidFill>
                <a:srgbClr val="1E293B"/>
              </a:solidFill>
            </a:ln>
          </p:spPr>
          <p:txBody>
            <a:bodyPr wrap="square" lIns="0" tIns="0" rIns="0" bIns="0" rtlCol="0"/>
            <a:lstStyle/>
            <a:p>
              <a:endParaRPr/>
            </a:p>
          </p:txBody>
        </p:sp>
      </p:grpSp>
      <p:pic>
        <p:nvPicPr>
          <p:cNvPr id="9" name="object 9"/>
          <p:cNvPicPr/>
          <p:nvPr/>
        </p:nvPicPr>
        <p:blipFill>
          <a:blip r:embed="rId3" cstate="print"/>
          <a:stretch>
            <a:fillRect/>
          </a:stretch>
        </p:blipFill>
        <p:spPr>
          <a:xfrm>
            <a:off x="573874" y="3875952"/>
            <a:ext cx="5291299" cy="2876141"/>
          </a:xfrm>
          <a:prstGeom prst="rect">
            <a:avLst/>
          </a:prstGeom>
        </p:spPr>
      </p:pic>
      <p:sp>
        <p:nvSpPr>
          <p:cNvPr id="11" name="object 11"/>
          <p:cNvSpPr txBox="1"/>
          <p:nvPr/>
        </p:nvSpPr>
        <p:spPr>
          <a:xfrm>
            <a:off x="6781948" y="2119686"/>
            <a:ext cx="3490827" cy="3028201"/>
          </a:xfrm>
          <a:prstGeom prst="rect">
            <a:avLst/>
          </a:prstGeom>
        </p:spPr>
        <p:txBody>
          <a:bodyPr vert="horz" wrap="square" lIns="0" tIns="12700" rIns="0" bIns="0" rtlCol="0">
            <a:spAutoFit/>
          </a:bodyPr>
          <a:lstStyle/>
          <a:p>
            <a:pPr marL="12700">
              <a:lnSpc>
                <a:spcPct val="100000"/>
              </a:lnSpc>
              <a:spcBef>
                <a:spcPts val="100"/>
              </a:spcBef>
            </a:pPr>
            <a:r>
              <a:rPr sz="1650" b="1" spc="-145" dirty="0">
                <a:solidFill>
                  <a:srgbClr val="F3F4F6"/>
                </a:solidFill>
                <a:latin typeface="Verdana"/>
                <a:cs typeface="Verdana"/>
              </a:rPr>
              <a:t>Key</a:t>
            </a:r>
            <a:r>
              <a:rPr sz="1650" b="1" spc="-220" dirty="0">
                <a:solidFill>
                  <a:srgbClr val="F3F4F6"/>
                </a:solidFill>
                <a:latin typeface="Verdana"/>
                <a:cs typeface="Verdana"/>
              </a:rPr>
              <a:t> </a:t>
            </a:r>
            <a:r>
              <a:rPr sz="1650" b="1" spc="-130" dirty="0">
                <a:solidFill>
                  <a:srgbClr val="F3F4F6"/>
                </a:solidFill>
                <a:latin typeface="Verdana"/>
                <a:cs typeface="Verdana"/>
              </a:rPr>
              <a:t>Analytical</a:t>
            </a:r>
            <a:r>
              <a:rPr sz="1650" b="1" spc="-215" dirty="0">
                <a:solidFill>
                  <a:srgbClr val="F3F4F6"/>
                </a:solidFill>
                <a:latin typeface="Verdana"/>
                <a:cs typeface="Verdana"/>
              </a:rPr>
              <a:t> </a:t>
            </a:r>
            <a:r>
              <a:rPr sz="1650" b="1" spc="-35" dirty="0">
                <a:solidFill>
                  <a:srgbClr val="F3F4F6"/>
                </a:solidFill>
                <a:latin typeface="Verdana"/>
                <a:cs typeface="Verdana"/>
              </a:rPr>
              <a:t>Observations</a:t>
            </a:r>
            <a:endParaRPr sz="1650" dirty="0">
              <a:latin typeface="Verdana"/>
              <a:cs typeface="Verdana"/>
            </a:endParaRPr>
          </a:p>
          <a:p>
            <a:pPr marL="12700" marR="5080">
              <a:lnSpc>
                <a:spcPct val="102299"/>
              </a:lnSpc>
              <a:spcBef>
                <a:spcPts val="1515"/>
              </a:spcBef>
            </a:pPr>
            <a:r>
              <a:rPr sz="1100" b="1" spc="-25" dirty="0">
                <a:solidFill>
                  <a:srgbClr val="F7FAFC"/>
                </a:solidFill>
                <a:latin typeface="Tahoma"/>
                <a:cs typeface="Tahoma"/>
              </a:rPr>
              <a:t>Bimodal</a:t>
            </a:r>
            <a:r>
              <a:rPr sz="1100" b="1" spc="15" dirty="0">
                <a:solidFill>
                  <a:srgbClr val="F7FAFC"/>
                </a:solidFill>
                <a:latin typeface="Tahoma"/>
                <a:cs typeface="Tahoma"/>
              </a:rPr>
              <a:t> </a:t>
            </a:r>
            <a:r>
              <a:rPr sz="1100" b="1" spc="-10" dirty="0">
                <a:solidFill>
                  <a:srgbClr val="F7FAFC"/>
                </a:solidFill>
                <a:latin typeface="Tahoma"/>
                <a:cs typeface="Tahoma"/>
              </a:rPr>
              <a:t>Peak</a:t>
            </a:r>
            <a:r>
              <a:rPr sz="1100" b="1" spc="20" dirty="0">
                <a:solidFill>
                  <a:srgbClr val="F7FAFC"/>
                </a:solidFill>
                <a:latin typeface="Tahoma"/>
                <a:cs typeface="Tahoma"/>
              </a:rPr>
              <a:t> </a:t>
            </a:r>
            <a:r>
              <a:rPr sz="1100" b="1" spc="-10" dirty="0">
                <a:solidFill>
                  <a:srgbClr val="F7FAFC"/>
                </a:solidFill>
                <a:latin typeface="Tahoma"/>
                <a:cs typeface="Tahoma"/>
              </a:rPr>
              <a:t>Commute</a:t>
            </a:r>
            <a:r>
              <a:rPr sz="1100" b="1" spc="20" dirty="0">
                <a:solidFill>
                  <a:srgbClr val="F7FAFC"/>
                </a:solidFill>
                <a:latin typeface="Tahoma"/>
                <a:cs typeface="Tahoma"/>
              </a:rPr>
              <a:t> </a:t>
            </a:r>
            <a:r>
              <a:rPr sz="1100" b="1" dirty="0">
                <a:solidFill>
                  <a:srgbClr val="F7FAFC"/>
                </a:solidFill>
                <a:latin typeface="Tahoma"/>
                <a:cs typeface="Tahoma"/>
              </a:rPr>
              <a:t>Cycles:</a:t>
            </a:r>
            <a:r>
              <a:rPr sz="1100" b="1" spc="80" dirty="0">
                <a:solidFill>
                  <a:srgbClr val="F7FAFC"/>
                </a:solidFill>
                <a:latin typeface="Tahoma"/>
                <a:cs typeface="Tahoma"/>
              </a:rPr>
              <a:t> </a:t>
            </a:r>
            <a:r>
              <a:rPr sz="1100" spc="70" dirty="0">
                <a:solidFill>
                  <a:srgbClr val="94A3B8"/>
                </a:solidFill>
                <a:latin typeface="Tahoma"/>
                <a:cs typeface="Tahoma"/>
              </a:rPr>
              <a:t>The</a:t>
            </a:r>
            <a:r>
              <a:rPr sz="1100" spc="45" dirty="0">
                <a:solidFill>
                  <a:srgbClr val="94A3B8"/>
                </a:solidFill>
                <a:latin typeface="Tahoma"/>
                <a:cs typeface="Tahoma"/>
              </a:rPr>
              <a:t> </a:t>
            </a:r>
            <a:r>
              <a:rPr sz="1100" spc="60" dirty="0">
                <a:solidFill>
                  <a:srgbClr val="94A3B8"/>
                </a:solidFill>
                <a:latin typeface="Tahoma"/>
                <a:cs typeface="Tahoma"/>
              </a:rPr>
              <a:t>system</a:t>
            </a:r>
            <a:r>
              <a:rPr sz="1100" spc="40" dirty="0">
                <a:solidFill>
                  <a:srgbClr val="94A3B8"/>
                </a:solidFill>
                <a:latin typeface="Tahoma"/>
                <a:cs typeface="Tahoma"/>
              </a:rPr>
              <a:t> </a:t>
            </a:r>
            <a:r>
              <a:rPr sz="1100" dirty="0">
                <a:solidFill>
                  <a:srgbClr val="94A3B8"/>
                </a:solidFill>
                <a:latin typeface="Tahoma"/>
                <a:cs typeface="Tahoma"/>
              </a:rPr>
              <a:t>exhibits</a:t>
            </a:r>
            <a:r>
              <a:rPr sz="1100" spc="45" dirty="0">
                <a:solidFill>
                  <a:srgbClr val="94A3B8"/>
                </a:solidFill>
                <a:latin typeface="Tahoma"/>
                <a:cs typeface="Tahoma"/>
              </a:rPr>
              <a:t> </a:t>
            </a:r>
            <a:r>
              <a:rPr sz="1100" spc="-10" dirty="0">
                <a:solidFill>
                  <a:srgbClr val="94A3B8"/>
                </a:solidFill>
                <a:latin typeface="Tahoma"/>
                <a:cs typeface="Tahoma"/>
              </a:rPr>
              <a:t>prominent,</a:t>
            </a:r>
            <a:r>
              <a:rPr sz="1100" spc="60" dirty="0">
                <a:solidFill>
                  <a:srgbClr val="94A3B8"/>
                </a:solidFill>
                <a:latin typeface="Tahoma"/>
                <a:cs typeface="Tahoma"/>
              </a:rPr>
              <a:t> sharp</a:t>
            </a:r>
            <a:r>
              <a:rPr sz="1100" dirty="0">
                <a:solidFill>
                  <a:srgbClr val="94A3B8"/>
                </a:solidFill>
                <a:latin typeface="Tahoma"/>
                <a:cs typeface="Tahoma"/>
              </a:rPr>
              <a:t> </a:t>
            </a:r>
            <a:r>
              <a:rPr sz="1100" spc="65" dirty="0">
                <a:solidFill>
                  <a:srgbClr val="94A3B8"/>
                </a:solidFill>
                <a:latin typeface="Tahoma"/>
                <a:cs typeface="Tahoma"/>
              </a:rPr>
              <a:t>spikes</a:t>
            </a:r>
            <a:r>
              <a:rPr sz="1100" dirty="0">
                <a:solidFill>
                  <a:srgbClr val="94A3B8"/>
                </a:solidFill>
                <a:latin typeface="Tahoma"/>
                <a:cs typeface="Tahoma"/>
              </a:rPr>
              <a:t> </a:t>
            </a:r>
            <a:r>
              <a:rPr sz="1100" spc="60" dirty="0">
                <a:solidFill>
                  <a:srgbClr val="94A3B8"/>
                </a:solidFill>
                <a:latin typeface="Tahoma"/>
                <a:cs typeface="Tahoma"/>
              </a:rPr>
              <a:t>precisely</a:t>
            </a:r>
            <a:r>
              <a:rPr sz="1100" dirty="0">
                <a:solidFill>
                  <a:srgbClr val="94A3B8"/>
                </a:solidFill>
                <a:latin typeface="Tahoma"/>
                <a:cs typeface="Tahoma"/>
              </a:rPr>
              <a:t> </a:t>
            </a:r>
            <a:r>
              <a:rPr sz="1100" spc="60" dirty="0">
                <a:solidFill>
                  <a:srgbClr val="94A3B8"/>
                </a:solidFill>
                <a:latin typeface="Tahoma"/>
                <a:cs typeface="Tahoma"/>
              </a:rPr>
              <a:t>between</a:t>
            </a:r>
            <a:r>
              <a:rPr sz="1100" spc="15" dirty="0">
                <a:solidFill>
                  <a:srgbClr val="94A3B8"/>
                </a:solidFill>
                <a:latin typeface="Tahoma"/>
                <a:cs typeface="Tahoma"/>
              </a:rPr>
              <a:t> </a:t>
            </a:r>
            <a:r>
              <a:rPr sz="1100" b="1" dirty="0">
                <a:solidFill>
                  <a:srgbClr val="22D3EE"/>
                </a:solidFill>
                <a:latin typeface="Tahoma"/>
                <a:cs typeface="Tahoma"/>
              </a:rPr>
              <a:t>8:00</a:t>
            </a:r>
            <a:r>
              <a:rPr sz="1100" b="1" spc="-20" dirty="0">
                <a:solidFill>
                  <a:srgbClr val="22D3EE"/>
                </a:solidFill>
                <a:latin typeface="Tahoma"/>
                <a:cs typeface="Tahoma"/>
              </a:rPr>
              <a:t> </a:t>
            </a:r>
            <a:r>
              <a:rPr sz="1100" b="1" dirty="0">
                <a:solidFill>
                  <a:srgbClr val="22D3EE"/>
                </a:solidFill>
                <a:latin typeface="Tahoma"/>
                <a:cs typeface="Tahoma"/>
              </a:rPr>
              <a:t>AM</a:t>
            </a:r>
            <a:r>
              <a:rPr sz="1100" b="1" spc="-15" dirty="0">
                <a:solidFill>
                  <a:srgbClr val="22D3EE"/>
                </a:solidFill>
                <a:latin typeface="Tahoma"/>
                <a:cs typeface="Tahoma"/>
              </a:rPr>
              <a:t> </a:t>
            </a:r>
            <a:r>
              <a:rPr sz="1100" b="1" spc="-140" dirty="0">
                <a:solidFill>
                  <a:srgbClr val="22D3EE"/>
                </a:solidFill>
                <a:latin typeface="Tahoma"/>
                <a:cs typeface="Tahoma"/>
              </a:rPr>
              <a:t>–</a:t>
            </a:r>
            <a:r>
              <a:rPr sz="1100" b="1" spc="-15" dirty="0">
                <a:solidFill>
                  <a:srgbClr val="22D3EE"/>
                </a:solidFill>
                <a:latin typeface="Tahoma"/>
                <a:cs typeface="Tahoma"/>
              </a:rPr>
              <a:t> </a:t>
            </a:r>
            <a:r>
              <a:rPr sz="1100" b="1" dirty="0">
                <a:solidFill>
                  <a:srgbClr val="22D3EE"/>
                </a:solidFill>
                <a:latin typeface="Tahoma"/>
                <a:cs typeface="Tahoma"/>
              </a:rPr>
              <a:t>9:00</a:t>
            </a:r>
            <a:r>
              <a:rPr sz="1100" b="1" spc="-15" dirty="0">
                <a:solidFill>
                  <a:srgbClr val="22D3EE"/>
                </a:solidFill>
                <a:latin typeface="Tahoma"/>
                <a:cs typeface="Tahoma"/>
              </a:rPr>
              <a:t> </a:t>
            </a:r>
            <a:r>
              <a:rPr sz="1100" b="1" dirty="0">
                <a:solidFill>
                  <a:srgbClr val="22D3EE"/>
                </a:solidFill>
                <a:latin typeface="Tahoma"/>
                <a:cs typeface="Tahoma"/>
              </a:rPr>
              <a:t>AM</a:t>
            </a:r>
            <a:r>
              <a:rPr sz="1100" b="1" spc="35" dirty="0">
                <a:solidFill>
                  <a:srgbClr val="22D3EE"/>
                </a:solidFill>
                <a:latin typeface="Tahoma"/>
                <a:cs typeface="Tahoma"/>
              </a:rPr>
              <a:t> </a:t>
            </a:r>
            <a:r>
              <a:rPr sz="1100" spc="55" dirty="0">
                <a:solidFill>
                  <a:srgbClr val="94A3B8"/>
                </a:solidFill>
                <a:latin typeface="Tahoma"/>
                <a:cs typeface="Tahoma"/>
              </a:rPr>
              <a:t>and</a:t>
            </a:r>
            <a:r>
              <a:rPr sz="1100" dirty="0">
                <a:solidFill>
                  <a:srgbClr val="94A3B8"/>
                </a:solidFill>
                <a:latin typeface="Tahoma"/>
                <a:cs typeface="Tahoma"/>
              </a:rPr>
              <a:t> </a:t>
            </a:r>
            <a:r>
              <a:rPr sz="1100" b="1" dirty="0">
                <a:solidFill>
                  <a:srgbClr val="22D3EE"/>
                </a:solidFill>
                <a:latin typeface="Tahoma"/>
                <a:cs typeface="Tahoma"/>
              </a:rPr>
              <a:t>5:00</a:t>
            </a:r>
            <a:r>
              <a:rPr sz="1100" b="1" spc="-20" dirty="0">
                <a:solidFill>
                  <a:srgbClr val="22D3EE"/>
                </a:solidFill>
                <a:latin typeface="Tahoma"/>
                <a:cs typeface="Tahoma"/>
              </a:rPr>
              <a:t> </a:t>
            </a:r>
            <a:r>
              <a:rPr sz="1100" b="1" dirty="0">
                <a:solidFill>
                  <a:srgbClr val="22D3EE"/>
                </a:solidFill>
                <a:latin typeface="Tahoma"/>
                <a:cs typeface="Tahoma"/>
              </a:rPr>
              <a:t>PM</a:t>
            </a:r>
            <a:r>
              <a:rPr sz="1100" b="1" spc="-15" dirty="0">
                <a:solidFill>
                  <a:srgbClr val="22D3EE"/>
                </a:solidFill>
                <a:latin typeface="Tahoma"/>
                <a:cs typeface="Tahoma"/>
              </a:rPr>
              <a:t> </a:t>
            </a:r>
            <a:r>
              <a:rPr sz="1100" b="1" spc="-50" dirty="0">
                <a:solidFill>
                  <a:srgbClr val="22D3EE"/>
                </a:solidFill>
                <a:latin typeface="Tahoma"/>
                <a:cs typeface="Tahoma"/>
              </a:rPr>
              <a:t>– </a:t>
            </a:r>
            <a:r>
              <a:rPr sz="1100" b="1" spc="10" dirty="0">
                <a:solidFill>
                  <a:srgbClr val="22D3EE"/>
                </a:solidFill>
                <a:latin typeface="Tahoma"/>
                <a:cs typeface="Tahoma"/>
              </a:rPr>
              <a:t>6:00</a:t>
            </a:r>
            <a:r>
              <a:rPr sz="1100" b="1" spc="25" dirty="0">
                <a:solidFill>
                  <a:srgbClr val="22D3EE"/>
                </a:solidFill>
                <a:latin typeface="Tahoma"/>
                <a:cs typeface="Tahoma"/>
              </a:rPr>
              <a:t> </a:t>
            </a:r>
            <a:r>
              <a:rPr sz="1100" b="1" spc="20" dirty="0">
                <a:solidFill>
                  <a:srgbClr val="22D3EE"/>
                </a:solidFill>
                <a:latin typeface="Tahoma"/>
                <a:cs typeface="Tahoma"/>
              </a:rPr>
              <a:t>PM</a:t>
            </a:r>
            <a:r>
              <a:rPr sz="1100" spc="20" dirty="0">
                <a:solidFill>
                  <a:srgbClr val="94A3B8"/>
                </a:solidFill>
                <a:latin typeface="Tahoma"/>
                <a:cs typeface="Tahoma"/>
              </a:rPr>
              <a:t>,</a:t>
            </a:r>
            <a:r>
              <a:rPr sz="1100" spc="55" dirty="0">
                <a:solidFill>
                  <a:srgbClr val="94A3B8"/>
                </a:solidFill>
                <a:latin typeface="Tahoma"/>
                <a:cs typeface="Tahoma"/>
              </a:rPr>
              <a:t> </a:t>
            </a:r>
            <a:r>
              <a:rPr sz="1100" spc="45" dirty="0">
                <a:solidFill>
                  <a:srgbClr val="94A3B8"/>
                </a:solidFill>
                <a:latin typeface="Tahoma"/>
                <a:cs typeface="Tahoma"/>
              </a:rPr>
              <a:t>strictly</a:t>
            </a:r>
            <a:r>
              <a:rPr sz="1100" spc="55" dirty="0">
                <a:solidFill>
                  <a:srgbClr val="94A3B8"/>
                </a:solidFill>
                <a:latin typeface="Tahoma"/>
                <a:cs typeface="Tahoma"/>
              </a:rPr>
              <a:t> </a:t>
            </a:r>
            <a:r>
              <a:rPr sz="1100" spc="20" dirty="0">
                <a:solidFill>
                  <a:srgbClr val="94A3B8"/>
                </a:solidFill>
                <a:latin typeface="Tahoma"/>
                <a:cs typeface="Tahoma"/>
              </a:rPr>
              <a:t>tracking</a:t>
            </a:r>
            <a:r>
              <a:rPr sz="1100" spc="50" dirty="0">
                <a:solidFill>
                  <a:srgbClr val="94A3B8"/>
                </a:solidFill>
                <a:latin typeface="Tahoma"/>
                <a:cs typeface="Tahoma"/>
              </a:rPr>
              <a:t> </a:t>
            </a:r>
            <a:r>
              <a:rPr sz="1100" spc="20" dirty="0">
                <a:solidFill>
                  <a:srgbClr val="94A3B8"/>
                </a:solidFill>
                <a:latin typeface="Tahoma"/>
                <a:cs typeface="Tahoma"/>
              </a:rPr>
              <a:t>white-</a:t>
            </a:r>
            <a:r>
              <a:rPr sz="1100" spc="55" dirty="0">
                <a:solidFill>
                  <a:srgbClr val="94A3B8"/>
                </a:solidFill>
                <a:latin typeface="Tahoma"/>
                <a:cs typeface="Tahoma"/>
              </a:rPr>
              <a:t>collar </a:t>
            </a:r>
            <a:r>
              <a:rPr sz="1100" spc="65" dirty="0">
                <a:solidFill>
                  <a:srgbClr val="94A3B8"/>
                </a:solidFill>
                <a:latin typeface="Tahoma"/>
                <a:cs typeface="Tahoma"/>
              </a:rPr>
              <a:t>business</a:t>
            </a:r>
            <a:r>
              <a:rPr sz="1100" spc="55" dirty="0">
                <a:solidFill>
                  <a:srgbClr val="94A3B8"/>
                </a:solidFill>
                <a:latin typeface="Tahoma"/>
                <a:cs typeface="Tahoma"/>
              </a:rPr>
              <a:t> and </a:t>
            </a:r>
            <a:r>
              <a:rPr sz="1100" spc="20" dirty="0">
                <a:solidFill>
                  <a:srgbClr val="94A3B8"/>
                </a:solidFill>
                <a:latin typeface="Tahoma"/>
                <a:cs typeface="Tahoma"/>
              </a:rPr>
              <a:t>university</a:t>
            </a:r>
            <a:r>
              <a:rPr sz="1100" spc="55" dirty="0">
                <a:solidFill>
                  <a:srgbClr val="94A3B8"/>
                </a:solidFill>
                <a:latin typeface="Tahoma"/>
                <a:cs typeface="Tahoma"/>
              </a:rPr>
              <a:t> </a:t>
            </a:r>
            <a:r>
              <a:rPr sz="1100" spc="-10" dirty="0">
                <a:solidFill>
                  <a:srgbClr val="94A3B8"/>
                </a:solidFill>
                <a:latin typeface="Tahoma"/>
                <a:cs typeface="Tahoma"/>
              </a:rPr>
              <a:t>transit </a:t>
            </a:r>
            <a:r>
              <a:rPr sz="1100" spc="45" dirty="0">
                <a:solidFill>
                  <a:srgbClr val="94A3B8"/>
                </a:solidFill>
                <a:latin typeface="Tahoma"/>
                <a:cs typeface="Tahoma"/>
              </a:rPr>
              <a:t>windows.</a:t>
            </a:r>
            <a:endParaRPr sz="1100" dirty="0">
              <a:latin typeface="Tahoma"/>
              <a:cs typeface="Tahoma"/>
            </a:endParaRPr>
          </a:p>
          <a:p>
            <a:pPr>
              <a:lnSpc>
                <a:spcPct val="100000"/>
              </a:lnSpc>
              <a:spcBef>
                <a:spcPts val="20"/>
              </a:spcBef>
            </a:pPr>
            <a:endParaRPr sz="1100" dirty="0">
              <a:latin typeface="Tahoma"/>
              <a:cs typeface="Tahoma"/>
            </a:endParaRPr>
          </a:p>
          <a:p>
            <a:pPr marL="12700" marR="243840">
              <a:lnSpc>
                <a:spcPct val="102299"/>
              </a:lnSpc>
            </a:pPr>
            <a:r>
              <a:rPr sz="1100" b="1" dirty="0">
                <a:solidFill>
                  <a:srgbClr val="F7FAFC"/>
                </a:solidFill>
                <a:latin typeface="Tahoma"/>
                <a:cs typeface="Tahoma"/>
              </a:rPr>
              <a:t>Midday</a:t>
            </a:r>
            <a:r>
              <a:rPr sz="1100" b="1" spc="25" dirty="0">
                <a:solidFill>
                  <a:srgbClr val="F7FAFC"/>
                </a:solidFill>
                <a:latin typeface="Tahoma"/>
                <a:cs typeface="Tahoma"/>
              </a:rPr>
              <a:t> </a:t>
            </a:r>
            <a:r>
              <a:rPr sz="1100" b="1" spc="-25" dirty="0">
                <a:solidFill>
                  <a:srgbClr val="F7FAFC"/>
                </a:solidFill>
                <a:latin typeface="Tahoma"/>
                <a:cs typeface="Tahoma"/>
              </a:rPr>
              <a:t>Plateau</a:t>
            </a:r>
            <a:r>
              <a:rPr sz="1100" b="1" spc="25" dirty="0">
                <a:solidFill>
                  <a:srgbClr val="F7FAFC"/>
                </a:solidFill>
                <a:latin typeface="Tahoma"/>
                <a:cs typeface="Tahoma"/>
              </a:rPr>
              <a:t> </a:t>
            </a:r>
            <a:r>
              <a:rPr sz="1100" b="1" spc="-10" dirty="0">
                <a:solidFill>
                  <a:srgbClr val="F7FAFC"/>
                </a:solidFill>
                <a:latin typeface="Tahoma"/>
                <a:cs typeface="Tahoma"/>
              </a:rPr>
              <a:t>Dynamics:</a:t>
            </a:r>
            <a:r>
              <a:rPr sz="1100" b="1" spc="90" dirty="0">
                <a:solidFill>
                  <a:srgbClr val="F7FAFC"/>
                </a:solidFill>
                <a:latin typeface="Tahoma"/>
                <a:cs typeface="Tahoma"/>
              </a:rPr>
              <a:t> </a:t>
            </a:r>
            <a:r>
              <a:rPr sz="1100" spc="55" dirty="0">
                <a:solidFill>
                  <a:srgbClr val="94A3B8"/>
                </a:solidFill>
                <a:latin typeface="Tahoma"/>
                <a:cs typeface="Tahoma"/>
              </a:rPr>
              <a:t>Demand</a:t>
            </a:r>
            <a:r>
              <a:rPr sz="1100" spc="50" dirty="0">
                <a:solidFill>
                  <a:srgbClr val="94A3B8"/>
                </a:solidFill>
                <a:latin typeface="Tahoma"/>
                <a:cs typeface="Tahoma"/>
              </a:rPr>
              <a:t> </a:t>
            </a:r>
            <a:r>
              <a:rPr sz="1100" dirty="0">
                <a:solidFill>
                  <a:srgbClr val="94A3B8"/>
                </a:solidFill>
                <a:latin typeface="Tahoma"/>
                <a:cs typeface="Tahoma"/>
              </a:rPr>
              <a:t>transitions</a:t>
            </a:r>
            <a:r>
              <a:rPr sz="1100" spc="55" dirty="0">
                <a:solidFill>
                  <a:srgbClr val="94A3B8"/>
                </a:solidFill>
                <a:latin typeface="Tahoma"/>
                <a:cs typeface="Tahoma"/>
              </a:rPr>
              <a:t> </a:t>
            </a:r>
            <a:r>
              <a:rPr sz="1100" dirty="0">
                <a:solidFill>
                  <a:srgbClr val="94A3B8"/>
                </a:solidFill>
                <a:latin typeface="Tahoma"/>
                <a:cs typeface="Tahoma"/>
              </a:rPr>
              <a:t>into</a:t>
            </a:r>
            <a:r>
              <a:rPr sz="1100" spc="50" dirty="0">
                <a:solidFill>
                  <a:srgbClr val="94A3B8"/>
                </a:solidFill>
                <a:latin typeface="Tahoma"/>
                <a:cs typeface="Tahoma"/>
              </a:rPr>
              <a:t> a </a:t>
            </a:r>
            <a:r>
              <a:rPr sz="1100" spc="35" dirty="0">
                <a:solidFill>
                  <a:srgbClr val="94A3B8"/>
                </a:solidFill>
                <a:latin typeface="Tahoma"/>
                <a:cs typeface="Tahoma"/>
              </a:rPr>
              <a:t>steady, </a:t>
            </a:r>
            <a:r>
              <a:rPr sz="1100" dirty="0">
                <a:solidFill>
                  <a:srgbClr val="94A3B8"/>
                </a:solidFill>
                <a:latin typeface="Tahoma"/>
                <a:cs typeface="Tahoma"/>
              </a:rPr>
              <a:t>lower-</a:t>
            </a:r>
            <a:r>
              <a:rPr sz="1100" spc="55" dirty="0">
                <a:solidFill>
                  <a:srgbClr val="94A3B8"/>
                </a:solidFill>
                <a:latin typeface="Tahoma"/>
                <a:cs typeface="Tahoma"/>
              </a:rPr>
              <a:t>volume</a:t>
            </a:r>
            <a:r>
              <a:rPr sz="1100" spc="60" dirty="0">
                <a:solidFill>
                  <a:srgbClr val="94A3B8"/>
                </a:solidFill>
                <a:latin typeface="Tahoma"/>
                <a:cs typeface="Tahoma"/>
              </a:rPr>
              <a:t> </a:t>
            </a:r>
            <a:r>
              <a:rPr sz="1100" dirty="0">
                <a:solidFill>
                  <a:srgbClr val="94A3B8"/>
                </a:solidFill>
                <a:latin typeface="Tahoma"/>
                <a:cs typeface="Tahoma"/>
              </a:rPr>
              <a:t>plateau</a:t>
            </a:r>
            <a:r>
              <a:rPr sz="1100" spc="65" dirty="0">
                <a:solidFill>
                  <a:srgbClr val="94A3B8"/>
                </a:solidFill>
                <a:latin typeface="Tahoma"/>
                <a:cs typeface="Tahoma"/>
              </a:rPr>
              <a:t> </a:t>
            </a:r>
            <a:r>
              <a:rPr sz="1100" spc="60" dirty="0">
                <a:solidFill>
                  <a:srgbClr val="94A3B8"/>
                </a:solidFill>
                <a:latin typeface="Tahoma"/>
                <a:cs typeface="Tahoma"/>
              </a:rPr>
              <a:t>between </a:t>
            </a:r>
            <a:r>
              <a:rPr sz="1100" dirty="0">
                <a:solidFill>
                  <a:srgbClr val="94A3B8"/>
                </a:solidFill>
                <a:latin typeface="Tahoma"/>
                <a:cs typeface="Tahoma"/>
              </a:rPr>
              <a:t>10:00</a:t>
            </a:r>
            <a:r>
              <a:rPr sz="1100" spc="65" dirty="0">
                <a:solidFill>
                  <a:srgbClr val="94A3B8"/>
                </a:solidFill>
                <a:latin typeface="Tahoma"/>
                <a:cs typeface="Tahoma"/>
              </a:rPr>
              <a:t> </a:t>
            </a:r>
            <a:r>
              <a:rPr sz="1100" spc="130" dirty="0">
                <a:solidFill>
                  <a:srgbClr val="94A3B8"/>
                </a:solidFill>
                <a:latin typeface="Tahoma"/>
                <a:cs typeface="Tahoma"/>
              </a:rPr>
              <a:t>AM</a:t>
            </a:r>
            <a:r>
              <a:rPr sz="1100" spc="65" dirty="0">
                <a:solidFill>
                  <a:srgbClr val="94A3B8"/>
                </a:solidFill>
                <a:latin typeface="Tahoma"/>
                <a:cs typeface="Tahoma"/>
              </a:rPr>
              <a:t> </a:t>
            </a:r>
            <a:r>
              <a:rPr sz="1100" spc="55" dirty="0">
                <a:solidFill>
                  <a:srgbClr val="94A3B8"/>
                </a:solidFill>
                <a:latin typeface="Tahoma"/>
                <a:cs typeface="Tahoma"/>
              </a:rPr>
              <a:t>and</a:t>
            </a:r>
            <a:r>
              <a:rPr sz="1100" spc="60" dirty="0">
                <a:solidFill>
                  <a:srgbClr val="94A3B8"/>
                </a:solidFill>
                <a:latin typeface="Tahoma"/>
                <a:cs typeface="Tahoma"/>
              </a:rPr>
              <a:t> 4:00</a:t>
            </a:r>
            <a:r>
              <a:rPr sz="1100" spc="65" dirty="0">
                <a:solidFill>
                  <a:srgbClr val="94A3B8"/>
                </a:solidFill>
                <a:latin typeface="Tahoma"/>
                <a:cs typeface="Tahoma"/>
              </a:rPr>
              <a:t> </a:t>
            </a:r>
            <a:r>
              <a:rPr sz="1100" spc="80" dirty="0">
                <a:solidFill>
                  <a:srgbClr val="94A3B8"/>
                </a:solidFill>
                <a:latin typeface="Tahoma"/>
                <a:cs typeface="Tahoma"/>
              </a:rPr>
              <a:t>PM,</a:t>
            </a:r>
            <a:r>
              <a:rPr sz="1100" spc="60" dirty="0">
                <a:solidFill>
                  <a:srgbClr val="94A3B8"/>
                </a:solidFill>
                <a:latin typeface="Tahoma"/>
                <a:cs typeface="Tahoma"/>
              </a:rPr>
              <a:t> </a:t>
            </a:r>
            <a:r>
              <a:rPr sz="1100" spc="-10" dirty="0">
                <a:solidFill>
                  <a:srgbClr val="94A3B8"/>
                </a:solidFill>
                <a:latin typeface="Tahoma"/>
                <a:cs typeface="Tahoma"/>
              </a:rPr>
              <a:t>indicating </a:t>
            </a:r>
            <a:r>
              <a:rPr sz="1100" spc="65" dirty="0">
                <a:solidFill>
                  <a:srgbClr val="94A3B8"/>
                </a:solidFill>
                <a:latin typeface="Tahoma"/>
                <a:cs typeface="Tahoma"/>
              </a:rPr>
              <a:t>secondary</a:t>
            </a:r>
            <a:r>
              <a:rPr sz="1100" spc="60" dirty="0">
                <a:solidFill>
                  <a:srgbClr val="94A3B8"/>
                </a:solidFill>
                <a:latin typeface="Tahoma"/>
                <a:cs typeface="Tahoma"/>
              </a:rPr>
              <a:t> </a:t>
            </a:r>
            <a:r>
              <a:rPr sz="1100" spc="55" dirty="0">
                <a:solidFill>
                  <a:srgbClr val="94A3B8"/>
                </a:solidFill>
                <a:latin typeface="Tahoma"/>
                <a:cs typeface="Tahoma"/>
              </a:rPr>
              <a:t>baseline</a:t>
            </a:r>
            <a:r>
              <a:rPr sz="1100" spc="60" dirty="0">
                <a:solidFill>
                  <a:srgbClr val="94A3B8"/>
                </a:solidFill>
                <a:latin typeface="Tahoma"/>
                <a:cs typeface="Tahoma"/>
              </a:rPr>
              <a:t> </a:t>
            </a:r>
            <a:r>
              <a:rPr sz="1100" dirty="0">
                <a:solidFill>
                  <a:srgbClr val="94A3B8"/>
                </a:solidFill>
                <a:latin typeface="Tahoma"/>
                <a:cs typeface="Tahoma"/>
              </a:rPr>
              <a:t>utility</a:t>
            </a:r>
            <a:r>
              <a:rPr sz="1100" spc="65" dirty="0">
                <a:solidFill>
                  <a:srgbClr val="94A3B8"/>
                </a:solidFill>
                <a:latin typeface="Tahoma"/>
                <a:cs typeface="Tahoma"/>
              </a:rPr>
              <a:t> </a:t>
            </a:r>
            <a:r>
              <a:rPr sz="1100" spc="-10" dirty="0">
                <a:solidFill>
                  <a:srgbClr val="94A3B8"/>
                </a:solidFill>
                <a:latin typeface="Tahoma"/>
                <a:cs typeface="Tahoma"/>
              </a:rPr>
              <a:t>tracking.</a:t>
            </a:r>
            <a:endParaRPr sz="1100" dirty="0">
              <a:latin typeface="Tahoma"/>
              <a:cs typeface="Tahoma"/>
            </a:endParaRPr>
          </a:p>
          <a:p>
            <a:pPr>
              <a:lnSpc>
                <a:spcPct val="100000"/>
              </a:lnSpc>
              <a:spcBef>
                <a:spcPts val="20"/>
              </a:spcBef>
            </a:pPr>
            <a:endParaRPr sz="1100" dirty="0">
              <a:latin typeface="Tahoma"/>
              <a:cs typeface="Tahoma"/>
            </a:endParaRPr>
          </a:p>
          <a:p>
            <a:pPr marL="12700" marR="84455">
              <a:lnSpc>
                <a:spcPct val="102299"/>
              </a:lnSpc>
              <a:spcBef>
                <a:spcPts val="5"/>
              </a:spcBef>
            </a:pPr>
            <a:r>
              <a:rPr sz="1100" b="1" spc="-10" dirty="0">
                <a:solidFill>
                  <a:srgbClr val="F7FAFC"/>
                </a:solidFill>
                <a:latin typeface="Tahoma"/>
                <a:cs typeface="Tahoma"/>
              </a:rPr>
              <a:t>Weekend</a:t>
            </a:r>
            <a:r>
              <a:rPr sz="1100" b="1" spc="10" dirty="0">
                <a:solidFill>
                  <a:srgbClr val="F7FAFC"/>
                </a:solidFill>
                <a:latin typeface="Tahoma"/>
                <a:cs typeface="Tahoma"/>
              </a:rPr>
              <a:t> </a:t>
            </a:r>
            <a:r>
              <a:rPr sz="1100" b="1" spc="-10" dirty="0">
                <a:solidFill>
                  <a:srgbClr val="F7FAFC"/>
                </a:solidFill>
                <a:latin typeface="Tahoma"/>
                <a:cs typeface="Tahoma"/>
              </a:rPr>
              <a:t>Traffic</a:t>
            </a:r>
            <a:r>
              <a:rPr sz="1100" b="1" spc="5" dirty="0">
                <a:solidFill>
                  <a:srgbClr val="F7FAFC"/>
                </a:solidFill>
                <a:latin typeface="Tahoma"/>
                <a:cs typeface="Tahoma"/>
              </a:rPr>
              <a:t> </a:t>
            </a:r>
            <a:r>
              <a:rPr sz="1100" b="1" spc="-20" dirty="0">
                <a:solidFill>
                  <a:srgbClr val="F7FAFC"/>
                </a:solidFill>
                <a:latin typeface="Tahoma"/>
                <a:cs typeface="Tahoma"/>
              </a:rPr>
              <a:t>Dip:</a:t>
            </a:r>
            <a:r>
              <a:rPr sz="1100" b="1" spc="60" dirty="0">
                <a:solidFill>
                  <a:srgbClr val="F7FAFC"/>
                </a:solidFill>
                <a:latin typeface="Tahoma"/>
                <a:cs typeface="Tahoma"/>
              </a:rPr>
              <a:t> </a:t>
            </a:r>
            <a:r>
              <a:rPr sz="1100" dirty="0">
                <a:solidFill>
                  <a:srgbClr val="94A3B8"/>
                </a:solidFill>
                <a:latin typeface="Tahoma"/>
                <a:cs typeface="Tahoma"/>
              </a:rPr>
              <a:t>Total</a:t>
            </a:r>
            <a:r>
              <a:rPr sz="1100" spc="30" dirty="0">
                <a:solidFill>
                  <a:srgbClr val="94A3B8"/>
                </a:solidFill>
                <a:latin typeface="Tahoma"/>
                <a:cs typeface="Tahoma"/>
              </a:rPr>
              <a:t> </a:t>
            </a:r>
            <a:r>
              <a:rPr sz="1100" spc="45" dirty="0">
                <a:solidFill>
                  <a:srgbClr val="94A3B8"/>
                </a:solidFill>
                <a:latin typeface="Tahoma"/>
                <a:cs typeface="Tahoma"/>
              </a:rPr>
              <a:t>aggregate</a:t>
            </a:r>
            <a:r>
              <a:rPr sz="1100" spc="30" dirty="0">
                <a:solidFill>
                  <a:srgbClr val="94A3B8"/>
                </a:solidFill>
                <a:latin typeface="Tahoma"/>
                <a:cs typeface="Tahoma"/>
              </a:rPr>
              <a:t> </a:t>
            </a:r>
            <a:r>
              <a:rPr sz="1100" dirty="0">
                <a:solidFill>
                  <a:srgbClr val="94A3B8"/>
                </a:solidFill>
                <a:latin typeface="Tahoma"/>
                <a:cs typeface="Tahoma"/>
              </a:rPr>
              <a:t>trip</a:t>
            </a:r>
            <a:r>
              <a:rPr sz="1100" spc="30" dirty="0">
                <a:solidFill>
                  <a:srgbClr val="94A3B8"/>
                </a:solidFill>
                <a:latin typeface="Tahoma"/>
                <a:cs typeface="Tahoma"/>
              </a:rPr>
              <a:t> </a:t>
            </a:r>
            <a:r>
              <a:rPr sz="1100" spc="60" dirty="0">
                <a:solidFill>
                  <a:srgbClr val="94A3B8"/>
                </a:solidFill>
                <a:latin typeface="Tahoma"/>
                <a:cs typeface="Tahoma"/>
              </a:rPr>
              <a:t>counts</a:t>
            </a:r>
            <a:r>
              <a:rPr sz="1100" spc="25" dirty="0">
                <a:solidFill>
                  <a:srgbClr val="94A3B8"/>
                </a:solidFill>
                <a:latin typeface="Tahoma"/>
                <a:cs typeface="Tahoma"/>
              </a:rPr>
              <a:t> </a:t>
            </a:r>
            <a:r>
              <a:rPr sz="1100" dirty="0">
                <a:solidFill>
                  <a:srgbClr val="94A3B8"/>
                </a:solidFill>
                <a:latin typeface="Tahoma"/>
                <a:cs typeface="Tahoma"/>
              </a:rPr>
              <a:t>fall</a:t>
            </a:r>
            <a:r>
              <a:rPr sz="1100" spc="30" dirty="0">
                <a:solidFill>
                  <a:srgbClr val="94A3B8"/>
                </a:solidFill>
                <a:latin typeface="Tahoma"/>
                <a:cs typeface="Tahoma"/>
              </a:rPr>
              <a:t> </a:t>
            </a:r>
            <a:r>
              <a:rPr sz="1100" dirty="0">
                <a:solidFill>
                  <a:srgbClr val="94A3B8"/>
                </a:solidFill>
                <a:latin typeface="Tahoma"/>
                <a:cs typeface="Tahoma"/>
              </a:rPr>
              <a:t>off</a:t>
            </a:r>
            <a:r>
              <a:rPr sz="1100" spc="30" dirty="0">
                <a:solidFill>
                  <a:srgbClr val="94A3B8"/>
                </a:solidFill>
                <a:latin typeface="Tahoma"/>
                <a:cs typeface="Tahoma"/>
              </a:rPr>
              <a:t> </a:t>
            </a:r>
            <a:r>
              <a:rPr sz="1100" spc="45" dirty="0">
                <a:solidFill>
                  <a:srgbClr val="94A3B8"/>
                </a:solidFill>
                <a:latin typeface="Tahoma"/>
                <a:cs typeface="Tahoma"/>
              </a:rPr>
              <a:t>noticeably </a:t>
            </a:r>
            <a:r>
              <a:rPr sz="1100" spc="55" dirty="0">
                <a:solidFill>
                  <a:srgbClr val="94A3B8"/>
                </a:solidFill>
                <a:latin typeface="Tahoma"/>
                <a:cs typeface="Tahoma"/>
              </a:rPr>
              <a:t>on</a:t>
            </a:r>
            <a:r>
              <a:rPr sz="1100" spc="15" dirty="0">
                <a:solidFill>
                  <a:srgbClr val="94A3B8"/>
                </a:solidFill>
                <a:latin typeface="Tahoma"/>
                <a:cs typeface="Tahoma"/>
              </a:rPr>
              <a:t> </a:t>
            </a:r>
            <a:r>
              <a:rPr sz="1100" spc="50" dirty="0">
                <a:solidFill>
                  <a:srgbClr val="94A3B8"/>
                </a:solidFill>
                <a:latin typeface="Tahoma"/>
                <a:cs typeface="Tahoma"/>
              </a:rPr>
              <a:t>Saturdays</a:t>
            </a:r>
            <a:r>
              <a:rPr sz="1100" spc="20" dirty="0">
                <a:solidFill>
                  <a:srgbClr val="94A3B8"/>
                </a:solidFill>
                <a:latin typeface="Tahoma"/>
                <a:cs typeface="Tahoma"/>
              </a:rPr>
              <a:t> </a:t>
            </a:r>
            <a:r>
              <a:rPr sz="1100" spc="55" dirty="0">
                <a:solidFill>
                  <a:srgbClr val="94A3B8"/>
                </a:solidFill>
                <a:latin typeface="Tahoma"/>
                <a:cs typeface="Tahoma"/>
              </a:rPr>
              <a:t>and</a:t>
            </a:r>
            <a:r>
              <a:rPr sz="1100" spc="20" dirty="0">
                <a:solidFill>
                  <a:srgbClr val="94A3B8"/>
                </a:solidFill>
                <a:latin typeface="Tahoma"/>
                <a:cs typeface="Tahoma"/>
              </a:rPr>
              <a:t> </a:t>
            </a:r>
            <a:r>
              <a:rPr sz="1100" spc="55" dirty="0">
                <a:solidFill>
                  <a:srgbClr val="94A3B8"/>
                </a:solidFill>
                <a:latin typeface="Tahoma"/>
                <a:cs typeface="Tahoma"/>
              </a:rPr>
              <a:t>Sundays,</a:t>
            </a:r>
            <a:r>
              <a:rPr sz="1100" spc="20" dirty="0">
                <a:solidFill>
                  <a:srgbClr val="94A3B8"/>
                </a:solidFill>
                <a:latin typeface="Tahoma"/>
                <a:cs typeface="Tahoma"/>
              </a:rPr>
              <a:t> </a:t>
            </a:r>
            <a:r>
              <a:rPr sz="1100" spc="45" dirty="0">
                <a:solidFill>
                  <a:srgbClr val="94A3B8"/>
                </a:solidFill>
                <a:latin typeface="Tahoma"/>
                <a:cs typeface="Tahoma"/>
              </a:rPr>
              <a:t>proving</a:t>
            </a:r>
            <a:r>
              <a:rPr sz="1100" spc="20" dirty="0">
                <a:solidFill>
                  <a:srgbClr val="94A3B8"/>
                </a:solidFill>
                <a:latin typeface="Tahoma"/>
                <a:cs typeface="Tahoma"/>
              </a:rPr>
              <a:t> </a:t>
            </a:r>
            <a:r>
              <a:rPr sz="1100" dirty="0">
                <a:solidFill>
                  <a:srgbClr val="94A3B8"/>
                </a:solidFill>
                <a:latin typeface="Tahoma"/>
                <a:cs typeface="Tahoma"/>
              </a:rPr>
              <a:t>routine</a:t>
            </a:r>
            <a:r>
              <a:rPr sz="1100" spc="20" dirty="0">
                <a:solidFill>
                  <a:srgbClr val="94A3B8"/>
                </a:solidFill>
                <a:latin typeface="Tahoma"/>
                <a:cs typeface="Tahoma"/>
              </a:rPr>
              <a:t> </a:t>
            </a:r>
            <a:r>
              <a:rPr sz="1100" spc="50" dirty="0">
                <a:solidFill>
                  <a:srgbClr val="94A3B8"/>
                </a:solidFill>
                <a:latin typeface="Tahoma"/>
                <a:cs typeface="Tahoma"/>
              </a:rPr>
              <a:t>professional</a:t>
            </a:r>
            <a:r>
              <a:rPr sz="1100" spc="20" dirty="0">
                <a:solidFill>
                  <a:srgbClr val="94A3B8"/>
                </a:solidFill>
                <a:latin typeface="Tahoma"/>
                <a:cs typeface="Tahoma"/>
              </a:rPr>
              <a:t> </a:t>
            </a:r>
            <a:r>
              <a:rPr sz="1100" spc="-10" dirty="0">
                <a:solidFill>
                  <a:srgbClr val="94A3B8"/>
                </a:solidFill>
                <a:latin typeface="Tahoma"/>
                <a:cs typeface="Tahoma"/>
              </a:rPr>
              <a:t>commuting </a:t>
            </a:r>
            <a:r>
              <a:rPr sz="1100" spc="55" dirty="0">
                <a:solidFill>
                  <a:srgbClr val="94A3B8"/>
                </a:solidFill>
                <a:latin typeface="Tahoma"/>
                <a:cs typeface="Tahoma"/>
              </a:rPr>
              <a:t>provides</a:t>
            </a:r>
            <a:r>
              <a:rPr sz="1100" spc="15" dirty="0">
                <a:solidFill>
                  <a:srgbClr val="94A3B8"/>
                </a:solidFill>
                <a:latin typeface="Tahoma"/>
                <a:cs typeface="Tahoma"/>
              </a:rPr>
              <a:t> </a:t>
            </a:r>
            <a:r>
              <a:rPr sz="1100" dirty="0">
                <a:solidFill>
                  <a:srgbClr val="94A3B8"/>
                </a:solidFill>
                <a:latin typeface="Tahoma"/>
                <a:cs typeface="Tahoma"/>
              </a:rPr>
              <a:t>the</a:t>
            </a:r>
            <a:r>
              <a:rPr sz="1100" spc="20" dirty="0">
                <a:solidFill>
                  <a:srgbClr val="94A3B8"/>
                </a:solidFill>
                <a:latin typeface="Tahoma"/>
                <a:cs typeface="Tahoma"/>
              </a:rPr>
              <a:t> </a:t>
            </a:r>
            <a:r>
              <a:rPr sz="1100" spc="45" dirty="0">
                <a:solidFill>
                  <a:srgbClr val="94A3B8"/>
                </a:solidFill>
                <a:latin typeface="Tahoma"/>
                <a:cs typeface="Tahoma"/>
              </a:rPr>
              <a:t>platform's</a:t>
            </a:r>
            <a:r>
              <a:rPr sz="1100" spc="15" dirty="0">
                <a:solidFill>
                  <a:srgbClr val="94A3B8"/>
                </a:solidFill>
                <a:latin typeface="Tahoma"/>
                <a:cs typeface="Tahoma"/>
              </a:rPr>
              <a:t> </a:t>
            </a:r>
            <a:r>
              <a:rPr sz="1100" spc="55" dirty="0">
                <a:solidFill>
                  <a:srgbClr val="94A3B8"/>
                </a:solidFill>
                <a:latin typeface="Tahoma"/>
                <a:cs typeface="Tahoma"/>
              </a:rPr>
              <a:t>baseline</a:t>
            </a:r>
            <a:r>
              <a:rPr sz="1100" spc="20" dirty="0">
                <a:solidFill>
                  <a:srgbClr val="94A3B8"/>
                </a:solidFill>
                <a:latin typeface="Tahoma"/>
                <a:cs typeface="Tahoma"/>
              </a:rPr>
              <a:t> </a:t>
            </a:r>
            <a:r>
              <a:rPr sz="1100" spc="35" dirty="0">
                <a:solidFill>
                  <a:srgbClr val="94A3B8"/>
                </a:solidFill>
                <a:latin typeface="Tahoma"/>
                <a:cs typeface="Tahoma"/>
              </a:rPr>
              <a:t>workload.</a:t>
            </a:r>
            <a:endParaRPr sz="1100" dirty="0">
              <a:latin typeface="Tahoma"/>
              <a:cs typeface="Tahoma"/>
            </a:endParaRPr>
          </a:p>
        </p:txBody>
      </p:sp>
    </p:spTree>
    <p:extLst>
      <p:ext uri="{BB962C8B-B14F-4D97-AF65-F5344CB8AC3E}">
        <p14:creationId xmlns:p14="http://schemas.microsoft.com/office/powerpoint/2010/main" val="3589464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548521" y="262348"/>
            <a:ext cx="11094958" cy="883106"/>
          </a:xfrm>
          <a:prstGeom prst="rect">
            <a:avLst/>
          </a:prstGeom>
        </p:spPr>
        <p:txBody>
          <a:bodyPr vert="horz" wrap="square" lIns="0" tIns="325925" rIns="0" bIns="0" rtlCol="0">
            <a:spAutoFit/>
          </a:bodyPr>
          <a:lstStyle/>
          <a:p>
            <a:r>
              <a:rPr lang="en-IN" sz="3600" dirty="0">
                <a:solidFill>
                  <a:schemeClr val="tx1"/>
                </a:solidFill>
              </a:rPr>
              <a:t>Strategic Business Solutions &amp; Conclusions</a:t>
            </a:r>
          </a:p>
        </p:txBody>
      </p:sp>
      <p:grpSp>
        <p:nvGrpSpPr>
          <p:cNvPr id="4" name="object 4"/>
          <p:cNvGrpSpPr/>
          <p:nvPr/>
        </p:nvGrpSpPr>
        <p:grpSpPr>
          <a:xfrm>
            <a:off x="573722" y="1326198"/>
            <a:ext cx="5292090" cy="1697074"/>
            <a:chOff x="573722" y="1326197"/>
            <a:chExt cx="5292090" cy="2110105"/>
          </a:xfrm>
        </p:grpSpPr>
        <p:sp>
          <p:nvSpPr>
            <p:cNvPr id="5" name="object 5"/>
            <p:cNvSpPr/>
            <p:nvPr/>
          </p:nvSpPr>
          <p:spPr>
            <a:xfrm>
              <a:off x="581024" y="1333500"/>
              <a:ext cx="5277485" cy="2095500"/>
            </a:xfrm>
            <a:custGeom>
              <a:avLst/>
              <a:gdLst/>
              <a:ahLst/>
              <a:cxnLst/>
              <a:rect l="l" t="t" r="r" b="b"/>
              <a:pathLst>
                <a:path w="5277485" h="2095500">
                  <a:moveTo>
                    <a:pt x="5124615" y="2095499"/>
                  </a:moveTo>
                  <a:lnTo>
                    <a:pt x="152384" y="2095499"/>
                  </a:lnTo>
                  <a:lnTo>
                    <a:pt x="104219" y="2087731"/>
                  </a:lnTo>
                  <a:lnTo>
                    <a:pt x="62388" y="2066098"/>
                  </a:lnTo>
                  <a:lnTo>
                    <a:pt x="29401" y="2033111"/>
                  </a:lnTo>
                  <a:lnTo>
                    <a:pt x="7768" y="1991280"/>
                  </a:lnTo>
                  <a:lnTo>
                    <a:pt x="0" y="1943115"/>
                  </a:lnTo>
                  <a:lnTo>
                    <a:pt x="0" y="152384"/>
                  </a:ln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close/>
                </a:path>
              </a:pathLst>
            </a:custGeom>
            <a:solidFill>
              <a:srgbClr val="0F172A"/>
            </a:solidFill>
          </p:spPr>
          <p:txBody>
            <a:bodyPr wrap="square" lIns="0" tIns="0" rIns="0" bIns="0" rtlCol="0"/>
            <a:lstStyle/>
            <a:p>
              <a:endParaRPr/>
            </a:p>
          </p:txBody>
        </p:sp>
        <p:sp>
          <p:nvSpPr>
            <p:cNvPr id="6" name="object 6"/>
            <p:cNvSpPr/>
            <p:nvPr/>
          </p:nvSpPr>
          <p:spPr>
            <a:xfrm>
              <a:off x="581024" y="1333500"/>
              <a:ext cx="5277485" cy="2095500"/>
            </a:xfrm>
            <a:custGeom>
              <a:avLst/>
              <a:gdLst/>
              <a:ahLst/>
              <a:cxnLst/>
              <a:rect l="l" t="t" r="r" b="b"/>
              <a:pathLst>
                <a:path w="5277485" h="2095500">
                  <a:moveTo>
                    <a:pt x="0" y="152384"/>
                  </a:move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lnTo>
                    <a:pt x="152384" y="2095499"/>
                  </a:lnTo>
                  <a:lnTo>
                    <a:pt x="104219" y="2087731"/>
                  </a:lnTo>
                  <a:lnTo>
                    <a:pt x="62388" y="2066098"/>
                  </a:lnTo>
                  <a:lnTo>
                    <a:pt x="29401" y="2033111"/>
                  </a:lnTo>
                  <a:lnTo>
                    <a:pt x="7768" y="1991280"/>
                  </a:lnTo>
                  <a:lnTo>
                    <a:pt x="0" y="1943115"/>
                  </a:lnTo>
                  <a:lnTo>
                    <a:pt x="0" y="152384"/>
                  </a:lnTo>
                  <a:close/>
                </a:path>
              </a:pathLst>
            </a:custGeom>
            <a:ln w="14299">
              <a:solidFill>
                <a:srgbClr val="1E293B"/>
              </a:solidFill>
            </a:ln>
          </p:spPr>
          <p:txBody>
            <a:bodyPr wrap="square" lIns="0" tIns="0" rIns="0" bIns="0" rtlCol="0"/>
            <a:lstStyle/>
            <a:p>
              <a:endParaRPr/>
            </a:p>
          </p:txBody>
        </p:sp>
        <p:pic>
          <p:nvPicPr>
            <p:cNvPr id="7" name="object 7"/>
            <p:cNvPicPr/>
            <p:nvPr/>
          </p:nvPicPr>
          <p:blipFill>
            <a:blip r:embed="rId2" cstate="print"/>
            <a:stretch>
              <a:fillRect/>
            </a:stretch>
          </p:blipFill>
          <p:spPr>
            <a:xfrm>
              <a:off x="835025" y="1597533"/>
              <a:ext cx="254000" cy="209550"/>
            </a:xfrm>
            <a:prstGeom prst="rect">
              <a:avLst/>
            </a:prstGeom>
          </p:spPr>
        </p:pic>
      </p:grpSp>
      <p:sp>
        <p:nvSpPr>
          <p:cNvPr id="8" name="object 8"/>
          <p:cNvSpPr txBox="1"/>
          <p:nvPr/>
        </p:nvSpPr>
        <p:spPr>
          <a:xfrm>
            <a:off x="796925" y="1632458"/>
            <a:ext cx="4524375" cy="931544"/>
          </a:xfrm>
          <a:prstGeom prst="rect">
            <a:avLst/>
          </a:prstGeom>
        </p:spPr>
        <p:txBody>
          <a:bodyPr vert="horz" wrap="square" lIns="0" tIns="12700" rIns="0" bIns="0" rtlCol="0">
            <a:spAutoFit/>
          </a:bodyPr>
          <a:lstStyle/>
          <a:p>
            <a:pPr marL="327025">
              <a:lnSpc>
                <a:spcPct val="100000"/>
              </a:lnSpc>
              <a:spcBef>
                <a:spcPts val="100"/>
              </a:spcBef>
            </a:pPr>
            <a:r>
              <a:rPr sz="1650" b="1" spc="-165" dirty="0">
                <a:solidFill>
                  <a:srgbClr val="F3F4F6"/>
                </a:solidFill>
                <a:latin typeface="Verdana"/>
                <a:cs typeface="Verdana"/>
              </a:rPr>
              <a:t>Smart</a:t>
            </a:r>
            <a:r>
              <a:rPr sz="1650" b="1" spc="-235" dirty="0">
                <a:solidFill>
                  <a:srgbClr val="F3F4F6"/>
                </a:solidFill>
                <a:latin typeface="Verdana"/>
                <a:cs typeface="Verdana"/>
              </a:rPr>
              <a:t> </a:t>
            </a:r>
            <a:r>
              <a:rPr sz="1650" b="1" spc="-110" dirty="0">
                <a:solidFill>
                  <a:srgbClr val="F3F4F6"/>
                </a:solidFill>
                <a:latin typeface="Verdana"/>
                <a:cs typeface="Verdana"/>
              </a:rPr>
              <a:t>Fleet</a:t>
            </a:r>
            <a:r>
              <a:rPr sz="1650" b="1" spc="-229" dirty="0">
                <a:solidFill>
                  <a:srgbClr val="F3F4F6"/>
                </a:solidFill>
                <a:latin typeface="Verdana"/>
                <a:cs typeface="Verdana"/>
              </a:rPr>
              <a:t> </a:t>
            </a:r>
            <a:r>
              <a:rPr sz="1650" b="1" spc="-45" dirty="0">
                <a:solidFill>
                  <a:srgbClr val="F3F4F6"/>
                </a:solidFill>
                <a:latin typeface="Verdana"/>
                <a:cs typeface="Verdana"/>
              </a:rPr>
              <a:t>Rebalancing</a:t>
            </a:r>
            <a:endParaRPr sz="1650" dirty="0">
              <a:latin typeface="Verdana"/>
              <a:cs typeface="Verdana"/>
            </a:endParaRPr>
          </a:p>
          <a:p>
            <a:pPr marL="12700" marR="5080">
              <a:lnSpc>
                <a:spcPct val="102299"/>
              </a:lnSpc>
              <a:spcBef>
                <a:spcPts val="1095"/>
              </a:spcBef>
            </a:pPr>
            <a:r>
              <a:rPr sz="1100" dirty="0">
                <a:solidFill>
                  <a:srgbClr val="94A3B8"/>
                </a:solidFill>
                <a:latin typeface="Tahoma"/>
                <a:cs typeface="Tahoma"/>
              </a:rPr>
              <a:t>Direct</a:t>
            </a:r>
            <a:r>
              <a:rPr sz="1100" spc="100" dirty="0">
                <a:solidFill>
                  <a:srgbClr val="94A3B8"/>
                </a:solidFill>
                <a:latin typeface="Tahoma"/>
                <a:cs typeface="Tahoma"/>
              </a:rPr>
              <a:t> </a:t>
            </a:r>
            <a:r>
              <a:rPr sz="1100" dirty="0">
                <a:solidFill>
                  <a:srgbClr val="94A3B8"/>
                </a:solidFill>
                <a:latin typeface="Tahoma"/>
                <a:cs typeface="Tahoma"/>
              </a:rPr>
              <a:t>ground</a:t>
            </a:r>
            <a:r>
              <a:rPr sz="1100" spc="100" dirty="0">
                <a:solidFill>
                  <a:srgbClr val="94A3B8"/>
                </a:solidFill>
                <a:latin typeface="Tahoma"/>
                <a:cs typeface="Tahoma"/>
              </a:rPr>
              <a:t> </a:t>
            </a:r>
            <a:r>
              <a:rPr sz="1100" spc="75" dirty="0">
                <a:solidFill>
                  <a:srgbClr val="94A3B8"/>
                </a:solidFill>
                <a:latin typeface="Tahoma"/>
                <a:cs typeface="Tahoma"/>
              </a:rPr>
              <a:t>crews</a:t>
            </a:r>
            <a:r>
              <a:rPr sz="1100" spc="105" dirty="0">
                <a:solidFill>
                  <a:srgbClr val="94A3B8"/>
                </a:solidFill>
                <a:latin typeface="Tahoma"/>
                <a:cs typeface="Tahoma"/>
              </a:rPr>
              <a:t> </a:t>
            </a:r>
            <a:r>
              <a:rPr sz="1100" dirty="0">
                <a:solidFill>
                  <a:srgbClr val="94A3B8"/>
                </a:solidFill>
                <a:latin typeface="Tahoma"/>
                <a:cs typeface="Tahoma"/>
              </a:rPr>
              <a:t>to</a:t>
            </a:r>
            <a:r>
              <a:rPr sz="1100" spc="100" dirty="0">
                <a:solidFill>
                  <a:srgbClr val="94A3B8"/>
                </a:solidFill>
                <a:latin typeface="Tahoma"/>
                <a:cs typeface="Tahoma"/>
              </a:rPr>
              <a:t> </a:t>
            </a:r>
            <a:r>
              <a:rPr sz="1100" dirty="0">
                <a:solidFill>
                  <a:srgbClr val="94A3B8"/>
                </a:solidFill>
                <a:latin typeface="Tahoma"/>
                <a:cs typeface="Tahoma"/>
              </a:rPr>
              <a:t>run</a:t>
            </a:r>
            <a:r>
              <a:rPr sz="1100" spc="100" dirty="0">
                <a:solidFill>
                  <a:srgbClr val="94A3B8"/>
                </a:solidFill>
                <a:latin typeface="Tahoma"/>
                <a:cs typeface="Tahoma"/>
              </a:rPr>
              <a:t> </a:t>
            </a:r>
            <a:r>
              <a:rPr sz="1100" spc="50" dirty="0">
                <a:solidFill>
                  <a:srgbClr val="94A3B8"/>
                </a:solidFill>
                <a:latin typeface="Tahoma"/>
                <a:cs typeface="Tahoma"/>
              </a:rPr>
              <a:t>rebalancing</a:t>
            </a:r>
            <a:r>
              <a:rPr sz="1100" spc="105" dirty="0">
                <a:solidFill>
                  <a:srgbClr val="94A3B8"/>
                </a:solidFill>
                <a:latin typeface="Tahoma"/>
                <a:cs typeface="Tahoma"/>
              </a:rPr>
              <a:t> </a:t>
            </a:r>
            <a:r>
              <a:rPr sz="1100" spc="50" dirty="0">
                <a:solidFill>
                  <a:srgbClr val="94A3B8"/>
                </a:solidFill>
                <a:latin typeface="Tahoma"/>
                <a:cs typeface="Tahoma"/>
              </a:rPr>
              <a:t>operations</a:t>
            </a:r>
            <a:r>
              <a:rPr sz="1100" spc="100" dirty="0">
                <a:solidFill>
                  <a:srgbClr val="94A3B8"/>
                </a:solidFill>
                <a:latin typeface="Tahoma"/>
                <a:cs typeface="Tahoma"/>
              </a:rPr>
              <a:t> </a:t>
            </a:r>
            <a:r>
              <a:rPr sz="1100" dirty="0">
                <a:solidFill>
                  <a:srgbClr val="94A3B8"/>
                </a:solidFill>
                <a:latin typeface="Tahoma"/>
                <a:cs typeface="Tahoma"/>
              </a:rPr>
              <a:t>during</a:t>
            </a:r>
            <a:r>
              <a:rPr sz="1100" spc="140" dirty="0">
                <a:solidFill>
                  <a:srgbClr val="94A3B8"/>
                </a:solidFill>
                <a:latin typeface="Tahoma"/>
                <a:cs typeface="Tahoma"/>
              </a:rPr>
              <a:t> </a:t>
            </a:r>
            <a:r>
              <a:rPr sz="1100" b="1" spc="-20" dirty="0">
                <a:solidFill>
                  <a:srgbClr val="F7FAFC"/>
                </a:solidFill>
                <a:latin typeface="Tahoma"/>
                <a:cs typeface="Tahoma"/>
              </a:rPr>
              <a:t>off-peak midday</a:t>
            </a:r>
            <a:r>
              <a:rPr sz="1100" b="1" spc="40" dirty="0">
                <a:solidFill>
                  <a:srgbClr val="F7FAFC"/>
                </a:solidFill>
                <a:latin typeface="Tahoma"/>
                <a:cs typeface="Tahoma"/>
              </a:rPr>
              <a:t> </a:t>
            </a:r>
            <a:r>
              <a:rPr sz="1100" b="1" spc="-20" dirty="0">
                <a:solidFill>
                  <a:srgbClr val="F7FAFC"/>
                </a:solidFill>
                <a:latin typeface="Tahoma"/>
                <a:cs typeface="Tahoma"/>
              </a:rPr>
              <a:t>windows</a:t>
            </a:r>
            <a:r>
              <a:rPr sz="1100" b="1" spc="45" dirty="0">
                <a:solidFill>
                  <a:srgbClr val="F7FAFC"/>
                </a:solidFill>
                <a:latin typeface="Tahoma"/>
                <a:cs typeface="Tahoma"/>
              </a:rPr>
              <a:t> </a:t>
            </a:r>
            <a:r>
              <a:rPr sz="1100" b="1" spc="-100" dirty="0">
                <a:solidFill>
                  <a:srgbClr val="F7FAFC"/>
                </a:solidFill>
                <a:latin typeface="Tahoma"/>
                <a:cs typeface="Tahoma"/>
              </a:rPr>
              <a:t>(10</a:t>
            </a:r>
            <a:r>
              <a:rPr sz="1100" b="1" spc="40" dirty="0">
                <a:solidFill>
                  <a:srgbClr val="F7FAFC"/>
                </a:solidFill>
                <a:latin typeface="Tahoma"/>
                <a:cs typeface="Tahoma"/>
              </a:rPr>
              <a:t> </a:t>
            </a:r>
            <a:r>
              <a:rPr sz="1100" b="1" dirty="0">
                <a:solidFill>
                  <a:srgbClr val="F7FAFC"/>
                </a:solidFill>
                <a:latin typeface="Tahoma"/>
                <a:cs typeface="Tahoma"/>
              </a:rPr>
              <a:t>AM</a:t>
            </a:r>
            <a:r>
              <a:rPr sz="1100" b="1" spc="45" dirty="0">
                <a:solidFill>
                  <a:srgbClr val="F7FAFC"/>
                </a:solidFill>
                <a:latin typeface="Tahoma"/>
                <a:cs typeface="Tahoma"/>
              </a:rPr>
              <a:t> </a:t>
            </a:r>
            <a:r>
              <a:rPr sz="1100" b="1" dirty="0">
                <a:solidFill>
                  <a:srgbClr val="F7FAFC"/>
                </a:solidFill>
                <a:latin typeface="Tahoma"/>
                <a:cs typeface="Tahoma"/>
              </a:rPr>
              <a:t>-</a:t>
            </a:r>
            <a:r>
              <a:rPr sz="1100" b="1" spc="45" dirty="0">
                <a:solidFill>
                  <a:srgbClr val="F7FAFC"/>
                </a:solidFill>
                <a:latin typeface="Tahoma"/>
                <a:cs typeface="Tahoma"/>
              </a:rPr>
              <a:t> </a:t>
            </a:r>
            <a:r>
              <a:rPr sz="1100" b="1" dirty="0">
                <a:solidFill>
                  <a:srgbClr val="F7FAFC"/>
                </a:solidFill>
                <a:latin typeface="Tahoma"/>
                <a:cs typeface="Tahoma"/>
              </a:rPr>
              <a:t>2</a:t>
            </a:r>
            <a:r>
              <a:rPr sz="1100" b="1" spc="50" dirty="0">
                <a:solidFill>
                  <a:srgbClr val="F7FAFC"/>
                </a:solidFill>
                <a:latin typeface="Tahoma"/>
                <a:cs typeface="Tahoma"/>
              </a:rPr>
              <a:t> </a:t>
            </a:r>
            <a:r>
              <a:rPr sz="1100" b="1" dirty="0">
                <a:solidFill>
                  <a:srgbClr val="F7FAFC"/>
                </a:solidFill>
                <a:latin typeface="Tahoma"/>
                <a:cs typeface="Tahoma"/>
              </a:rPr>
              <a:t>PM)</a:t>
            </a:r>
            <a:r>
              <a:rPr sz="1100" dirty="0">
                <a:solidFill>
                  <a:srgbClr val="94A3B8"/>
                </a:solidFill>
                <a:latin typeface="Tahoma"/>
                <a:cs typeface="Tahoma"/>
              </a:rPr>
              <a:t>,</a:t>
            </a:r>
            <a:r>
              <a:rPr sz="1100" spc="70" dirty="0">
                <a:solidFill>
                  <a:srgbClr val="94A3B8"/>
                </a:solidFill>
                <a:latin typeface="Tahoma"/>
                <a:cs typeface="Tahoma"/>
              </a:rPr>
              <a:t> </a:t>
            </a:r>
            <a:r>
              <a:rPr sz="1100" spc="50" dirty="0">
                <a:solidFill>
                  <a:srgbClr val="94A3B8"/>
                </a:solidFill>
                <a:latin typeface="Tahoma"/>
                <a:cs typeface="Tahoma"/>
              </a:rPr>
              <a:t>moving</a:t>
            </a:r>
            <a:r>
              <a:rPr sz="1100" spc="70" dirty="0">
                <a:solidFill>
                  <a:srgbClr val="94A3B8"/>
                </a:solidFill>
                <a:latin typeface="Tahoma"/>
                <a:cs typeface="Tahoma"/>
              </a:rPr>
              <a:t> </a:t>
            </a:r>
            <a:r>
              <a:rPr sz="1100" dirty="0">
                <a:solidFill>
                  <a:srgbClr val="94A3B8"/>
                </a:solidFill>
                <a:latin typeface="Tahoma"/>
                <a:cs typeface="Tahoma"/>
              </a:rPr>
              <a:t>idle</a:t>
            </a:r>
            <a:r>
              <a:rPr sz="1100" spc="70" dirty="0">
                <a:solidFill>
                  <a:srgbClr val="94A3B8"/>
                </a:solidFill>
                <a:latin typeface="Tahoma"/>
                <a:cs typeface="Tahoma"/>
              </a:rPr>
              <a:t> </a:t>
            </a:r>
            <a:r>
              <a:rPr sz="1100" dirty="0">
                <a:solidFill>
                  <a:srgbClr val="94A3B8"/>
                </a:solidFill>
                <a:latin typeface="Tahoma"/>
                <a:cs typeface="Tahoma"/>
              </a:rPr>
              <a:t>residential</a:t>
            </a:r>
            <a:r>
              <a:rPr sz="1100" spc="70" dirty="0">
                <a:solidFill>
                  <a:srgbClr val="94A3B8"/>
                </a:solidFill>
                <a:latin typeface="Tahoma"/>
                <a:cs typeface="Tahoma"/>
              </a:rPr>
              <a:t> </a:t>
            </a:r>
            <a:r>
              <a:rPr sz="1100" dirty="0">
                <a:solidFill>
                  <a:srgbClr val="94A3B8"/>
                </a:solidFill>
                <a:latin typeface="Tahoma"/>
                <a:cs typeface="Tahoma"/>
              </a:rPr>
              <a:t>units</a:t>
            </a:r>
            <a:r>
              <a:rPr sz="1100" spc="70" dirty="0">
                <a:solidFill>
                  <a:srgbClr val="94A3B8"/>
                </a:solidFill>
                <a:latin typeface="Tahoma"/>
                <a:cs typeface="Tahoma"/>
              </a:rPr>
              <a:t> </a:t>
            </a:r>
            <a:r>
              <a:rPr sz="1100" spc="-25" dirty="0">
                <a:solidFill>
                  <a:srgbClr val="94A3B8"/>
                </a:solidFill>
                <a:latin typeface="Tahoma"/>
                <a:cs typeface="Tahoma"/>
              </a:rPr>
              <a:t>to </a:t>
            </a:r>
            <a:r>
              <a:rPr sz="1100" spc="65" dirty="0">
                <a:solidFill>
                  <a:srgbClr val="94A3B8"/>
                </a:solidFill>
                <a:latin typeface="Tahoma"/>
                <a:cs typeface="Tahoma"/>
              </a:rPr>
              <a:t>business</a:t>
            </a:r>
            <a:r>
              <a:rPr sz="1100" dirty="0">
                <a:solidFill>
                  <a:srgbClr val="94A3B8"/>
                </a:solidFill>
                <a:latin typeface="Tahoma"/>
                <a:cs typeface="Tahoma"/>
              </a:rPr>
              <a:t> </a:t>
            </a:r>
            <a:r>
              <a:rPr sz="1100" spc="65" dirty="0">
                <a:solidFill>
                  <a:srgbClr val="94A3B8"/>
                </a:solidFill>
                <a:latin typeface="Tahoma"/>
                <a:cs typeface="Tahoma"/>
              </a:rPr>
              <a:t>sectors</a:t>
            </a:r>
            <a:r>
              <a:rPr sz="1100" spc="5" dirty="0">
                <a:solidFill>
                  <a:srgbClr val="94A3B8"/>
                </a:solidFill>
                <a:latin typeface="Tahoma"/>
                <a:cs typeface="Tahoma"/>
              </a:rPr>
              <a:t> </a:t>
            </a:r>
            <a:r>
              <a:rPr sz="1100" spc="50" dirty="0">
                <a:solidFill>
                  <a:srgbClr val="94A3B8"/>
                </a:solidFill>
                <a:latin typeface="Tahoma"/>
                <a:cs typeface="Tahoma"/>
              </a:rPr>
              <a:t>before</a:t>
            </a:r>
            <a:r>
              <a:rPr sz="1100" spc="5" dirty="0">
                <a:solidFill>
                  <a:srgbClr val="94A3B8"/>
                </a:solidFill>
                <a:latin typeface="Tahoma"/>
                <a:cs typeface="Tahoma"/>
              </a:rPr>
              <a:t> </a:t>
            </a:r>
            <a:r>
              <a:rPr sz="1100" dirty="0">
                <a:solidFill>
                  <a:srgbClr val="94A3B8"/>
                </a:solidFill>
                <a:latin typeface="Tahoma"/>
                <a:cs typeface="Tahoma"/>
              </a:rPr>
              <a:t>the</a:t>
            </a:r>
            <a:r>
              <a:rPr sz="1100" spc="5" dirty="0">
                <a:solidFill>
                  <a:srgbClr val="94A3B8"/>
                </a:solidFill>
                <a:latin typeface="Tahoma"/>
                <a:cs typeface="Tahoma"/>
              </a:rPr>
              <a:t> </a:t>
            </a:r>
            <a:r>
              <a:rPr sz="1100" spc="50" dirty="0">
                <a:solidFill>
                  <a:srgbClr val="94A3B8"/>
                </a:solidFill>
                <a:latin typeface="Tahoma"/>
                <a:cs typeface="Tahoma"/>
              </a:rPr>
              <a:t>evening</a:t>
            </a:r>
            <a:r>
              <a:rPr sz="1100" spc="5" dirty="0">
                <a:solidFill>
                  <a:srgbClr val="94A3B8"/>
                </a:solidFill>
                <a:latin typeface="Tahoma"/>
                <a:cs typeface="Tahoma"/>
              </a:rPr>
              <a:t> </a:t>
            </a:r>
            <a:r>
              <a:rPr sz="1100" spc="-10" dirty="0">
                <a:solidFill>
                  <a:srgbClr val="94A3B8"/>
                </a:solidFill>
                <a:latin typeface="Tahoma"/>
                <a:cs typeface="Tahoma"/>
              </a:rPr>
              <a:t>rush.</a:t>
            </a:r>
            <a:endParaRPr sz="1100" dirty="0">
              <a:latin typeface="Tahoma"/>
              <a:cs typeface="Tahoma"/>
            </a:endParaRPr>
          </a:p>
        </p:txBody>
      </p:sp>
      <p:grpSp>
        <p:nvGrpSpPr>
          <p:cNvPr id="9" name="object 9"/>
          <p:cNvGrpSpPr/>
          <p:nvPr/>
        </p:nvGrpSpPr>
        <p:grpSpPr>
          <a:xfrm>
            <a:off x="6326822" y="1326198"/>
            <a:ext cx="5292090" cy="1685328"/>
            <a:chOff x="6326822" y="1326197"/>
            <a:chExt cx="5292090" cy="2110105"/>
          </a:xfrm>
        </p:grpSpPr>
        <p:sp>
          <p:nvSpPr>
            <p:cNvPr id="10" name="object 10"/>
            <p:cNvSpPr/>
            <p:nvPr/>
          </p:nvSpPr>
          <p:spPr>
            <a:xfrm>
              <a:off x="6334124" y="1333500"/>
              <a:ext cx="5277485" cy="2095500"/>
            </a:xfrm>
            <a:custGeom>
              <a:avLst/>
              <a:gdLst/>
              <a:ahLst/>
              <a:cxnLst/>
              <a:rect l="l" t="t" r="r" b="b"/>
              <a:pathLst>
                <a:path w="5277484" h="2095500">
                  <a:moveTo>
                    <a:pt x="5124615" y="2095499"/>
                  </a:moveTo>
                  <a:lnTo>
                    <a:pt x="152384" y="2095499"/>
                  </a:lnTo>
                  <a:lnTo>
                    <a:pt x="104219" y="2087731"/>
                  </a:lnTo>
                  <a:lnTo>
                    <a:pt x="62388" y="2066098"/>
                  </a:lnTo>
                  <a:lnTo>
                    <a:pt x="29401" y="2033111"/>
                  </a:lnTo>
                  <a:lnTo>
                    <a:pt x="7768" y="1991280"/>
                  </a:lnTo>
                  <a:lnTo>
                    <a:pt x="0" y="1943115"/>
                  </a:lnTo>
                  <a:lnTo>
                    <a:pt x="0" y="152384"/>
                  </a:ln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close/>
                </a:path>
              </a:pathLst>
            </a:custGeom>
            <a:solidFill>
              <a:srgbClr val="0F172A"/>
            </a:solidFill>
          </p:spPr>
          <p:txBody>
            <a:bodyPr wrap="square" lIns="0" tIns="0" rIns="0" bIns="0" rtlCol="0"/>
            <a:lstStyle/>
            <a:p>
              <a:endParaRPr/>
            </a:p>
          </p:txBody>
        </p:sp>
        <p:sp>
          <p:nvSpPr>
            <p:cNvPr id="11" name="object 11"/>
            <p:cNvSpPr/>
            <p:nvPr/>
          </p:nvSpPr>
          <p:spPr>
            <a:xfrm>
              <a:off x="6334124" y="1333500"/>
              <a:ext cx="5277485" cy="2095500"/>
            </a:xfrm>
            <a:custGeom>
              <a:avLst/>
              <a:gdLst/>
              <a:ahLst/>
              <a:cxnLst/>
              <a:rect l="l" t="t" r="r" b="b"/>
              <a:pathLst>
                <a:path w="5277484" h="2095500">
                  <a:moveTo>
                    <a:pt x="0" y="152384"/>
                  </a:move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lnTo>
                    <a:pt x="152384" y="2095499"/>
                  </a:lnTo>
                  <a:lnTo>
                    <a:pt x="104219" y="2087731"/>
                  </a:lnTo>
                  <a:lnTo>
                    <a:pt x="62388" y="2066098"/>
                  </a:lnTo>
                  <a:lnTo>
                    <a:pt x="29401" y="2033111"/>
                  </a:lnTo>
                  <a:lnTo>
                    <a:pt x="7768" y="1991280"/>
                  </a:lnTo>
                  <a:lnTo>
                    <a:pt x="0" y="1943115"/>
                  </a:lnTo>
                  <a:lnTo>
                    <a:pt x="0" y="152384"/>
                  </a:lnTo>
                  <a:close/>
                </a:path>
              </a:pathLst>
            </a:custGeom>
            <a:ln w="14299">
              <a:solidFill>
                <a:srgbClr val="1E293B"/>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6588125" y="1575308"/>
              <a:ext cx="254000" cy="254000"/>
            </a:xfrm>
            <a:prstGeom prst="rect">
              <a:avLst/>
            </a:prstGeom>
          </p:spPr>
        </p:pic>
      </p:grpSp>
      <p:sp>
        <p:nvSpPr>
          <p:cNvPr id="13" name="object 13"/>
          <p:cNvSpPr txBox="1"/>
          <p:nvPr/>
        </p:nvSpPr>
        <p:spPr>
          <a:xfrm>
            <a:off x="6550025" y="1632458"/>
            <a:ext cx="4841875" cy="931544"/>
          </a:xfrm>
          <a:prstGeom prst="rect">
            <a:avLst/>
          </a:prstGeom>
        </p:spPr>
        <p:txBody>
          <a:bodyPr vert="horz" wrap="square" lIns="0" tIns="12700" rIns="0" bIns="0" rtlCol="0">
            <a:spAutoFit/>
          </a:bodyPr>
          <a:lstStyle/>
          <a:p>
            <a:pPr marL="327025">
              <a:lnSpc>
                <a:spcPct val="100000"/>
              </a:lnSpc>
              <a:spcBef>
                <a:spcPts val="100"/>
              </a:spcBef>
            </a:pPr>
            <a:r>
              <a:rPr sz="1650" b="1" spc="-145" dirty="0">
                <a:solidFill>
                  <a:srgbClr val="F3F4F6"/>
                </a:solidFill>
                <a:latin typeface="Verdana"/>
                <a:cs typeface="Verdana"/>
              </a:rPr>
              <a:t>Weekend</a:t>
            </a:r>
            <a:r>
              <a:rPr sz="1650" b="1" spc="-235" dirty="0">
                <a:solidFill>
                  <a:srgbClr val="F3F4F6"/>
                </a:solidFill>
                <a:latin typeface="Verdana"/>
                <a:cs typeface="Verdana"/>
              </a:rPr>
              <a:t> </a:t>
            </a:r>
            <a:r>
              <a:rPr sz="1650" b="1" spc="-120" dirty="0">
                <a:solidFill>
                  <a:srgbClr val="F3F4F6"/>
                </a:solidFill>
                <a:latin typeface="Verdana"/>
                <a:cs typeface="Verdana"/>
              </a:rPr>
              <a:t>Asset</a:t>
            </a:r>
            <a:r>
              <a:rPr sz="1650" b="1" spc="-229" dirty="0">
                <a:solidFill>
                  <a:srgbClr val="F3F4F6"/>
                </a:solidFill>
                <a:latin typeface="Verdana"/>
                <a:cs typeface="Verdana"/>
              </a:rPr>
              <a:t> </a:t>
            </a:r>
            <a:r>
              <a:rPr sz="1650" b="1" spc="-45" dirty="0">
                <a:solidFill>
                  <a:srgbClr val="F3F4F6"/>
                </a:solidFill>
                <a:latin typeface="Verdana"/>
                <a:cs typeface="Verdana"/>
              </a:rPr>
              <a:t>Monetization</a:t>
            </a:r>
            <a:endParaRPr sz="1650">
              <a:latin typeface="Verdana"/>
              <a:cs typeface="Verdana"/>
            </a:endParaRPr>
          </a:p>
          <a:p>
            <a:pPr marL="12700" marR="5080">
              <a:lnSpc>
                <a:spcPct val="102299"/>
              </a:lnSpc>
              <a:spcBef>
                <a:spcPts val="1095"/>
              </a:spcBef>
            </a:pPr>
            <a:r>
              <a:rPr sz="1100" dirty="0">
                <a:solidFill>
                  <a:srgbClr val="94A3B8"/>
                </a:solidFill>
                <a:latin typeface="Tahoma"/>
                <a:cs typeface="Tahoma"/>
              </a:rPr>
              <a:t>Introduce</a:t>
            </a:r>
            <a:r>
              <a:rPr sz="1100" spc="135" dirty="0">
                <a:solidFill>
                  <a:srgbClr val="94A3B8"/>
                </a:solidFill>
                <a:latin typeface="Tahoma"/>
                <a:cs typeface="Tahoma"/>
              </a:rPr>
              <a:t> </a:t>
            </a:r>
            <a:r>
              <a:rPr sz="1100" dirty="0">
                <a:solidFill>
                  <a:srgbClr val="94A3B8"/>
                </a:solidFill>
                <a:latin typeface="Tahoma"/>
                <a:cs typeface="Tahoma"/>
              </a:rPr>
              <a:t>targeted</a:t>
            </a:r>
            <a:r>
              <a:rPr sz="1100" spc="140" dirty="0">
                <a:solidFill>
                  <a:srgbClr val="94A3B8"/>
                </a:solidFill>
                <a:latin typeface="Tahoma"/>
                <a:cs typeface="Tahoma"/>
              </a:rPr>
              <a:t> </a:t>
            </a:r>
            <a:r>
              <a:rPr sz="1100" b="1" dirty="0">
                <a:solidFill>
                  <a:srgbClr val="F7FAFC"/>
                </a:solidFill>
                <a:latin typeface="Tahoma"/>
                <a:cs typeface="Tahoma"/>
              </a:rPr>
              <a:t>"Weekend</a:t>
            </a:r>
            <a:r>
              <a:rPr sz="1100" b="1" spc="110" dirty="0">
                <a:solidFill>
                  <a:srgbClr val="F7FAFC"/>
                </a:solidFill>
                <a:latin typeface="Tahoma"/>
                <a:cs typeface="Tahoma"/>
              </a:rPr>
              <a:t> </a:t>
            </a:r>
            <a:r>
              <a:rPr sz="1100" b="1" spc="-10" dirty="0">
                <a:solidFill>
                  <a:srgbClr val="F7FAFC"/>
                </a:solidFill>
                <a:latin typeface="Tahoma"/>
                <a:cs typeface="Tahoma"/>
              </a:rPr>
              <a:t>Explorer"</a:t>
            </a:r>
            <a:r>
              <a:rPr sz="1100" b="1" spc="100" dirty="0">
                <a:solidFill>
                  <a:srgbClr val="F7FAFC"/>
                </a:solidFill>
                <a:latin typeface="Tahoma"/>
                <a:cs typeface="Tahoma"/>
              </a:rPr>
              <a:t> </a:t>
            </a:r>
            <a:r>
              <a:rPr sz="1100" b="1" dirty="0">
                <a:solidFill>
                  <a:srgbClr val="F7FAFC"/>
                </a:solidFill>
                <a:latin typeface="Tahoma"/>
                <a:cs typeface="Tahoma"/>
              </a:rPr>
              <a:t>bundles</a:t>
            </a:r>
            <a:r>
              <a:rPr sz="1100" b="1" spc="175" dirty="0">
                <a:solidFill>
                  <a:srgbClr val="F7FAFC"/>
                </a:solidFill>
                <a:latin typeface="Tahoma"/>
                <a:cs typeface="Tahoma"/>
              </a:rPr>
              <a:t> </a:t>
            </a:r>
            <a:r>
              <a:rPr sz="1100" spc="55" dirty="0">
                <a:solidFill>
                  <a:srgbClr val="94A3B8"/>
                </a:solidFill>
                <a:latin typeface="Tahoma"/>
                <a:cs typeface="Tahoma"/>
              </a:rPr>
              <a:t>and</a:t>
            </a:r>
            <a:r>
              <a:rPr sz="1100" spc="135" dirty="0">
                <a:solidFill>
                  <a:srgbClr val="94A3B8"/>
                </a:solidFill>
                <a:latin typeface="Tahoma"/>
                <a:cs typeface="Tahoma"/>
              </a:rPr>
              <a:t> </a:t>
            </a:r>
            <a:r>
              <a:rPr sz="1100" dirty="0">
                <a:solidFill>
                  <a:srgbClr val="94A3B8"/>
                </a:solidFill>
                <a:latin typeface="Tahoma"/>
                <a:cs typeface="Tahoma"/>
              </a:rPr>
              <a:t>partnership</a:t>
            </a:r>
            <a:r>
              <a:rPr sz="1100" spc="145" dirty="0">
                <a:solidFill>
                  <a:srgbClr val="94A3B8"/>
                </a:solidFill>
                <a:latin typeface="Tahoma"/>
                <a:cs typeface="Tahoma"/>
              </a:rPr>
              <a:t> </a:t>
            </a:r>
            <a:r>
              <a:rPr sz="1100" spc="45" dirty="0">
                <a:solidFill>
                  <a:srgbClr val="94A3B8"/>
                </a:solidFill>
                <a:latin typeface="Tahoma"/>
                <a:cs typeface="Tahoma"/>
              </a:rPr>
              <a:t>perks </a:t>
            </a:r>
            <a:r>
              <a:rPr sz="1100" spc="10" dirty="0">
                <a:solidFill>
                  <a:srgbClr val="94A3B8"/>
                </a:solidFill>
                <a:latin typeface="Tahoma"/>
                <a:cs typeface="Tahoma"/>
              </a:rPr>
              <a:t>with</a:t>
            </a:r>
            <a:r>
              <a:rPr sz="1100" spc="80" dirty="0">
                <a:solidFill>
                  <a:srgbClr val="94A3B8"/>
                </a:solidFill>
                <a:latin typeface="Tahoma"/>
                <a:cs typeface="Tahoma"/>
              </a:rPr>
              <a:t> </a:t>
            </a:r>
            <a:r>
              <a:rPr sz="1100" spc="60" dirty="0">
                <a:solidFill>
                  <a:srgbClr val="94A3B8"/>
                </a:solidFill>
                <a:latin typeface="Tahoma"/>
                <a:cs typeface="Tahoma"/>
              </a:rPr>
              <a:t>parks/cafes</a:t>
            </a:r>
            <a:r>
              <a:rPr sz="1100" spc="85" dirty="0">
                <a:solidFill>
                  <a:srgbClr val="94A3B8"/>
                </a:solidFill>
                <a:latin typeface="Tahoma"/>
                <a:cs typeface="Tahoma"/>
              </a:rPr>
              <a:t> </a:t>
            </a:r>
            <a:r>
              <a:rPr sz="1100" spc="10" dirty="0">
                <a:solidFill>
                  <a:srgbClr val="94A3B8"/>
                </a:solidFill>
                <a:latin typeface="Tahoma"/>
                <a:cs typeface="Tahoma"/>
              </a:rPr>
              <a:t>to</a:t>
            </a:r>
            <a:r>
              <a:rPr sz="1100" spc="80" dirty="0">
                <a:solidFill>
                  <a:srgbClr val="94A3B8"/>
                </a:solidFill>
                <a:latin typeface="Tahoma"/>
                <a:cs typeface="Tahoma"/>
              </a:rPr>
              <a:t> </a:t>
            </a:r>
            <a:r>
              <a:rPr sz="1100" spc="50" dirty="0">
                <a:solidFill>
                  <a:srgbClr val="94A3B8"/>
                </a:solidFill>
                <a:latin typeface="Tahoma"/>
                <a:cs typeface="Tahoma"/>
              </a:rPr>
              <a:t>capture</a:t>
            </a:r>
            <a:r>
              <a:rPr sz="1100" spc="85" dirty="0">
                <a:solidFill>
                  <a:srgbClr val="94A3B8"/>
                </a:solidFill>
                <a:latin typeface="Tahoma"/>
                <a:cs typeface="Tahoma"/>
              </a:rPr>
              <a:t> </a:t>
            </a:r>
            <a:r>
              <a:rPr sz="1100" spc="10" dirty="0">
                <a:solidFill>
                  <a:srgbClr val="94A3B8"/>
                </a:solidFill>
                <a:latin typeface="Tahoma"/>
                <a:cs typeface="Tahoma"/>
              </a:rPr>
              <a:t>high-duration</a:t>
            </a:r>
            <a:r>
              <a:rPr sz="1100" spc="80" dirty="0">
                <a:solidFill>
                  <a:srgbClr val="94A3B8"/>
                </a:solidFill>
                <a:latin typeface="Tahoma"/>
                <a:cs typeface="Tahoma"/>
              </a:rPr>
              <a:t> </a:t>
            </a:r>
            <a:r>
              <a:rPr sz="1100" spc="60" dirty="0">
                <a:solidFill>
                  <a:srgbClr val="94A3B8"/>
                </a:solidFill>
                <a:latin typeface="Tahoma"/>
                <a:cs typeface="Tahoma"/>
              </a:rPr>
              <a:t>casual</a:t>
            </a:r>
            <a:r>
              <a:rPr sz="1100" spc="85" dirty="0">
                <a:solidFill>
                  <a:srgbClr val="94A3B8"/>
                </a:solidFill>
                <a:latin typeface="Tahoma"/>
                <a:cs typeface="Tahoma"/>
              </a:rPr>
              <a:t> </a:t>
            </a:r>
            <a:r>
              <a:rPr sz="1100" spc="10" dirty="0">
                <a:solidFill>
                  <a:srgbClr val="94A3B8"/>
                </a:solidFill>
                <a:latin typeface="Tahoma"/>
                <a:cs typeface="Tahoma"/>
              </a:rPr>
              <a:t>tourist</a:t>
            </a:r>
            <a:r>
              <a:rPr sz="1100" spc="85" dirty="0">
                <a:solidFill>
                  <a:srgbClr val="94A3B8"/>
                </a:solidFill>
                <a:latin typeface="Tahoma"/>
                <a:cs typeface="Tahoma"/>
              </a:rPr>
              <a:t> </a:t>
            </a:r>
            <a:r>
              <a:rPr sz="1100" spc="60" dirty="0">
                <a:solidFill>
                  <a:srgbClr val="94A3B8"/>
                </a:solidFill>
                <a:latin typeface="Tahoma"/>
                <a:cs typeface="Tahoma"/>
              </a:rPr>
              <a:t>demand</a:t>
            </a:r>
            <a:r>
              <a:rPr sz="1100" spc="80" dirty="0">
                <a:solidFill>
                  <a:srgbClr val="94A3B8"/>
                </a:solidFill>
                <a:latin typeface="Tahoma"/>
                <a:cs typeface="Tahoma"/>
              </a:rPr>
              <a:t> </a:t>
            </a:r>
            <a:r>
              <a:rPr sz="1100" spc="30" dirty="0">
                <a:solidFill>
                  <a:srgbClr val="94A3B8"/>
                </a:solidFill>
                <a:latin typeface="Tahoma"/>
                <a:cs typeface="Tahoma"/>
              </a:rPr>
              <a:t>and </a:t>
            </a:r>
            <a:r>
              <a:rPr sz="1100" spc="55" dirty="0">
                <a:solidFill>
                  <a:srgbClr val="94A3B8"/>
                </a:solidFill>
                <a:latin typeface="Tahoma"/>
                <a:cs typeface="Tahoma"/>
              </a:rPr>
              <a:t>monetize</a:t>
            </a:r>
            <a:r>
              <a:rPr sz="1100" spc="-15" dirty="0">
                <a:solidFill>
                  <a:srgbClr val="94A3B8"/>
                </a:solidFill>
                <a:latin typeface="Tahoma"/>
                <a:cs typeface="Tahoma"/>
              </a:rPr>
              <a:t> </a:t>
            </a:r>
            <a:r>
              <a:rPr sz="1100" spc="60" dirty="0">
                <a:solidFill>
                  <a:srgbClr val="94A3B8"/>
                </a:solidFill>
                <a:latin typeface="Tahoma"/>
                <a:cs typeface="Tahoma"/>
              </a:rPr>
              <a:t>weekend</a:t>
            </a:r>
            <a:r>
              <a:rPr sz="1100" spc="-10" dirty="0">
                <a:solidFill>
                  <a:srgbClr val="94A3B8"/>
                </a:solidFill>
                <a:latin typeface="Tahoma"/>
                <a:cs typeface="Tahoma"/>
              </a:rPr>
              <a:t> inventory.</a:t>
            </a:r>
            <a:endParaRPr sz="1100">
              <a:latin typeface="Tahoma"/>
              <a:cs typeface="Tahoma"/>
            </a:endParaRPr>
          </a:p>
        </p:txBody>
      </p:sp>
      <p:grpSp>
        <p:nvGrpSpPr>
          <p:cNvPr id="14" name="object 14"/>
          <p:cNvGrpSpPr/>
          <p:nvPr/>
        </p:nvGrpSpPr>
        <p:grpSpPr>
          <a:xfrm>
            <a:off x="573722" y="3707448"/>
            <a:ext cx="5277485" cy="1542271"/>
            <a:chOff x="581024" y="3714749"/>
            <a:chExt cx="5277485" cy="2095500"/>
          </a:xfrm>
        </p:grpSpPr>
        <p:sp>
          <p:nvSpPr>
            <p:cNvPr id="15" name="object 15"/>
            <p:cNvSpPr/>
            <p:nvPr/>
          </p:nvSpPr>
          <p:spPr>
            <a:xfrm>
              <a:off x="581024" y="3714749"/>
              <a:ext cx="5277485" cy="2095500"/>
            </a:xfrm>
            <a:custGeom>
              <a:avLst/>
              <a:gdLst/>
              <a:ahLst/>
              <a:cxnLst/>
              <a:rect l="l" t="t" r="r" b="b"/>
              <a:pathLst>
                <a:path w="5277485" h="2095500">
                  <a:moveTo>
                    <a:pt x="5124615" y="2095499"/>
                  </a:moveTo>
                  <a:lnTo>
                    <a:pt x="152384" y="2095499"/>
                  </a:lnTo>
                  <a:lnTo>
                    <a:pt x="104219" y="2087731"/>
                  </a:lnTo>
                  <a:lnTo>
                    <a:pt x="62388" y="2066098"/>
                  </a:lnTo>
                  <a:lnTo>
                    <a:pt x="29401" y="2033111"/>
                  </a:lnTo>
                  <a:lnTo>
                    <a:pt x="7768" y="1991280"/>
                  </a:lnTo>
                  <a:lnTo>
                    <a:pt x="0" y="1943115"/>
                  </a:lnTo>
                  <a:lnTo>
                    <a:pt x="0" y="152384"/>
                  </a:ln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close/>
                </a:path>
              </a:pathLst>
            </a:custGeom>
            <a:solidFill>
              <a:srgbClr val="0F172A"/>
            </a:solidFill>
          </p:spPr>
          <p:txBody>
            <a:bodyPr wrap="square" lIns="0" tIns="0" rIns="0" bIns="0" rtlCol="0"/>
            <a:lstStyle/>
            <a:p>
              <a:endParaRPr dirty="0"/>
            </a:p>
          </p:txBody>
        </p:sp>
        <p:sp>
          <p:nvSpPr>
            <p:cNvPr id="16" name="object 16"/>
            <p:cNvSpPr/>
            <p:nvPr/>
          </p:nvSpPr>
          <p:spPr>
            <a:xfrm>
              <a:off x="581024" y="3714749"/>
              <a:ext cx="5277485" cy="2095500"/>
            </a:xfrm>
            <a:custGeom>
              <a:avLst/>
              <a:gdLst/>
              <a:ahLst/>
              <a:cxnLst/>
              <a:rect l="l" t="t" r="r" b="b"/>
              <a:pathLst>
                <a:path w="5277485" h="2095500">
                  <a:moveTo>
                    <a:pt x="0" y="152384"/>
                  </a:move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lnTo>
                    <a:pt x="152384" y="2095499"/>
                  </a:lnTo>
                  <a:lnTo>
                    <a:pt x="104219" y="2087731"/>
                  </a:lnTo>
                  <a:lnTo>
                    <a:pt x="62388" y="2066098"/>
                  </a:lnTo>
                  <a:lnTo>
                    <a:pt x="29401" y="2033111"/>
                  </a:lnTo>
                  <a:lnTo>
                    <a:pt x="7768" y="1991280"/>
                  </a:lnTo>
                  <a:lnTo>
                    <a:pt x="0" y="1943115"/>
                  </a:lnTo>
                  <a:lnTo>
                    <a:pt x="0" y="152384"/>
                  </a:lnTo>
                  <a:close/>
                </a:path>
              </a:pathLst>
            </a:custGeom>
            <a:ln w="14299">
              <a:solidFill>
                <a:srgbClr val="1E293B"/>
              </a:solidFill>
            </a:ln>
          </p:spPr>
          <p:txBody>
            <a:bodyPr wrap="square" lIns="0" tIns="0" rIns="0" bIns="0" rtlCol="0"/>
            <a:lstStyle/>
            <a:p>
              <a:endParaRPr/>
            </a:p>
          </p:txBody>
        </p:sp>
        <p:pic>
          <p:nvPicPr>
            <p:cNvPr id="17" name="object 17"/>
            <p:cNvPicPr/>
            <p:nvPr/>
          </p:nvPicPr>
          <p:blipFill>
            <a:blip r:embed="rId4" cstate="print"/>
            <a:stretch>
              <a:fillRect/>
            </a:stretch>
          </p:blipFill>
          <p:spPr>
            <a:xfrm>
              <a:off x="809625" y="4007357"/>
              <a:ext cx="304800" cy="152400"/>
            </a:xfrm>
            <a:prstGeom prst="rect">
              <a:avLst/>
            </a:prstGeom>
          </p:spPr>
        </p:pic>
      </p:grpSp>
      <p:sp>
        <p:nvSpPr>
          <p:cNvPr id="18" name="object 18"/>
          <p:cNvSpPr txBox="1"/>
          <p:nvPr/>
        </p:nvSpPr>
        <p:spPr>
          <a:xfrm>
            <a:off x="796925" y="4013708"/>
            <a:ext cx="4837430" cy="931544"/>
          </a:xfrm>
          <a:prstGeom prst="rect">
            <a:avLst/>
          </a:prstGeom>
        </p:spPr>
        <p:txBody>
          <a:bodyPr vert="horz" wrap="square" lIns="0" tIns="12700" rIns="0" bIns="0" rtlCol="0">
            <a:spAutoFit/>
          </a:bodyPr>
          <a:lstStyle/>
          <a:p>
            <a:pPr marL="327025">
              <a:lnSpc>
                <a:spcPct val="100000"/>
              </a:lnSpc>
              <a:spcBef>
                <a:spcPts val="100"/>
              </a:spcBef>
            </a:pPr>
            <a:r>
              <a:rPr sz="1650" b="1" spc="-130" dirty="0">
                <a:solidFill>
                  <a:srgbClr val="F3F4F6"/>
                </a:solidFill>
                <a:latin typeface="Verdana"/>
                <a:cs typeface="Verdana"/>
              </a:rPr>
              <a:t>Demographics</a:t>
            </a:r>
            <a:r>
              <a:rPr sz="1650" b="1" spc="-180" dirty="0">
                <a:solidFill>
                  <a:srgbClr val="F3F4F6"/>
                </a:solidFill>
                <a:latin typeface="Verdana"/>
                <a:cs typeface="Verdana"/>
              </a:rPr>
              <a:t> </a:t>
            </a:r>
            <a:r>
              <a:rPr sz="1650" b="1" spc="-35" dirty="0">
                <a:solidFill>
                  <a:srgbClr val="F3F4F6"/>
                </a:solidFill>
                <a:latin typeface="Verdana"/>
                <a:cs typeface="Verdana"/>
              </a:rPr>
              <a:t>Expansion</a:t>
            </a:r>
            <a:endParaRPr sz="1650">
              <a:latin typeface="Verdana"/>
              <a:cs typeface="Verdana"/>
            </a:endParaRPr>
          </a:p>
          <a:p>
            <a:pPr marL="12700" marR="5080">
              <a:lnSpc>
                <a:spcPct val="102299"/>
              </a:lnSpc>
              <a:spcBef>
                <a:spcPts val="1095"/>
              </a:spcBef>
            </a:pPr>
            <a:r>
              <a:rPr sz="1100" spc="65" dirty="0">
                <a:solidFill>
                  <a:srgbClr val="94A3B8"/>
                </a:solidFill>
                <a:latin typeface="Tahoma"/>
                <a:cs typeface="Tahoma"/>
              </a:rPr>
              <a:t>Launch</a:t>
            </a:r>
            <a:r>
              <a:rPr sz="1100" spc="15" dirty="0">
                <a:solidFill>
                  <a:srgbClr val="94A3B8"/>
                </a:solidFill>
                <a:latin typeface="Tahoma"/>
                <a:cs typeface="Tahoma"/>
              </a:rPr>
              <a:t> </a:t>
            </a:r>
            <a:r>
              <a:rPr sz="1100" spc="50" dirty="0">
                <a:solidFill>
                  <a:srgbClr val="94A3B8"/>
                </a:solidFill>
                <a:latin typeface="Tahoma"/>
                <a:cs typeface="Tahoma"/>
              </a:rPr>
              <a:t>inclusion</a:t>
            </a:r>
            <a:r>
              <a:rPr sz="1100" spc="15" dirty="0">
                <a:solidFill>
                  <a:srgbClr val="94A3B8"/>
                </a:solidFill>
                <a:latin typeface="Tahoma"/>
                <a:cs typeface="Tahoma"/>
              </a:rPr>
              <a:t> </a:t>
            </a:r>
            <a:r>
              <a:rPr sz="1100" spc="65" dirty="0">
                <a:solidFill>
                  <a:srgbClr val="94A3B8"/>
                </a:solidFill>
                <a:latin typeface="Tahoma"/>
                <a:cs typeface="Tahoma"/>
              </a:rPr>
              <a:t>campaigns</a:t>
            </a:r>
            <a:r>
              <a:rPr sz="1100" spc="15" dirty="0">
                <a:solidFill>
                  <a:srgbClr val="94A3B8"/>
                </a:solidFill>
                <a:latin typeface="Tahoma"/>
                <a:cs typeface="Tahoma"/>
              </a:rPr>
              <a:t> </a:t>
            </a:r>
            <a:r>
              <a:rPr sz="1100" spc="20" dirty="0">
                <a:solidFill>
                  <a:srgbClr val="94A3B8"/>
                </a:solidFill>
                <a:latin typeface="Tahoma"/>
                <a:cs typeface="Tahoma"/>
              </a:rPr>
              <a:t>highlighting </a:t>
            </a:r>
            <a:r>
              <a:rPr sz="1100" spc="55" dirty="0">
                <a:solidFill>
                  <a:srgbClr val="94A3B8"/>
                </a:solidFill>
                <a:latin typeface="Tahoma"/>
                <a:cs typeface="Tahoma"/>
              </a:rPr>
              <a:t>safety</a:t>
            </a:r>
            <a:r>
              <a:rPr sz="1100" spc="15" dirty="0">
                <a:solidFill>
                  <a:srgbClr val="94A3B8"/>
                </a:solidFill>
                <a:latin typeface="Tahoma"/>
                <a:cs typeface="Tahoma"/>
              </a:rPr>
              <a:t> </a:t>
            </a:r>
            <a:r>
              <a:rPr sz="1100" spc="55" dirty="0">
                <a:solidFill>
                  <a:srgbClr val="94A3B8"/>
                </a:solidFill>
                <a:latin typeface="Tahoma"/>
                <a:cs typeface="Tahoma"/>
              </a:rPr>
              <a:t>and</a:t>
            </a:r>
            <a:r>
              <a:rPr sz="1100" spc="15" dirty="0">
                <a:solidFill>
                  <a:srgbClr val="94A3B8"/>
                </a:solidFill>
                <a:latin typeface="Tahoma"/>
                <a:cs typeface="Tahoma"/>
              </a:rPr>
              <a:t> </a:t>
            </a:r>
            <a:r>
              <a:rPr sz="1100" spc="35" dirty="0">
                <a:solidFill>
                  <a:srgbClr val="94A3B8"/>
                </a:solidFill>
                <a:latin typeface="Tahoma"/>
                <a:cs typeface="Tahoma"/>
              </a:rPr>
              <a:t>protected </a:t>
            </a:r>
            <a:r>
              <a:rPr sz="1100" spc="20" dirty="0">
                <a:solidFill>
                  <a:srgbClr val="94A3B8"/>
                </a:solidFill>
                <a:latin typeface="Tahoma"/>
                <a:cs typeface="Tahoma"/>
              </a:rPr>
              <a:t>infrastructure</a:t>
            </a:r>
            <a:r>
              <a:rPr sz="1100" spc="70" dirty="0">
                <a:solidFill>
                  <a:srgbClr val="94A3B8"/>
                </a:solidFill>
                <a:latin typeface="Tahoma"/>
                <a:cs typeface="Tahoma"/>
              </a:rPr>
              <a:t> </a:t>
            </a:r>
            <a:r>
              <a:rPr sz="1100" spc="20" dirty="0">
                <a:solidFill>
                  <a:srgbClr val="94A3B8"/>
                </a:solidFill>
                <a:latin typeface="Tahoma"/>
                <a:cs typeface="Tahoma"/>
              </a:rPr>
              <a:t>routes</a:t>
            </a:r>
            <a:r>
              <a:rPr sz="1100" spc="75" dirty="0">
                <a:solidFill>
                  <a:srgbClr val="94A3B8"/>
                </a:solidFill>
                <a:latin typeface="Tahoma"/>
                <a:cs typeface="Tahoma"/>
              </a:rPr>
              <a:t> </a:t>
            </a:r>
            <a:r>
              <a:rPr sz="1100" spc="20" dirty="0">
                <a:solidFill>
                  <a:srgbClr val="94A3B8"/>
                </a:solidFill>
                <a:latin typeface="Tahoma"/>
                <a:cs typeface="Tahoma"/>
              </a:rPr>
              <a:t>to</a:t>
            </a:r>
            <a:r>
              <a:rPr sz="1100" spc="75" dirty="0">
                <a:solidFill>
                  <a:srgbClr val="94A3B8"/>
                </a:solidFill>
                <a:latin typeface="Tahoma"/>
                <a:cs typeface="Tahoma"/>
              </a:rPr>
              <a:t> </a:t>
            </a:r>
            <a:r>
              <a:rPr sz="1100" spc="20" dirty="0">
                <a:solidFill>
                  <a:srgbClr val="94A3B8"/>
                </a:solidFill>
                <a:latin typeface="Tahoma"/>
                <a:cs typeface="Tahoma"/>
              </a:rPr>
              <a:t>target</a:t>
            </a:r>
            <a:r>
              <a:rPr sz="1100" spc="75" dirty="0">
                <a:solidFill>
                  <a:srgbClr val="94A3B8"/>
                </a:solidFill>
                <a:latin typeface="Tahoma"/>
                <a:cs typeface="Tahoma"/>
              </a:rPr>
              <a:t> </a:t>
            </a:r>
            <a:r>
              <a:rPr sz="1100" spc="50" dirty="0">
                <a:solidFill>
                  <a:srgbClr val="94A3B8"/>
                </a:solidFill>
                <a:latin typeface="Tahoma"/>
                <a:cs typeface="Tahoma"/>
              </a:rPr>
              <a:t>underrepresented</a:t>
            </a:r>
            <a:r>
              <a:rPr sz="1100" spc="75" dirty="0">
                <a:solidFill>
                  <a:srgbClr val="94A3B8"/>
                </a:solidFill>
                <a:latin typeface="Tahoma"/>
                <a:cs typeface="Tahoma"/>
              </a:rPr>
              <a:t> </a:t>
            </a:r>
            <a:r>
              <a:rPr sz="1100" spc="55" dirty="0">
                <a:solidFill>
                  <a:srgbClr val="94A3B8"/>
                </a:solidFill>
                <a:latin typeface="Tahoma"/>
                <a:cs typeface="Tahoma"/>
              </a:rPr>
              <a:t>demographics,</a:t>
            </a:r>
            <a:r>
              <a:rPr sz="1100" spc="90" dirty="0">
                <a:solidFill>
                  <a:srgbClr val="94A3B8"/>
                </a:solidFill>
                <a:latin typeface="Tahoma"/>
                <a:cs typeface="Tahoma"/>
              </a:rPr>
              <a:t> </a:t>
            </a:r>
            <a:r>
              <a:rPr sz="1100" spc="50" dirty="0">
                <a:solidFill>
                  <a:srgbClr val="94A3B8"/>
                </a:solidFill>
                <a:latin typeface="Tahoma"/>
                <a:cs typeface="Tahoma"/>
              </a:rPr>
              <a:t>closing </a:t>
            </a:r>
            <a:r>
              <a:rPr sz="1100" dirty="0">
                <a:solidFill>
                  <a:srgbClr val="94A3B8"/>
                </a:solidFill>
                <a:latin typeface="Tahoma"/>
                <a:cs typeface="Tahoma"/>
              </a:rPr>
              <a:t>the</a:t>
            </a:r>
            <a:r>
              <a:rPr sz="1100" spc="20" dirty="0">
                <a:solidFill>
                  <a:srgbClr val="94A3B8"/>
                </a:solidFill>
                <a:latin typeface="Tahoma"/>
                <a:cs typeface="Tahoma"/>
              </a:rPr>
              <a:t> </a:t>
            </a:r>
            <a:r>
              <a:rPr sz="1100" b="1" spc="-80" dirty="0">
                <a:solidFill>
                  <a:srgbClr val="F7FAFC"/>
                </a:solidFill>
                <a:latin typeface="Tahoma"/>
                <a:cs typeface="Tahoma"/>
              </a:rPr>
              <a:t>70%</a:t>
            </a:r>
            <a:r>
              <a:rPr sz="1100" b="1" spc="-5" dirty="0">
                <a:solidFill>
                  <a:srgbClr val="F7FAFC"/>
                </a:solidFill>
                <a:latin typeface="Tahoma"/>
                <a:cs typeface="Tahoma"/>
              </a:rPr>
              <a:t> </a:t>
            </a:r>
            <a:r>
              <a:rPr sz="1100" b="1" spc="-30" dirty="0">
                <a:solidFill>
                  <a:srgbClr val="F7FAFC"/>
                </a:solidFill>
                <a:latin typeface="Tahoma"/>
                <a:cs typeface="Tahoma"/>
              </a:rPr>
              <a:t>male</a:t>
            </a:r>
            <a:r>
              <a:rPr sz="1100" b="1" dirty="0">
                <a:solidFill>
                  <a:srgbClr val="F7FAFC"/>
                </a:solidFill>
                <a:latin typeface="Tahoma"/>
                <a:cs typeface="Tahoma"/>
              </a:rPr>
              <a:t> </a:t>
            </a:r>
            <a:r>
              <a:rPr sz="1100" b="1" spc="-10" dirty="0">
                <a:solidFill>
                  <a:srgbClr val="F7FAFC"/>
                </a:solidFill>
                <a:latin typeface="Tahoma"/>
                <a:cs typeface="Tahoma"/>
              </a:rPr>
              <a:t>variance</a:t>
            </a:r>
            <a:r>
              <a:rPr sz="1100" spc="-10" dirty="0">
                <a:solidFill>
                  <a:srgbClr val="94A3B8"/>
                </a:solidFill>
                <a:latin typeface="Tahoma"/>
                <a:cs typeface="Tahoma"/>
              </a:rPr>
              <a:t>.</a:t>
            </a:r>
            <a:endParaRPr sz="1100">
              <a:latin typeface="Tahoma"/>
              <a:cs typeface="Tahoma"/>
            </a:endParaRPr>
          </a:p>
        </p:txBody>
      </p:sp>
      <p:grpSp>
        <p:nvGrpSpPr>
          <p:cNvPr id="19" name="object 19"/>
          <p:cNvGrpSpPr/>
          <p:nvPr/>
        </p:nvGrpSpPr>
        <p:grpSpPr>
          <a:xfrm>
            <a:off x="6326822" y="3707448"/>
            <a:ext cx="5292090" cy="1542272"/>
            <a:chOff x="6326822" y="3707447"/>
            <a:chExt cx="5292090" cy="2110105"/>
          </a:xfrm>
        </p:grpSpPr>
        <p:sp>
          <p:nvSpPr>
            <p:cNvPr id="20" name="object 20"/>
            <p:cNvSpPr/>
            <p:nvPr/>
          </p:nvSpPr>
          <p:spPr>
            <a:xfrm>
              <a:off x="6334124" y="3714749"/>
              <a:ext cx="5277485" cy="2095500"/>
            </a:xfrm>
            <a:custGeom>
              <a:avLst/>
              <a:gdLst/>
              <a:ahLst/>
              <a:cxnLst/>
              <a:rect l="l" t="t" r="r" b="b"/>
              <a:pathLst>
                <a:path w="5277484" h="2095500">
                  <a:moveTo>
                    <a:pt x="5124615" y="2095499"/>
                  </a:moveTo>
                  <a:lnTo>
                    <a:pt x="152384" y="2095499"/>
                  </a:lnTo>
                  <a:lnTo>
                    <a:pt x="104219" y="2087731"/>
                  </a:lnTo>
                  <a:lnTo>
                    <a:pt x="62388" y="2066098"/>
                  </a:lnTo>
                  <a:lnTo>
                    <a:pt x="29401" y="2033111"/>
                  </a:lnTo>
                  <a:lnTo>
                    <a:pt x="7768" y="1991280"/>
                  </a:lnTo>
                  <a:lnTo>
                    <a:pt x="0" y="1943115"/>
                  </a:lnTo>
                  <a:lnTo>
                    <a:pt x="0" y="152384"/>
                  </a:ln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close/>
                </a:path>
              </a:pathLst>
            </a:custGeom>
            <a:solidFill>
              <a:srgbClr val="0F172A"/>
            </a:solidFill>
          </p:spPr>
          <p:txBody>
            <a:bodyPr wrap="square" lIns="0" tIns="0" rIns="0" bIns="0" rtlCol="0"/>
            <a:lstStyle/>
            <a:p>
              <a:endParaRPr/>
            </a:p>
          </p:txBody>
        </p:sp>
        <p:sp>
          <p:nvSpPr>
            <p:cNvPr id="21" name="object 21"/>
            <p:cNvSpPr/>
            <p:nvPr/>
          </p:nvSpPr>
          <p:spPr>
            <a:xfrm>
              <a:off x="6334124" y="3714749"/>
              <a:ext cx="5277485" cy="2095500"/>
            </a:xfrm>
            <a:custGeom>
              <a:avLst/>
              <a:gdLst/>
              <a:ahLst/>
              <a:cxnLst/>
              <a:rect l="l" t="t" r="r" b="b"/>
              <a:pathLst>
                <a:path w="5277484" h="2095500">
                  <a:moveTo>
                    <a:pt x="0" y="152384"/>
                  </a:moveTo>
                  <a:lnTo>
                    <a:pt x="7768" y="104219"/>
                  </a:lnTo>
                  <a:lnTo>
                    <a:pt x="29401" y="62388"/>
                  </a:lnTo>
                  <a:lnTo>
                    <a:pt x="62388" y="29401"/>
                  </a:lnTo>
                  <a:lnTo>
                    <a:pt x="104219" y="7768"/>
                  </a:lnTo>
                  <a:lnTo>
                    <a:pt x="152384" y="0"/>
                  </a:lnTo>
                  <a:lnTo>
                    <a:pt x="5124615" y="0"/>
                  </a:lnTo>
                  <a:lnTo>
                    <a:pt x="5182930" y="11599"/>
                  </a:lnTo>
                  <a:lnTo>
                    <a:pt x="5232367" y="44632"/>
                  </a:lnTo>
                  <a:lnTo>
                    <a:pt x="5265400" y="94069"/>
                  </a:lnTo>
                  <a:lnTo>
                    <a:pt x="5276999" y="152384"/>
                  </a:lnTo>
                  <a:lnTo>
                    <a:pt x="5276999" y="1943115"/>
                  </a:lnTo>
                  <a:lnTo>
                    <a:pt x="5269231" y="1991280"/>
                  </a:lnTo>
                  <a:lnTo>
                    <a:pt x="5247598" y="2033111"/>
                  </a:lnTo>
                  <a:lnTo>
                    <a:pt x="5214611" y="2066098"/>
                  </a:lnTo>
                  <a:lnTo>
                    <a:pt x="5172780" y="2087731"/>
                  </a:lnTo>
                  <a:lnTo>
                    <a:pt x="5124615" y="2095499"/>
                  </a:lnTo>
                  <a:lnTo>
                    <a:pt x="152384" y="2095499"/>
                  </a:lnTo>
                  <a:lnTo>
                    <a:pt x="104219" y="2087731"/>
                  </a:lnTo>
                  <a:lnTo>
                    <a:pt x="62388" y="2066098"/>
                  </a:lnTo>
                  <a:lnTo>
                    <a:pt x="29401" y="2033111"/>
                  </a:lnTo>
                  <a:lnTo>
                    <a:pt x="7768" y="1991280"/>
                  </a:lnTo>
                  <a:lnTo>
                    <a:pt x="0" y="1943115"/>
                  </a:lnTo>
                  <a:lnTo>
                    <a:pt x="0" y="152384"/>
                  </a:lnTo>
                  <a:close/>
                </a:path>
              </a:pathLst>
            </a:custGeom>
            <a:ln w="14299">
              <a:solidFill>
                <a:srgbClr val="22D3EE"/>
              </a:solidFill>
            </a:ln>
          </p:spPr>
          <p:txBody>
            <a:bodyPr wrap="square" lIns="0" tIns="0" rIns="0" bIns="0" rtlCol="0"/>
            <a:lstStyle/>
            <a:p>
              <a:endParaRPr/>
            </a:p>
          </p:txBody>
        </p:sp>
        <p:pic>
          <p:nvPicPr>
            <p:cNvPr id="22" name="object 22"/>
            <p:cNvPicPr/>
            <p:nvPr/>
          </p:nvPicPr>
          <p:blipFill>
            <a:blip r:embed="rId5" cstate="print"/>
            <a:stretch>
              <a:fillRect/>
            </a:stretch>
          </p:blipFill>
          <p:spPr>
            <a:xfrm>
              <a:off x="6616700" y="3969257"/>
              <a:ext cx="187325" cy="241300"/>
            </a:xfrm>
            <a:prstGeom prst="rect">
              <a:avLst/>
            </a:prstGeom>
          </p:spPr>
        </p:pic>
      </p:grpSp>
      <p:sp>
        <p:nvSpPr>
          <p:cNvPr id="23" name="object 23"/>
          <p:cNvSpPr txBox="1"/>
          <p:nvPr/>
        </p:nvSpPr>
        <p:spPr>
          <a:xfrm>
            <a:off x="6550025" y="4013708"/>
            <a:ext cx="4803775" cy="931544"/>
          </a:xfrm>
          <a:prstGeom prst="rect">
            <a:avLst/>
          </a:prstGeom>
        </p:spPr>
        <p:txBody>
          <a:bodyPr vert="horz" wrap="square" lIns="0" tIns="12700" rIns="0" bIns="0" rtlCol="0">
            <a:spAutoFit/>
          </a:bodyPr>
          <a:lstStyle/>
          <a:p>
            <a:pPr marL="327025">
              <a:lnSpc>
                <a:spcPct val="100000"/>
              </a:lnSpc>
              <a:spcBef>
                <a:spcPts val="100"/>
              </a:spcBef>
            </a:pPr>
            <a:r>
              <a:rPr sz="1650" b="1" spc="-160" dirty="0">
                <a:solidFill>
                  <a:srgbClr val="22D3EE"/>
                </a:solidFill>
                <a:latin typeface="Verdana"/>
                <a:cs typeface="Verdana"/>
              </a:rPr>
              <a:t>Final</a:t>
            </a:r>
            <a:r>
              <a:rPr sz="1650" b="1" spc="-245" dirty="0">
                <a:solidFill>
                  <a:srgbClr val="22D3EE"/>
                </a:solidFill>
                <a:latin typeface="Verdana"/>
                <a:cs typeface="Verdana"/>
              </a:rPr>
              <a:t> </a:t>
            </a:r>
            <a:r>
              <a:rPr sz="1650" b="1" spc="-85" dirty="0">
                <a:solidFill>
                  <a:srgbClr val="22D3EE"/>
                </a:solidFill>
                <a:latin typeface="Verdana"/>
                <a:cs typeface="Verdana"/>
              </a:rPr>
              <a:t>Core</a:t>
            </a:r>
            <a:r>
              <a:rPr sz="1650" b="1" spc="-245" dirty="0">
                <a:solidFill>
                  <a:srgbClr val="22D3EE"/>
                </a:solidFill>
                <a:latin typeface="Verdana"/>
                <a:cs typeface="Verdana"/>
              </a:rPr>
              <a:t> </a:t>
            </a:r>
            <a:r>
              <a:rPr sz="1650" b="1" spc="-10" dirty="0">
                <a:solidFill>
                  <a:srgbClr val="22D3EE"/>
                </a:solidFill>
                <a:latin typeface="Verdana"/>
                <a:cs typeface="Verdana"/>
              </a:rPr>
              <a:t>Conclusion</a:t>
            </a:r>
            <a:endParaRPr sz="1650" dirty="0">
              <a:latin typeface="Verdana"/>
              <a:cs typeface="Verdana"/>
            </a:endParaRPr>
          </a:p>
          <a:p>
            <a:pPr marL="12700" marR="5080">
              <a:lnSpc>
                <a:spcPct val="102299"/>
              </a:lnSpc>
              <a:spcBef>
                <a:spcPts val="1095"/>
              </a:spcBef>
            </a:pPr>
            <a:r>
              <a:rPr sz="1100" spc="50" dirty="0">
                <a:solidFill>
                  <a:srgbClr val="F7FAFC"/>
                </a:solidFill>
                <a:latin typeface="Tahoma"/>
                <a:cs typeface="Tahoma"/>
              </a:rPr>
              <a:t>Balancing</a:t>
            </a:r>
            <a:r>
              <a:rPr sz="1100" spc="45" dirty="0">
                <a:solidFill>
                  <a:srgbClr val="F7FAFC"/>
                </a:solidFill>
                <a:latin typeface="Tahoma"/>
                <a:cs typeface="Tahoma"/>
              </a:rPr>
              <a:t> </a:t>
            </a:r>
            <a:r>
              <a:rPr sz="1100" spc="50" dirty="0">
                <a:solidFill>
                  <a:srgbClr val="F7FAFC"/>
                </a:solidFill>
                <a:latin typeface="Tahoma"/>
                <a:cs typeface="Tahoma"/>
              </a:rPr>
              <a:t>commuter</a:t>
            </a:r>
            <a:r>
              <a:rPr sz="1100" spc="45" dirty="0">
                <a:solidFill>
                  <a:srgbClr val="F7FAFC"/>
                </a:solidFill>
                <a:latin typeface="Tahoma"/>
                <a:cs typeface="Tahoma"/>
              </a:rPr>
              <a:t> </a:t>
            </a:r>
            <a:r>
              <a:rPr sz="1100" spc="60" dirty="0">
                <a:solidFill>
                  <a:srgbClr val="F7FAFC"/>
                </a:solidFill>
                <a:latin typeface="Tahoma"/>
                <a:cs typeface="Tahoma"/>
              </a:rPr>
              <a:t>weekday</a:t>
            </a:r>
            <a:r>
              <a:rPr sz="1100" spc="50" dirty="0">
                <a:solidFill>
                  <a:srgbClr val="F7FAFC"/>
                </a:solidFill>
                <a:latin typeface="Tahoma"/>
                <a:cs typeface="Tahoma"/>
              </a:rPr>
              <a:t> </a:t>
            </a:r>
            <a:r>
              <a:rPr sz="1100" spc="10" dirty="0">
                <a:solidFill>
                  <a:srgbClr val="F7FAFC"/>
                </a:solidFill>
                <a:latin typeface="Tahoma"/>
                <a:cs typeface="Tahoma"/>
              </a:rPr>
              <a:t>reliability</a:t>
            </a:r>
            <a:r>
              <a:rPr sz="1100" spc="45" dirty="0">
                <a:solidFill>
                  <a:srgbClr val="F7FAFC"/>
                </a:solidFill>
                <a:latin typeface="Tahoma"/>
                <a:cs typeface="Tahoma"/>
              </a:rPr>
              <a:t> </a:t>
            </a:r>
            <a:r>
              <a:rPr sz="1100" spc="10" dirty="0">
                <a:solidFill>
                  <a:srgbClr val="F7FAFC"/>
                </a:solidFill>
                <a:latin typeface="Tahoma"/>
                <a:cs typeface="Tahoma"/>
              </a:rPr>
              <a:t>with</a:t>
            </a:r>
            <a:r>
              <a:rPr sz="1100" spc="45" dirty="0">
                <a:solidFill>
                  <a:srgbClr val="F7FAFC"/>
                </a:solidFill>
                <a:latin typeface="Tahoma"/>
                <a:cs typeface="Tahoma"/>
              </a:rPr>
              <a:t> </a:t>
            </a:r>
            <a:r>
              <a:rPr sz="1100" spc="60" dirty="0">
                <a:solidFill>
                  <a:srgbClr val="F7FAFC"/>
                </a:solidFill>
                <a:latin typeface="Tahoma"/>
                <a:cs typeface="Tahoma"/>
              </a:rPr>
              <a:t>weekend</a:t>
            </a:r>
            <a:r>
              <a:rPr sz="1100" spc="50" dirty="0">
                <a:solidFill>
                  <a:srgbClr val="F7FAFC"/>
                </a:solidFill>
                <a:latin typeface="Tahoma"/>
                <a:cs typeface="Tahoma"/>
              </a:rPr>
              <a:t> </a:t>
            </a:r>
            <a:r>
              <a:rPr sz="1100" spc="35" dirty="0">
                <a:solidFill>
                  <a:srgbClr val="F7FAFC"/>
                </a:solidFill>
                <a:latin typeface="Tahoma"/>
                <a:cs typeface="Tahoma"/>
              </a:rPr>
              <a:t>leisure</a:t>
            </a:r>
            <a:r>
              <a:rPr sz="1100" spc="500" dirty="0">
                <a:solidFill>
                  <a:srgbClr val="F7FAFC"/>
                </a:solidFill>
                <a:latin typeface="Tahoma"/>
                <a:cs typeface="Tahoma"/>
              </a:rPr>
              <a:t> </a:t>
            </a:r>
            <a:r>
              <a:rPr sz="1100" spc="70" dirty="0">
                <a:solidFill>
                  <a:srgbClr val="F7FAFC"/>
                </a:solidFill>
                <a:latin typeface="Tahoma"/>
                <a:cs typeface="Tahoma"/>
              </a:rPr>
              <a:t>packages </a:t>
            </a:r>
            <a:r>
              <a:rPr sz="1100" spc="55" dirty="0">
                <a:solidFill>
                  <a:srgbClr val="22D3EE"/>
                </a:solidFill>
                <a:latin typeface="Tahoma"/>
                <a:cs typeface="Tahoma"/>
              </a:rPr>
              <a:t>maximizes</a:t>
            </a:r>
            <a:r>
              <a:rPr sz="1100" spc="65" dirty="0">
                <a:solidFill>
                  <a:srgbClr val="22D3EE"/>
                </a:solidFill>
                <a:latin typeface="Tahoma"/>
                <a:cs typeface="Tahoma"/>
              </a:rPr>
              <a:t> </a:t>
            </a:r>
            <a:r>
              <a:rPr sz="1100" spc="60" dirty="0">
                <a:solidFill>
                  <a:srgbClr val="22D3EE"/>
                </a:solidFill>
                <a:latin typeface="Tahoma"/>
                <a:cs typeface="Tahoma"/>
              </a:rPr>
              <a:t>vehicle</a:t>
            </a:r>
            <a:r>
              <a:rPr sz="1100" spc="65" dirty="0">
                <a:solidFill>
                  <a:srgbClr val="22D3EE"/>
                </a:solidFill>
                <a:latin typeface="Tahoma"/>
                <a:cs typeface="Tahoma"/>
              </a:rPr>
              <a:t> </a:t>
            </a:r>
            <a:r>
              <a:rPr sz="1100" dirty="0">
                <a:solidFill>
                  <a:srgbClr val="22D3EE"/>
                </a:solidFill>
                <a:latin typeface="Tahoma"/>
                <a:cs typeface="Tahoma"/>
              </a:rPr>
              <a:t>lifetime</a:t>
            </a:r>
            <a:r>
              <a:rPr sz="1100" spc="65" dirty="0">
                <a:solidFill>
                  <a:srgbClr val="22D3EE"/>
                </a:solidFill>
                <a:latin typeface="Tahoma"/>
                <a:cs typeface="Tahoma"/>
              </a:rPr>
              <a:t> </a:t>
            </a:r>
            <a:r>
              <a:rPr sz="1100" dirty="0">
                <a:solidFill>
                  <a:srgbClr val="22D3EE"/>
                </a:solidFill>
                <a:latin typeface="Tahoma"/>
                <a:cs typeface="Tahoma"/>
              </a:rPr>
              <a:t>value</a:t>
            </a:r>
            <a:r>
              <a:rPr sz="1100" dirty="0">
                <a:solidFill>
                  <a:srgbClr val="F7FAFC"/>
                </a:solidFill>
                <a:latin typeface="Tahoma"/>
                <a:cs typeface="Tahoma"/>
              </a:rPr>
              <a:t>,</a:t>
            </a:r>
            <a:r>
              <a:rPr sz="1100" spc="65" dirty="0">
                <a:solidFill>
                  <a:srgbClr val="F7FAFC"/>
                </a:solidFill>
                <a:latin typeface="Tahoma"/>
                <a:cs typeface="Tahoma"/>
              </a:rPr>
              <a:t> </a:t>
            </a:r>
            <a:r>
              <a:rPr sz="1100" spc="55" dirty="0">
                <a:solidFill>
                  <a:srgbClr val="F7FAFC"/>
                </a:solidFill>
                <a:latin typeface="Tahoma"/>
                <a:cs typeface="Tahoma"/>
              </a:rPr>
              <a:t>stabilizes</a:t>
            </a:r>
            <a:r>
              <a:rPr sz="1100" spc="65" dirty="0">
                <a:solidFill>
                  <a:srgbClr val="F7FAFC"/>
                </a:solidFill>
                <a:latin typeface="Tahoma"/>
                <a:cs typeface="Tahoma"/>
              </a:rPr>
              <a:t> </a:t>
            </a:r>
            <a:r>
              <a:rPr sz="1100" spc="50" dirty="0">
                <a:solidFill>
                  <a:srgbClr val="F7FAFC"/>
                </a:solidFill>
                <a:latin typeface="Tahoma"/>
                <a:cs typeface="Tahoma"/>
              </a:rPr>
              <a:t>revenue</a:t>
            </a:r>
            <a:r>
              <a:rPr sz="1100" spc="65" dirty="0">
                <a:solidFill>
                  <a:srgbClr val="F7FAFC"/>
                </a:solidFill>
                <a:latin typeface="Tahoma"/>
                <a:cs typeface="Tahoma"/>
              </a:rPr>
              <a:t> </a:t>
            </a:r>
            <a:r>
              <a:rPr sz="1100" spc="-10" dirty="0">
                <a:solidFill>
                  <a:srgbClr val="F7FAFC"/>
                </a:solidFill>
                <a:latin typeface="Tahoma"/>
                <a:cs typeface="Tahoma"/>
              </a:rPr>
              <a:t>streams, </a:t>
            </a:r>
            <a:r>
              <a:rPr sz="1100" spc="55" dirty="0">
                <a:solidFill>
                  <a:srgbClr val="F7FAFC"/>
                </a:solidFill>
                <a:latin typeface="Tahoma"/>
                <a:cs typeface="Tahoma"/>
              </a:rPr>
              <a:t>and</a:t>
            </a:r>
            <a:r>
              <a:rPr sz="1100" spc="75" dirty="0">
                <a:solidFill>
                  <a:srgbClr val="F7FAFC"/>
                </a:solidFill>
                <a:latin typeface="Tahoma"/>
                <a:cs typeface="Tahoma"/>
              </a:rPr>
              <a:t> scales </a:t>
            </a:r>
            <a:r>
              <a:rPr sz="1100" dirty="0">
                <a:solidFill>
                  <a:srgbClr val="F7FAFC"/>
                </a:solidFill>
                <a:latin typeface="Tahoma"/>
                <a:cs typeface="Tahoma"/>
              </a:rPr>
              <a:t>platform</a:t>
            </a:r>
            <a:r>
              <a:rPr sz="1100" spc="75" dirty="0">
                <a:solidFill>
                  <a:srgbClr val="F7FAFC"/>
                </a:solidFill>
                <a:latin typeface="Tahoma"/>
                <a:cs typeface="Tahoma"/>
              </a:rPr>
              <a:t> </a:t>
            </a:r>
            <a:r>
              <a:rPr sz="1100" spc="-10" dirty="0">
                <a:solidFill>
                  <a:srgbClr val="F7FAFC"/>
                </a:solidFill>
                <a:latin typeface="Tahoma"/>
                <a:cs typeface="Tahoma"/>
              </a:rPr>
              <a:t>growth.</a:t>
            </a:r>
            <a:endParaRPr sz="1100" dirty="0">
              <a:latin typeface="Tahoma"/>
              <a:cs typeface="Tahoma"/>
            </a:endParaRPr>
          </a:p>
        </p:txBody>
      </p:sp>
    </p:spTree>
    <p:extLst>
      <p:ext uri="{BB962C8B-B14F-4D97-AF65-F5344CB8AC3E}">
        <p14:creationId xmlns:p14="http://schemas.microsoft.com/office/powerpoint/2010/main" val="323312677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TM02900688[[fn=Facet]]</Template>
  <TotalTime>1578</TotalTime>
  <Words>936</Words>
  <Application>Microsoft Office PowerPoint</Application>
  <PresentationFormat>Widescreen</PresentationFormat>
  <Paragraphs>69</Paragraphs>
  <Slides>11</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Microsoft Sans Serif</vt:lpstr>
      <vt:lpstr>Wingdings</vt:lpstr>
      <vt:lpstr>Verdana</vt:lpstr>
      <vt:lpstr>Wingdings 3</vt:lpstr>
      <vt:lpstr>Inter</vt:lpstr>
      <vt:lpstr>Arial</vt:lpstr>
      <vt:lpstr>Trebuchet MS</vt:lpstr>
      <vt:lpstr>Tahoma</vt:lpstr>
      <vt:lpstr>Play</vt:lpstr>
      <vt:lpstr>Plus Jakarta Sans</vt:lpstr>
      <vt:lpstr>Facet</vt:lpstr>
      <vt:lpstr>Ford Bike Sharing Project:  An Exploratory Analysis of Features Affecting Trip Duration</vt:lpstr>
      <vt:lpstr>Table of Contents </vt:lpstr>
      <vt:lpstr>Project Context &amp; Motivation</vt:lpstr>
      <vt:lpstr>Dataset Overview &amp; Objectives</vt:lpstr>
      <vt:lpstr>Core Findings: What Drives Trip Duration?</vt:lpstr>
      <vt:lpstr>PowerPoint Presentation</vt:lpstr>
      <vt:lpstr>User Segmentation &amp; Behavioral Variances</vt:lpstr>
      <vt:lpstr>Demographic Constraints &amp; Feature Associations</vt:lpstr>
      <vt:lpstr>Data Processing &amp; Engineering Architecture</vt:lpstr>
      <vt:lpstr>Profiling Bike-Share Demand Timelines</vt:lpstr>
      <vt:lpstr>Strategic Business Solutions &amp; 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Vipul Sonawane</dc:creator>
  <cp:lastModifiedBy>Shrijay Talap</cp:lastModifiedBy>
  <cp:revision>4</cp:revision>
  <dcterms:created xsi:type="dcterms:W3CDTF">2025-04-20T10:41:11Z</dcterms:created>
  <dcterms:modified xsi:type="dcterms:W3CDTF">2026-07-19T07:11:56Z</dcterms:modified>
</cp:coreProperties>
</file>